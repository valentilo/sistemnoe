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7569200" cy="10693400"/>
  <p:notesSz cx="75692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884938"/>
            <a:ext cx="3562350" cy="429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9750" y="2210617"/>
            <a:ext cx="6577965" cy="379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9824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8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96999" y="1500540"/>
          <a:ext cx="5330825" cy="24847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4625"/>
              </a:tblGrid>
              <a:tr h="1156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91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МИНОБРНАУКИ</a:t>
                      </a:r>
                      <a:r>
                        <a:rPr dirty="0" sz="1200" spc="-6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РОССИИ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04139"/>
                </a:tc>
              </a:tr>
              <a:tr h="935990">
                <a:tc>
                  <a:txBody>
                    <a:bodyPr/>
                    <a:lstStyle/>
                    <a:p>
                      <a:pPr algn="ctr" marL="31750" marR="24130">
                        <a:lnSpc>
                          <a:spcPct val="110200"/>
                        </a:lnSpc>
                        <a:spcBef>
                          <a:spcPts val="550"/>
                        </a:spcBef>
                      </a:pP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Федеральное государственное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бюджетное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образовательное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учреждение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высшего</a:t>
                      </a:r>
                      <a:r>
                        <a:rPr dirty="0" sz="1200" spc="-6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образования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«МИРЭА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Российский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технологический университет»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839"/>
                        </a:lnSpc>
                        <a:spcBef>
                          <a:spcPts val="1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РТУ</a:t>
                      </a:r>
                      <a:r>
                        <a:rPr dirty="0" sz="16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МИРЭА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6985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083345" y="4428483"/>
            <a:ext cx="3869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Колледж</a:t>
            </a:r>
            <a:r>
              <a:rPr dirty="0" sz="1200" spc="-10" b="1">
                <a:latin typeface="Arial"/>
                <a:cs typeface="Arial"/>
              </a:rPr>
              <a:t> программирования </a:t>
            </a:r>
            <a:r>
              <a:rPr dirty="0" sz="1200" b="1">
                <a:latin typeface="Arial"/>
                <a:cs typeface="Arial"/>
              </a:rPr>
              <a:t>и</a:t>
            </a:r>
            <a:r>
              <a:rPr dirty="0" sz="1200" spc="-10" b="1">
                <a:latin typeface="Arial"/>
                <a:cs typeface="Arial"/>
              </a:rPr>
              <a:t> кибербезопасности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5715105"/>
            <a:ext cx="4525645" cy="2074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36725">
              <a:lnSpc>
                <a:spcPct val="110200"/>
              </a:lnSpc>
              <a:spcBef>
                <a:spcPts val="100"/>
              </a:spcBef>
            </a:pPr>
            <a:r>
              <a:rPr dirty="0" sz="1400" spc="-10" b="1">
                <a:latin typeface="Arial"/>
                <a:cs typeface="Arial"/>
              </a:rPr>
              <a:t>УЧЕБНАЯ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ДИСЦИПЛИНА/ МЕЖДИСЦИПЛИНАРНЫЙ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КУРС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400" b="1">
                <a:latin typeface="Arial"/>
                <a:cs typeface="Arial"/>
              </a:rPr>
              <a:t>МДК.01.04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Системное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программирование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400" b="1">
                <a:latin typeface="Arial"/>
                <a:cs typeface="Arial"/>
              </a:rPr>
              <a:t>ПЦК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Программирование</a:t>
            </a:r>
            <a:endParaRPr sz="1400">
              <a:latin typeface="Arial"/>
              <a:cs typeface="Arial"/>
            </a:endParaRPr>
          </a:p>
          <a:p>
            <a:pPr marL="12700" marR="2397125">
              <a:lnSpc>
                <a:spcPct val="110200"/>
              </a:lnSpc>
              <a:spcBef>
                <a:spcPts val="1055"/>
              </a:spcBef>
            </a:pPr>
            <a:r>
              <a:rPr dirty="0" sz="1400" b="1">
                <a:latin typeface="Arial"/>
                <a:cs typeface="Arial"/>
              </a:rPr>
              <a:t>ВИД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УЧЕБНОГО </a:t>
            </a:r>
            <a:r>
              <a:rPr dirty="0" sz="1400" b="1">
                <a:latin typeface="Arial"/>
                <a:cs typeface="Arial"/>
              </a:rPr>
              <a:t>МАТЕРИАЛА</a:t>
            </a:r>
            <a:r>
              <a:rPr dirty="0" sz="1400" spc="2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Лекция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-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spc="-50" b="1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400" spc="-25" b="1">
                <a:latin typeface="Arial"/>
                <a:cs typeface="Arial"/>
              </a:rPr>
              <a:t>ПРЕПОДАВАТЕЛЬ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Мухортова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Наталья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Николаевна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5612" y="1500540"/>
            <a:ext cx="923925" cy="10382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9750" y="890314"/>
            <a:ext cx="6593205" cy="6762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Roboto"/>
                <a:cs typeface="Roboto"/>
              </a:rPr>
              <a:t>Основы</a:t>
            </a:r>
            <a:r>
              <a:rPr dirty="0" sz="1800" spc="-25" b="1">
                <a:latin typeface="Roboto"/>
                <a:cs typeface="Roboto"/>
              </a:rPr>
              <a:t> </a:t>
            </a:r>
            <a:r>
              <a:rPr dirty="0" sz="1800" b="1">
                <a:latin typeface="Roboto"/>
                <a:cs typeface="Roboto"/>
              </a:rPr>
              <a:t>программирования</a:t>
            </a:r>
            <a:r>
              <a:rPr dirty="0" sz="1800" spc="-25" b="1">
                <a:latin typeface="Roboto"/>
                <a:cs typeface="Roboto"/>
              </a:rPr>
              <a:t> </a:t>
            </a:r>
            <a:r>
              <a:rPr dirty="0" sz="1800" b="1">
                <a:latin typeface="Roboto"/>
                <a:cs typeface="Roboto"/>
              </a:rPr>
              <a:t>на</a:t>
            </a:r>
            <a:r>
              <a:rPr dirty="0" sz="1800" spc="-20" b="1">
                <a:latin typeface="Roboto"/>
                <a:cs typeface="Roboto"/>
              </a:rPr>
              <a:t> </a:t>
            </a:r>
            <a:r>
              <a:rPr dirty="0" sz="1800" spc="-10" b="1">
                <a:latin typeface="Roboto"/>
                <a:cs typeface="Roboto"/>
              </a:rPr>
              <a:t>языке</a:t>
            </a:r>
            <a:r>
              <a:rPr dirty="0" sz="1800" spc="-25" b="1">
                <a:latin typeface="Roboto"/>
                <a:cs typeface="Roboto"/>
              </a:rPr>
              <a:t> Си.</a:t>
            </a:r>
            <a:endParaRPr sz="18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  <a:spcBef>
                <a:spcPts val="1600"/>
              </a:spcBef>
            </a:pPr>
            <a:r>
              <a:rPr dirty="0" sz="1800" spc="-10" b="1">
                <a:latin typeface="Roboto"/>
                <a:cs typeface="Roboto"/>
              </a:rPr>
              <a:t>Указатели</a:t>
            </a:r>
            <a:endParaRPr sz="18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  <a:spcBef>
                <a:spcPts val="1600"/>
              </a:spcBef>
            </a:pPr>
            <a:r>
              <a:rPr dirty="0" sz="1800" b="1">
                <a:latin typeface="Roboto"/>
                <a:cs typeface="Roboto"/>
              </a:rPr>
              <a:t>Файловый</a:t>
            </a:r>
            <a:r>
              <a:rPr dirty="0" sz="1800" spc="105" b="1">
                <a:latin typeface="Roboto"/>
                <a:cs typeface="Roboto"/>
              </a:rPr>
              <a:t> </a:t>
            </a:r>
            <a:r>
              <a:rPr dirty="0" sz="1800" spc="-30" b="1">
                <a:latin typeface="Roboto"/>
                <a:cs typeface="Roboto"/>
              </a:rPr>
              <a:t>ввод-</a:t>
            </a:r>
            <a:r>
              <a:rPr dirty="0" sz="1800" spc="-10" b="1">
                <a:latin typeface="Roboto"/>
                <a:cs typeface="Roboto"/>
              </a:rPr>
              <a:t>вывод.</a:t>
            </a:r>
            <a:endParaRPr sz="18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  <a:spcBef>
                <a:spcPts val="1620"/>
              </a:spcBef>
            </a:pPr>
            <a:r>
              <a:rPr dirty="0" sz="1400" spc="-10">
                <a:latin typeface="Roboto"/>
                <a:cs typeface="Roboto"/>
              </a:rPr>
              <a:t>Введение</a:t>
            </a:r>
            <a:endParaRPr sz="1400">
              <a:latin typeface="Roboto"/>
              <a:cs typeface="Roboto"/>
            </a:endParaRPr>
          </a:p>
          <a:p>
            <a:pPr algn="just" marL="374650" marR="5080">
              <a:lnSpc>
                <a:spcPct val="114999"/>
              </a:lnSpc>
              <a:spcBef>
                <a:spcPts val="1370"/>
              </a:spcBef>
            </a:pPr>
            <a:r>
              <a:rPr dirty="0" sz="1300" b="1">
                <a:latin typeface="Roboto"/>
                <a:cs typeface="Roboto"/>
              </a:rPr>
              <a:t>Указатель</a:t>
            </a:r>
            <a:r>
              <a:rPr dirty="0" sz="1300" spc="155" b="1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15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это</a:t>
            </a:r>
            <a:r>
              <a:rPr dirty="0" sz="1300" spc="15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переменная</a:t>
            </a:r>
            <a:r>
              <a:rPr dirty="0" sz="1300" spc="12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адресного</a:t>
            </a:r>
            <a:r>
              <a:rPr dirty="0" sz="1300" spc="12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типа,</a:t>
            </a:r>
            <a:r>
              <a:rPr dirty="0" sz="1300" spc="12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которая</a:t>
            </a:r>
            <a:r>
              <a:rPr dirty="0" sz="1300" spc="12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содержит</a:t>
            </a:r>
            <a:r>
              <a:rPr dirty="0" sz="1300" spc="120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адрес </a:t>
            </a:r>
            <a:r>
              <a:rPr dirty="0" sz="1300">
                <a:latin typeface="Roboto"/>
                <a:cs typeface="Roboto"/>
              </a:rPr>
              <a:t>некоторого</a:t>
            </a:r>
            <a:r>
              <a:rPr dirty="0" sz="1300" spc="16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элемента</a:t>
            </a:r>
            <a:r>
              <a:rPr dirty="0" sz="1300" spc="17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данных</a:t>
            </a:r>
            <a:r>
              <a:rPr dirty="0" sz="1300" spc="16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(переменной,</a:t>
            </a:r>
            <a:r>
              <a:rPr dirty="0" sz="1300" spc="17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константы,</a:t>
            </a:r>
            <a:r>
              <a:rPr dirty="0" sz="1300" spc="16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функции,</a:t>
            </a:r>
            <a:r>
              <a:rPr dirty="0" sz="1300" spc="17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структуры). </a:t>
            </a:r>
            <a:r>
              <a:rPr dirty="0" sz="1300">
                <a:latin typeface="Roboto"/>
                <a:cs typeface="Roboto"/>
              </a:rPr>
              <a:t>Указатель,</a:t>
            </a:r>
            <a:r>
              <a:rPr dirty="0" sz="1300" spc="3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как</a:t>
            </a:r>
            <a:r>
              <a:rPr dirty="0" sz="1300" spc="3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3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другие</a:t>
            </a:r>
            <a:r>
              <a:rPr dirty="0" sz="1300" spc="30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переменные,</a:t>
            </a:r>
            <a:r>
              <a:rPr dirty="0" sz="1300" spc="3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имеет</a:t>
            </a:r>
            <a:r>
              <a:rPr dirty="0" sz="1300" spc="3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тип</a:t>
            </a:r>
            <a:r>
              <a:rPr dirty="0" sz="1300" spc="3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данных</a:t>
            </a:r>
            <a:r>
              <a:rPr dirty="0" sz="1300" spc="3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31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идентификатор. </a:t>
            </a:r>
            <a:r>
              <a:rPr dirty="0" sz="1300">
                <a:latin typeface="Roboto"/>
                <a:cs typeface="Roboto"/>
              </a:rPr>
              <a:t>Однако</a:t>
            </a:r>
            <a:r>
              <a:rPr dirty="0" sz="1300" spc="49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указатели</a:t>
            </a:r>
            <a:r>
              <a:rPr dirty="0" sz="1300" spc="8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используются</a:t>
            </a:r>
            <a:r>
              <a:rPr dirty="0" sz="1300" spc="9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таким</a:t>
            </a:r>
            <a:r>
              <a:rPr dirty="0" sz="1300" spc="8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образом,</a:t>
            </a:r>
            <a:r>
              <a:rPr dirty="0" sz="1300" spc="4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который</a:t>
            </a:r>
            <a:r>
              <a:rPr dirty="0" sz="1300" spc="43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отличается</a:t>
            </a:r>
            <a:r>
              <a:rPr dirty="0" sz="1300" spc="44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от </a:t>
            </a:r>
            <a:r>
              <a:rPr dirty="0" sz="1300" spc="-10">
                <a:latin typeface="Roboto"/>
                <a:cs typeface="Roboto"/>
              </a:rPr>
              <a:t>обычных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переменных.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</a:pPr>
            <a:r>
              <a:rPr dirty="0" sz="1650">
                <a:latin typeface="Roboto"/>
                <a:cs typeface="Roboto"/>
              </a:rPr>
              <a:t>Ключевые</a:t>
            </a:r>
            <a:r>
              <a:rPr dirty="0" sz="1650" spc="-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принципы</a:t>
            </a:r>
            <a:r>
              <a:rPr dirty="0" sz="1650" spc="-5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указателей: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650">
              <a:latin typeface="Roboto"/>
              <a:cs typeface="Roboto"/>
            </a:endParaRPr>
          </a:p>
          <a:p>
            <a:pPr marL="1126490" indent="-227965">
              <a:lnSpc>
                <a:spcPct val="100000"/>
              </a:lnSpc>
              <a:buAutoNum type="arabicPeriod"/>
              <a:tabLst>
                <a:tab pos="1126490" algn="l"/>
              </a:tabLst>
            </a:pPr>
            <a:r>
              <a:rPr dirty="0" sz="1300" spc="-25">
                <a:latin typeface="Roboto"/>
                <a:cs typeface="Roboto"/>
              </a:rPr>
              <a:t>Указатель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это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переменная,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которой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хранится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адрес.</a:t>
            </a:r>
            <a:endParaRPr sz="1300">
              <a:latin typeface="Roboto"/>
              <a:cs typeface="Roboto"/>
            </a:endParaRPr>
          </a:p>
          <a:p>
            <a:pPr marL="1127125" marR="352425" indent="-228600">
              <a:lnSpc>
                <a:spcPct val="114999"/>
              </a:lnSpc>
              <a:buAutoNum type="arabicPeriod"/>
              <a:tabLst>
                <a:tab pos="1127125" algn="l"/>
              </a:tabLst>
            </a:pPr>
            <a:r>
              <a:rPr dirty="0" sz="1300">
                <a:latin typeface="Roboto"/>
                <a:cs typeface="Roboto"/>
              </a:rPr>
              <a:t>Утверждение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вида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«A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указывает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B»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означает,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что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«A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содержит </a:t>
            </a:r>
            <a:r>
              <a:rPr dirty="0" sz="1300">
                <a:latin typeface="Roboto"/>
                <a:cs typeface="Roboto"/>
              </a:rPr>
              <a:t>адрес</a:t>
            </a:r>
            <a:r>
              <a:rPr dirty="0" sz="1300" spc="-7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B».</a:t>
            </a:r>
            <a:endParaRPr sz="1300">
              <a:latin typeface="Roboto"/>
              <a:cs typeface="Roboto"/>
            </a:endParaRPr>
          </a:p>
          <a:p>
            <a:pPr algn="just" marL="374650" marR="5080">
              <a:lnSpc>
                <a:spcPct val="114999"/>
              </a:lnSpc>
              <a:spcBef>
                <a:spcPts val="1300"/>
              </a:spcBef>
            </a:pPr>
            <a:r>
              <a:rPr dirty="0" sz="1300">
                <a:latin typeface="Roboto"/>
                <a:cs typeface="Roboto"/>
              </a:rPr>
              <a:t>Каждая</a:t>
            </a:r>
            <a:r>
              <a:rPr dirty="0" sz="1300" spc="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переменная</a:t>
            </a:r>
            <a:r>
              <a:rPr dirty="0" sz="1300" spc="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программе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-35">
                <a:latin typeface="Roboto"/>
                <a:cs typeface="Roboto"/>
              </a:rPr>
              <a:t> это </a:t>
            </a:r>
            <a:r>
              <a:rPr dirty="0" sz="1300" spc="-10">
                <a:latin typeface="Roboto"/>
                <a:cs typeface="Roboto"/>
              </a:rPr>
              <a:t>объект,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имеющий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имя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значение.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Имя </a:t>
            </a:r>
            <a:r>
              <a:rPr dirty="0" sz="1300">
                <a:latin typeface="Roboto"/>
                <a:cs typeface="Roboto"/>
              </a:rPr>
              <a:t>переменной</a:t>
            </a:r>
            <a:r>
              <a:rPr dirty="0" sz="1300" spc="3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соответствует</a:t>
            </a:r>
            <a:r>
              <a:rPr dirty="0" sz="1300" spc="2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адресу</a:t>
            </a:r>
            <a:r>
              <a:rPr dirty="0" sz="1300" spc="2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выделенного</a:t>
            </a:r>
            <a:r>
              <a:rPr dirty="0" sz="1300" spc="2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2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неё</a:t>
            </a:r>
            <a:r>
              <a:rPr dirty="0" sz="1300" spc="2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участка</a:t>
            </a:r>
            <a:r>
              <a:rPr dirty="0" sz="1300" spc="2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памяти,</a:t>
            </a:r>
            <a:r>
              <a:rPr dirty="0" sz="1300" spc="28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а </a:t>
            </a:r>
            <a:r>
              <a:rPr dirty="0" sz="1300">
                <a:latin typeface="Roboto"/>
                <a:cs typeface="Roboto"/>
              </a:rPr>
              <a:t>значение</a:t>
            </a:r>
            <a:r>
              <a:rPr dirty="0" sz="1300" spc="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содержимому</a:t>
            </a:r>
            <a:r>
              <a:rPr dirty="0" sz="1300" spc="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этого</a:t>
            </a:r>
            <a:r>
              <a:rPr dirty="0" sz="1300" spc="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участка.</a:t>
            </a:r>
            <a:r>
              <a:rPr dirty="0" sz="1300" spc="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Адрес</a:t>
            </a:r>
            <a:r>
              <a:rPr dirty="0" sz="1300" spc="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переменной</a:t>
            </a:r>
            <a:r>
              <a:rPr dirty="0" sz="1300" spc="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можно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получить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с </a:t>
            </a:r>
            <a:r>
              <a:rPr dirty="0" sz="1300" spc="-10">
                <a:latin typeface="Roboto"/>
                <a:cs typeface="Roboto"/>
              </a:rPr>
              <a:t>помощью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унарной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операции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&amp;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а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значение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адресу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помощью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178037"/>
                </a:solidFill>
                <a:latin typeface="Courier New"/>
                <a:cs typeface="Courier New"/>
              </a:rPr>
              <a:t>*</a:t>
            </a:r>
            <a:r>
              <a:rPr dirty="0" sz="1300" spc="-25">
                <a:latin typeface="Roboto"/>
                <a:cs typeface="Roboto"/>
              </a:rPr>
              <a:t>.</a:t>
            </a:r>
            <a:endParaRPr sz="13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  <a:spcBef>
                <a:spcPts val="1535"/>
              </a:spcBef>
            </a:pPr>
            <a:r>
              <a:rPr dirty="0" sz="1300" spc="-10">
                <a:latin typeface="Roboto"/>
                <a:cs typeface="Roboto"/>
              </a:rPr>
              <a:t>Пример: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a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5;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6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*p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&amp;a;</a:t>
            </a:r>
            <a:r>
              <a:rPr dirty="0" sz="1100" spc="220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p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хранит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адрес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переменной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a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 spc="-20">
                <a:latin typeface="Roboto"/>
                <a:cs typeface="Roboto"/>
              </a:rPr>
              <a:t>printf("%d",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*p);</a:t>
            </a:r>
            <a:r>
              <a:rPr dirty="0" sz="1100" spc="250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разыменование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указателя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возвращает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значение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5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6900" y="8350249"/>
            <a:ext cx="6959600" cy="0"/>
          </a:xfrm>
          <a:custGeom>
            <a:avLst/>
            <a:gdLst/>
            <a:ahLst/>
            <a:cxnLst/>
            <a:rect l="l" t="t" r="r" b="b"/>
            <a:pathLst>
              <a:path w="6959600" h="0">
                <a:moveTo>
                  <a:pt x="0" y="0"/>
                </a:moveTo>
                <a:lnTo>
                  <a:pt x="6959599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700" y="8925979"/>
            <a:ext cx="436245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>
                <a:latin typeface="Roboto"/>
                <a:cs typeface="Roboto"/>
              </a:rPr>
              <a:t>Операции</a:t>
            </a:r>
            <a:r>
              <a:rPr dirty="0" sz="2650" spc="-80">
                <a:latin typeface="Roboto"/>
                <a:cs typeface="Roboto"/>
              </a:rPr>
              <a:t> </a:t>
            </a:r>
            <a:r>
              <a:rPr dirty="0" sz="2650">
                <a:latin typeface="Roboto"/>
                <a:cs typeface="Roboto"/>
              </a:rPr>
              <a:t>над</a:t>
            </a:r>
            <a:r>
              <a:rPr dirty="0" sz="2650" spc="-75">
                <a:latin typeface="Roboto"/>
                <a:cs typeface="Roboto"/>
              </a:rPr>
              <a:t> </a:t>
            </a:r>
            <a:r>
              <a:rPr dirty="0" sz="2650" spc="-20">
                <a:latin typeface="Roboto"/>
                <a:cs typeface="Roboto"/>
              </a:rPr>
              <a:t>указателями</a:t>
            </a:r>
            <a:endParaRPr sz="26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9750" y="893477"/>
            <a:ext cx="6308090" cy="3319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языке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Си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указателями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допустимы</a:t>
            </a:r>
            <a:r>
              <a:rPr dirty="0" sz="1300" spc="-10">
                <a:latin typeface="Roboto"/>
                <a:cs typeface="Roboto"/>
              </a:rPr>
              <a:t> следующие операции:</a:t>
            </a:r>
            <a:endParaRPr sz="1300">
              <a:latin typeface="Roboto"/>
              <a:cs typeface="Roboto"/>
            </a:endParaRPr>
          </a:p>
          <a:p>
            <a:pPr marL="1126490" indent="-227965">
              <a:lnSpc>
                <a:spcPct val="100000"/>
              </a:lnSpc>
              <a:spcBef>
                <a:spcPts val="1535"/>
              </a:spcBef>
              <a:buFont typeface="Roboto"/>
              <a:buAutoNum type="arabicPeriod"/>
              <a:tabLst>
                <a:tab pos="1126490" algn="l"/>
              </a:tabLst>
            </a:pPr>
            <a:r>
              <a:rPr dirty="0" sz="1300" spc="-10" b="1">
                <a:latin typeface="Roboto"/>
                <a:cs typeface="Roboto"/>
              </a:rPr>
              <a:t>Присваивание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указателю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можно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присвоить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адрес.</a:t>
            </a:r>
            <a:endParaRPr sz="1300">
              <a:latin typeface="Roboto"/>
              <a:cs typeface="Roboto"/>
            </a:endParaRPr>
          </a:p>
          <a:p>
            <a:pPr marL="1126490" indent="-227965">
              <a:lnSpc>
                <a:spcPct val="100000"/>
              </a:lnSpc>
              <a:spcBef>
                <a:spcPts val="229"/>
              </a:spcBef>
              <a:buFont typeface="Roboto"/>
              <a:buAutoNum type="arabicPeriod"/>
              <a:tabLst>
                <a:tab pos="1126490" algn="l"/>
              </a:tabLst>
            </a:pPr>
            <a:r>
              <a:rPr dirty="0" sz="1300" spc="-10" b="1">
                <a:latin typeface="Roboto"/>
                <a:cs typeface="Roboto"/>
              </a:rPr>
              <a:t>Разыменование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операция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*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latin typeface="Roboto"/>
                <a:cs typeface="Roboto"/>
              </a:rPr>
              <a:t>получает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значение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адресу.</a:t>
            </a:r>
            <a:endParaRPr sz="1300">
              <a:latin typeface="Roboto"/>
              <a:cs typeface="Roboto"/>
            </a:endParaRPr>
          </a:p>
          <a:p>
            <a:pPr marL="1127125" marR="483234" indent="-228600">
              <a:lnSpc>
                <a:spcPct val="114999"/>
              </a:lnSpc>
              <a:buFont typeface="Roboto"/>
              <a:buAutoNum type="arabicPeriod"/>
              <a:tabLst>
                <a:tab pos="1127125" algn="l"/>
              </a:tabLst>
            </a:pPr>
            <a:r>
              <a:rPr dirty="0" sz="1300" b="1">
                <a:latin typeface="Roboto"/>
                <a:cs typeface="Roboto"/>
              </a:rPr>
              <a:t>Получение</a:t>
            </a:r>
            <a:r>
              <a:rPr dirty="0" sz="1300" spc="-5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адреса</a:t>
            </a:r>
            <a:r>
              <a:rPr dirty="0" sz="1300" spc="-25" b="1">
                <a:latin typeface="Roboto"/>
                <a:cs typeface="Roboto"/>
              </a:rPr>
              <a:t> </a:t>
            </a:r>
            <a:r>
              <a:rPr dirty="0" sz="1300" spc="-20" b="1">
                <a:latin typeface="Roboto"/>
                <a:cs typeface="Roboto"/>
              </a:rPr>
              <a:t>указателя</a:t>
            </a:r>
            <a:r>
              <a:rPr dirty="0" sz="1300" spc="-20">
                <a:latin typeface="Roboto"/>
                <a:cs typeface="Roboto"/>
              </a:rPr>
              <a:t>: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операция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&amp;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20">
                <a:latin typeface="Roboto"/>
                <a:cs typeface="Roboto"/>
              </a:rPr>
              <a:t>возвращает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адрес переменной.</a:t>
            </a:r>
            <a:endParaRPr sz="1300">
              <a:latin typeface="Roboto"/>
              <a:cs typeface="Roboto"/>
            </a:endParaRPr>
          </a:p>
          <a:p>
            <a:pPr marL="1127125" marR="5080" indent="-228600">
              <a:lnSpc>
                <a:spcPct val="114999"/>
              </a:lnSpc>
              <a:spcBef>
                <a:spcPts val="5"/>
              </a:spcBef>
              <a:buFont typeface="Roboto"/>
              <a:buAutoNum type="arabicPeriod"/>
              <a:tabLst>
                <a:tab pos="1127125" algn="l"/>
              </a:tabLst>
            </a:pPr>
            <a:r>
              <a:rPr dirty="0" sz="1300" spc="-25" b="1">
                <a:latin typeface="Roboto"/>
                <a:cs typeface="Roboto"/>
              </a:rPr>
              <a:t>Арифметика</a:t>
            </a:r>
            <a:r>
              <a:rPr dirty="0" sz="1300" spc="-20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указателей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добавление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вычитание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целых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чисел изменяет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адрес,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хранящийся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указателе.</a:t>
            </a:r>
            <a:endParaRPr sz="1300">
              <a:latin typeface="Roboto"/>
              <a:cs typeface="Roboto"/>
            </a:endParaRPr>
          </a:p>
          <a:p>
            <a:pPr marL="1126490" indent="-227965">
              <a:lnSpc>
                <a:spcPct val="100000"/>
              </a:lnSpc>
              <a:spcBef>
                <a:spcPts val="229"/>
              </a:spcBef>
              <a:buFont typeface="Roboto"/>
              <a:buAutoNum type="arabicPeriod"/>
              <a:tabLst>
                <a:tab pos="1126490" algn="l"/>
              </a:tabLst>
            </a:pPr>
            <a:r>
              <a:rPr dirty="0" sz="1300" b="1">
                <a:latin typeface="Roboto"/>
                <a:cs typeface="Roboto"/>
              </a:rPr>
              <a:t>Сравнение</a:t>
            </a:r>
            <a:r>
              <a:rPr dirty="0" sz="1300" spc="-60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указателей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например,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==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!=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&lt;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&gt;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другие.</a:t>
            </a:r>
            <a:endParaRPr sz="13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  <a:spcBef>
                <a:spcPts val="1535"/>
              </a:spcBef>
            </a:pPr>
            <a:r>
              <a:rPr dirty="0" sz="1300" spc="-10">
                <a:latin typeface="Roboto"/>
                <a:cs typeface="Roboto"/>
              </a:rPr>
              <a:t>Пример:</a:t>
            </a:r>
            <a:endParaRPr sz="1300">
              <a:latin typeface="Roboto"/>
              <a:cs typeface="Roboto"/>
            </a:endParaRPr>
          </a:p>
          <a:p>
            <a:pPr marL="12700" marR="4986655">
              <a:lnSpc>
                <a:spcPct val="114999"/>
              </a:lnSpc>
              <a:spcBef>
                <a:spcPts val="1350"/>
              </a:spcBef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arr[]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{10,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20,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30}; </a:t>
            </a: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*p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arr;</a:t>
            </a:r>
            <a:endParaRPr sz="1100">
              <a:latin typeface="Roboto"/>
              <a:cs typeface="Roboto"/>
            </a:endParaRPr>
          </a:p>
          <a:p>
            <a:pPr marL="12700" marR="2660015">
              <a:lnSpc>
                <a:spcPct val="114999"/>
              </a:lnSpc>
            </a:pPr>
            <a:r>
              <a:rPr dirty="0" sz="1100">
                <a:latin typeface="Roboto"/>
                <a:cs typeface="Roboto"/>
              </a:rPr>
              <a:t>p++;</a:t>
            </a:r>
            <a:r>
              <a:rPr dirty="0" sz="1100" spc="200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теперь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p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указывает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на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второй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элемент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массива </a:t>
            </a:r>
            <a:r>
              <a:rPr dirty="0" sz="1100" spc="-20">
                <a:latin typeface="Roboto"/>
                <a:cs typeface="Roboto"/>
              </a:rPr>
              <a:t>printf("%d",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*p);</a:t>
            </a:r>
            <a:r>
              <a:rPr dirty="0" sz="1100" spc="265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вывод: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20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6900" y="4908550"/>
            <a:ext cx="6959600" cy="0"/>
          </a:xfrm>
          <a:custGeom>
            <a:avLst/>
            <a:gdLst/>
            <a:ahLst/>
            <a:cxnLst/>
            <a:rect l="l" t="t" r="r" b="b"/>
            <a:pathLst>
              <a:path w="6959600" h="0">
                <a:moveTo>
                  <a:pt x="0" y="0"/>
                </a:moveTo>
                <a:lnTo>
                  <a:pt x="6959599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700" y="5485454"/>
            <a:ext cx="598360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0">
                <a:latin typeface="Roboto"/>
                <a:cs typeface="Roboto"/>
              </a:rPr>
              <a:t>Нетипизированный</a:t>
            </a:r>
            <a:r>
              <a:rPr dirty="0" sz="2650" spc="-80">
                <a:latin typeface="Roboto"/>
                <a:cs typeface="Roboto"/>
              </a:rPr>
              <a:t> </a:t>
            </a:r>
            <a:r>
              <a:rPr dirty="0" sz="2650" spc="-40">
                <a:latin typeface="Roboto"/>
                <a:cs typeface="Roboto"/>
              </a:rPr>
              <a:t>указатель</a:t>
            </a:r>
            <a:r>
              <a:rPr dirty="0" sz="2650" spc="-75">
                <a:latin typeface="Roboto"/>
                <a:cs typeface="Roboto"/>
              </a:rPr>
              <a:t> </a:t>
            </a:r>
            <a:r>
              <a:rPr dirty="0" sz="2650">
                <a:latin typeface="Roboto"/>
                <a:cs typeface="Roboto"/>
              </a:rPr>
              <a:t>(void</a:t>
            </a:r>
            <a:r>
              <a:rPr dirty="0" sz="2650" spc="-75">
                <a:latin typeface="Roboto"/>
                <a:cs typeface="Roboto"/>
              </a:rPr>
              <a:t> </a:t>
            </a:r>
            <a:r>
              <a:rPr dirty="0" sz="2650" spc="-25">
                <a:latin typeface="Roboto"/>
                <a:cs typeface="Roboto"/>
              </a:rPr>
              <a:t>*)</a:t>
            </a:r>
            <a:endParaRPr sz="26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750" y="6245636"/>
            <a:ext cx="6586855" cy="2009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 marR="5080">
              <a:lnSpc>
                <a:spcPct val="114999"/>
              </a:lnSpc>
              <a:spcBef>
                <a:spcPts val="100"/>
              </a:spcBef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void</a:t>
            </a:r>
            <a:r>
              <a:rPr dirty="0" sz="1100" spc="-9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*</a:t>
            </a:r>
            <a:r>
              <a:rPr dirty="0" sz="1100" spc="-26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это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указатель,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который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может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хранить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адрес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любого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типа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данных,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но </a:t>
            </a:r>
            <a:r>
              <a:rPr dirty="0" sz="1300" spc="-10">
                <a:latin typeface="Roboto"/>
                <a:cs typeface="Roboto"/>
              </a:rPr>
              <a:t>разыменование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такого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указателя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напрямую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невозможно.</a:t>
            </a:r>
            <a:endParaRPr sz="13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  <a:spcBef>
                <a:spcPts val="1535"/>
              </a:spcBef>
            </a:pPr>
            <a:r>
              <a:rPr dirty="0" sz="1300" spc="-10">
                <a:latin typeface="Roboto"/>
                <a:cs typeface="Roboto"/>
              </a:rPr>
              <a:t>Пример:</a:t>
            </a:r>
            <a:endParaRPr sz="1300">
              <a:latin typeface="Roboto"/>
              <a:cs typeface="Roboto"/>
            </a:endParaRPr>
          </a:p>
          <a:p>
            <a:pPr marL="12700" marR="5966460">
              <a:lnSpc>
                <a:spcPct val="114999"/>
              </a:lnSpc>
              <a:spcBef>
                <a:spcPts val="1345"/>
              </a:spcBef>
            </a:pPr>
            <a:r>
              <a:rPr dirty="0" sz="1100">
                <a:latin typeface="Roboto"/>
                <a:cs typeface="Roboto"/>
              </a:rPr>
              <a:t>void</a:t>
            </a:r>
            <a:r>
              <a:rPr dirty="0" sz="1100" spc="-6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*ptr; </a:t>
            </a: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a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35">
                <a:latin typeface="Roboto"/>
                <a:cs typeface="Roboto"/>
              </a:rPr>
              <a:t> 10; </a:t>
            </a:r>
            <a:r>
              <a:rPr dirty="0" sz="1100">
                <a:latin typeface="Roboto"/>
                <a:cs typeface="Roboto"/>
              </a:rPr>
              <a:t>ptr</a:t>
            </a:r>
            <a:r>
              <a:rPr dirty="0" sz="1100" spc="-5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&amp;a;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*p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(int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*)ptr;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-20">
                <a:latin typeface="Roboto"/>
                <a:cs typeface="Roboto"/>
              </a:rPr>
              <a:t>printf("%d",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*p);</a:t>
            </a:r>
            <a:r>
              <a:rPr dirty="0" sz="1100" spc="265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вывод: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10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6900" y="8947150"/>
            <a:ext cx="6959600" cy="0"/>
          </a:xfrm>
          <a:custGeom>
            <a:avLst/>
            <a:gdLst/>
            <a:ahLst/>
            <a:cxnLst/>
            <a:rect l="l" t="t" r="r" b="b"/>
            <a:pathLst>
              <a:path w="6959600" h="0">
                <a:moveTo>
                  <a:pt x="0" y="0"/>
                </a:moveTo>
                <a:lnTo>
                  <a:pt x="6959599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Указатели</a:t>
            </a:r>
            <a:r>
              <a:rPr dirty="0" spc="-55"/>
              <a:t> </a:t>
            </a:r>
            <a:r>
              <a:rPr dirty="0"/>
              <a:t>и</a:t>
            </a:r>
            <a:r>
              <a:rPr dirty="0" spc="-55"/>
              <a:t> </a:t>
            </a:r>
            <a:r>
              <a:rPr dirty="0" spc="-20"/>
              <a:t>const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750" y="1674874"/>
            <a:ext cx="6404610" cy="2021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>
              <a:lnSpc>
                <a:spcPct val="100000"/>
              </a:lnSpc>
              <a:spcBef>
                <a:spcPts val="100"/>
              </a:spcBef>
            </a:pPr>
            <a:r>
              <a:rPr dirty="0" sz="1300" spc="-25">
                <a:latin typeface="Roboto"/>
                <a:cs typeface="Roboto"/>
              </a:rPr>
              <a:t>Указатели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могут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быть:</a:t>
            </a:r>
            <a:endParaRPr sz="1300">
              <a:latin typeface="Roboto"/>
              <a:cs typeface="Roboto"/>
            </a:endParaRPr>
          </a:p>
          <a:p>
            <a:pPr marL="1126490" indent="-227965">
              <a:lnSpc>
                <a:spcPct val="100000"/>
              </a:lnSpc>
              <a:spcBef>
                <a:spcPts val="1535"/>
              </a:spcBef>
              <a:buClr>
                <a:srgbClr val="000000"/>
              </a:buClr>
              <a:buSzPct val="118181"/>
              <a:buFont typeface="Roboto"/>
              <a:buAutoNum type="arabicPeriod"/>
              <a:tabLst>
                <a:tab pos="1126490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const</a:t>
            </a:r>
            <a:r>
              <a:rPr dirty="0" sz="1100" spc="-9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int</a:t>
            </a:r>
            <a:r>
              <a:rPr dirty="0" sz="1100" spc="-6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*p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нельзя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изменить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значение,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которое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указывает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178037"/>
                </a:solidFill>
                <a:latin typeface="Courier New"/>
                <a:cs typeface="Courier New"/>
              </a:rPr>
              <a:t>p</a:t>
            </a:r>
            <a:r>
              <a:rPr dirty="0" sz="1300" spc="-25">
                <a:latin typeface="Roboto"/>
                <a:cs typeface="Roboto"/>
              </a:rPr>
              <a:t>.</a:t>
            </a:r>
            <a:endParaRPr sz="1300">
              <a:latin typeface="Roboto"/>
              <a:cs typeface="Roboto"/>
            </a:endParaRPr>
          </a:p>
          <a:p>
            <a:pPr marL="1126490" indent="-22796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SzPct val="118181"/>
              <a:buFont typeface="Roboto"/>
              <a:buAutoNum type="arabicPeriod"/>
              <a:tabLst>
                <a:tab pos="1126490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int</a:t>
            </a:r>
            <a:r>
              <a:rPr dirty="0" sz="1100" spc="-8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*const</a:t>
            </a:r>
            <a:r>
              <a:rPr dirty="0" sz="1100" spc="-5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p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нельзя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изменить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сам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указатель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178037"/>
                </a:solidFill>
                <a:latin typeface="Courier New"/>
                <a:cs typeface="Courier New"/>
              </a:rPr>
              <a:t>p</a:t>
            </a:r>
            <a:r>
              <a:rPr dirty="0" sz="1300" spc="-25">
                <a:latin typeface="Roboto"/>
                <a:cs typeface="Roboto"/>
              </a:rPr>
              <a:t>.</a:t>
            </a:r>
            <a:endParaRPr sz="1300">
              <a:latin typeface="Roboto"/>
              <a:cs typeface="Roboto"/>
            </a:endParaRPr>
          </a:p>
          <a:p>
            <a:pPr marL="1126490" indent="-22796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118181"/>
              <a:buFont typeface="Roboto"/>
              <a:buAutoNum type="arabicPeriod"/>
              <a:tabLst>
                <a:tab pos="1126490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const</a:t>
            </a:r>
            <a:r>
              <a:rPr dirty="0" sz="1100" spc="-6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int</a:t>
            </a:r>
            <a:r>
              <a:rPr dirty="0" sz="1100" spc="-5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*const</a:t>
            </a:r>
            <a:r>
              <a:rPr dirty="0" sz="1100" spc="-4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p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значение,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ни</a:t>
            </a:r>
            <a:r>
              <a:rPr dirty="0" sz="1300" spc="-25">
                <a:latin typeface="Roboto"/>
                <a:cs typeface="Roboto"/>
              </a:rPr>
              <a:t> указатель </a:t>
            </a:r>
            <a:r>
              <a:rPr dirty="0" sz="1300" spc="-10">
                <a:latin typeface="Roboto"/>
                <a:cs typeface="Roboto"/>
              </a:rPr>
              <a:t>менять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нельзя.</a:t>
            </a:r>
            <a:endParaRPr sz="13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  <a:spcBef>
                <a:spcPts val="1535"/>
              </a:spcBef>
            </a:pPr>
            <a:r>
              <a:rPr dirty="0" sz="1300" spc="-10">
                <a:latin typeface="Roboto"/>
                <a:cs typeface="Roboto"/>
              </a:rPr>
              <a:t>Пример: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1100" spc="-10">
                <a:latin typeface="Roboto"/>
                <a:cs typeface="Roboto"/>
              </a:rPr>
              <a:t>const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a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10;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 spc="-10">
                <a:latin typeface="Roboto"/>
                <a:cs typeface="Roboto"/>
              </a:rPr>
              <a:t>const</a:t>
            </a:r>
            <a:r>
              <a:rPr dirty="0" sz="1100" spc="-6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*p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&amp;a;</a:t>
            </a:r>
            <a:r>
              <a:rPr dirty="0" sz="1100" spc="210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нельзя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изменить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значение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через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*p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6900" y="4387850"/>
            <a:ext cx="6959600" cy="0"/>
          </a:xfrm>
          <a:custGeom>
            <a:avLst/>
            <a:gdLst/>
            <a:ahLst/>
            <a:cxnLst/>
            <a:rect l="l" t="t" r="r" b="b"/>
            <a:pathLst>
              <a:path w="6959600" h="0">
                <a:moveTo>
                  <a:pt x="0" y="0"/>
                </a:moveTo>
                <a:lnTo>
                  <a:pt x="6959599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700" y="4969718"/>
            <a:ext cx="376491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45">
                <a:latin typeface="Roboto"/>
                <a:cs typeface="Roboto"/>
              </a:rPr>
              <a:t>Указатель</a:t>
            </a:r>
            <a:r>
              <a:rPr dirty="0" sz="2650" spc="-60">
                <a:latin typeface="Roboto"/>
                <a:cs typeface="Roboto"/>
              </a:rPr>
              <a:t> </a:t>
            </a:r>
            <a:r>
              <a:rPr dirty="0" sz="2650">
                <a:latin typeface="Roboto"/>
                <a:cs typeface="Roboto"/>
              </a:rPr>
              <a:t>на</a:t>
            </a:r>
            <a:r>
              <a:rPr dirty="0" sz="2650" spc="-55">
                <a:latin typeface="Roboto"/>
                <a:cs typeface="Roboto"/>
              </a:rPr>
              <a:t> </a:t>
            </a:r>
            <a:r>
              <a:rPr dirty="0" sz="2650" spc="-25">
                <a:latin typeface="Roboto"/>
                <a:cs typeface="Roboto"/>
              </a:rPr>
              <a:t>указатель</a:t>
            </a:r>
            <a:endParaRPr sz="26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9750" y="5729897"/>
            <a:ext cx="6594475" cy="2044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74650" marR="5080">
              <a:lnSpc>
                <a:spcPct val="114999"/>
              </a:lnSpc>
              <a:spcBef>
                <a:spcPts val="100"/>
              </a:spcBef>
            </a:pPr>
            <a:r>
              <a:rPr dirty="0" sz="1300" spc="-20">
                <a:latin typeface="Roboto"/>
                <a:cs typeface="Roboto"/>
              </a:rPr>
              <a:t>Указатель</a:t>
            </a:r>
            <a:r>
              <a:rPr dirty="0" sz="1300" spc="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может</a:t>
            </a:r>
            <a:r>
              <a:rPr dirty="0" sz="1300" spc="4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указывать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другой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указатель.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Это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называется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 b="1">
                <a:latin typeface="Roboto"/>
                <a:cs typeface="Roboto"/>
              </a:rPr>
              <a:t>указатель</a:t>
            </a:r>
            <a:r>
              <a:rPr dirty="0" sz="1300" spc="-30" b="1">
                <a:latin typeface="Roboto"/>
                <a:cs typeface="Roboto"/>
              </a:rPr>
              <a:t> </a:t>
            </a:r>
            <a:r>
              <a:rPr dirty="0" sz="1300" spc="-25" b="1">
                <a:latin typeface="Roboto"/>
                <a:cs typeface="Roboto"/>
              </a:rPr>
              <a:t>на </a:t>
            </a:r>
            <a:r>
              <a:rPr dirty="0" sz="1300" b="1">
                <a:latin typeface="Roboto"/>
                <a:cs typeface="Roboto"/>
              </a:rPr>
              <a:t>указатель</a:t>
            </a:r>
            <a:r>
              <a:rPr dirty="0" sz="1300" spc="200" b="1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20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используется</a:t>
            </a:r>
            <a:r>
              <a:rPr dirty="0" sz="1300" spc="20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20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работы</a:t>
            </a:r>
            <a:r>
              <a:rPr dirty="0" sz="1300" spc="1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1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многомерными</a:t>
            </a:r>
            <a:r>
              <a:rPr dirty="0" sz="1300" spc="17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массивами</a:t>
            </a:r>
            <a:r>
              <a:rPr dirty="0" sz="1300" spc="165">
                <a:latin typeface="Roboto"/>
                <a:cs typeface="Roboto"/>
              </a:rPr>
              <a:t>  </a:t>
            </a:r>
            <a:r>
              <a:rPr dirty="0" sz="1300" spc="-50">
                <a:latin typeface="Roboto"/>
                <a:cs typeface="Roboto"/>
              </a:rPr>
              <a:t>и </a:t>
            </a:r>
            <a:r>
              <a:rPr dirty="0" sz="1300">
                <a:latin typeface="Roboto"/>
                <a:cs typeface="Roboto"/>
              </a:rPr>
              <a:t>сложными </a:t>
            </a:r>
            <a:r>
              <a:rPr dirty="0" sz="1300" spc="-25">
                <a:latin typeface="Roboto"/>
                <a:cs typeface="Roboto"/>
              </a:rPr>
              <a:t>структурами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данных.</a:t>
            </a:r>
            <a:endParaRPr sz="13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  <a:spcBef>
                <a:spcPts val="1535"/>
              </a:spcBef>
            </a:pPr>
            <a:r>
              <a:rPr dirty="0" sz="1300" spc="-10">
                <a:latin typeface="Roboto"/>
                <a:cs typeface="Roboto"/>
              </a:rPr>
              <a:t>Пример:</a:t>
            </a:r>
            <a:endParaRPr sz="1300">
              <a:latin typeface="Roboto"/>
              <a:cs typeface="Roboto"/>
            </a:endParaRPr>
          </a:p>
          <a:p>
            <a:pPr marL="12700" marR="5905500">
              <a:lnSpc>
                <a:spcPct val="114999"/>
              </a:lnSpc>
              <a:spcBef>
                <a:spcPts val="1345"/>
              </a:spcBef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a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10; </a:t>
            </a: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*p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&amp;a;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5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**pp</a:t>
            </a:r>
            <a:r>
              <a:rPr dirty="0" sz="1100" spc="-5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50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&amp;p;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-20">
                <a:latin typeface="Roboto"/>
                <a:cs typeface="Roboto"/>
              </a:rPr>
              <a:t>printf("%d",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**pp);</a:t>
            </a:r>
            <a:r>
              <a:rPr dirty="0" sz="1100" spc="250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вывод: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10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6900" y="8464550"/>
            <a:ext cx="6959600" cy="0"/>
          </a:xfrm>
          <a:custGeom>
            <a:avLst/>
            <a:gdLst/>
            <a:ahLst/>
            <a:cxnLst/>
            <a:rect l="l" t="t" r="r" b="b"/>
            <a:pathLst>
              <a:path w="6959600" h="0">
                <a:moveTo>
                  <a:pt x="0" y="0"/>
                </a:moveTo>
                <a:lnTo>
                  <a:pt x="6959599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9047150"/>
            <a:ext cx="272351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45">
                <a:latin typeface="Roboto"/>
                <a:cs typeface="Roboto"/>
              </a:rPr>
              <a:t>Указатель</a:t>
            </a:r>
            <a:r>
              <a:rPr dirty="0" sz="2650" spc="-90">
                <a:latin typeface="Roboto"/>
                <a:cs typeface="Roboto"/>
              </a:rPr>
              <a:t> </a:t>
            </a:r>
            <a:r>
              <a:rPr dirty="0" sz="2650" spc="-55">
                <a:latin typeface="Roboto"/>
                <a:cs typeface="Roboto"/>
              </a:rPr>
              <a:t>файла</a:t>
            </a:r>
            <a:endParaRPr sz="26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9750" y="863722"/>
            <a:ext cx="6592570" cy="2009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 marR="5080">
              <a:lnSpc>
                <a:spcPct val="114999"/>
              </a:lnSpc>
              <a:spcBef>
                <a:spcPts val="100"/>
              </a:spcBef>
            </a:pPr>
            <a:r>
              <a:rPr dirty="0" sz="1300" spc="-10">
                <a:latin typeface="Roboto"/>
                <a:cs typeface="Roboto"/>
              </a:rPr>
              <a:t>Указатель</a:t>
            </a:r>
            <a:r>
              <a:rPr dirty="0" sz="1300" spc="17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файла</a:t>
            </a:r>
            <a:r>
              <a:rPr dirty="0" sz="1300" spc="17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связывает</a:t>
            </a:r>
            <a:r>
              <a:rPr dirty="0" sz="1300" spc="1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систему</a:t>
            </a:r>
            <a:r>
              <a:rPr dirty="0" sz="1300" spc="110">
                <a:latin typeface="Roboto"/>
                <a:cs typeface="Roboto"/>
              </a:rPr>
              <a:t> </a:t>
            </a:r>
            <a:r>
              <a:rPr dirty="0" sz="1300" spc="-65">
                <a:latin typeface="Roboto"/>
                <a:cs typeface="Roboto"/>
              </a:rPr>
              <a:t>ввода-</a:t>
            </a:r>
            <a:r>
              <a:rPr dirty="0" sz="1300">
                <a:latin typeface="Roboto"/>
                <a:cs typeface="Roboto"/>
              </a:rPr>
              <a:t>вывода</a:t>
            </a:r>
            <a:r>
              <a:rPr dirty="0" sz="1300" spc="11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языка</a:t>
            </a:r>
            <a:r>
              <a:rPr dirty="0" sz="1300" spc="1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Си.</a:t>
            </a:r>
            <a:r>
              <a:rPr dirty="0" sz="1300" spc="11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1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работы</a:t>
            </a:r>
            <a:r>
              <a:rPr dirty="0" sz="1300" spc="114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с </a:t>
            </a:r>
            <a:r>
              <a:rPr dirty="0" sz="1300" spc="-30">
                <a:latin typeface="Roboto"/>
                <a:cs typeface="Roboto"/>
              </a:rPr>
              <a:t>файлами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подключается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библиотека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&lt;stdio.h&gt;</a:t>
            </a:r>
            <a:r>
              <a:rPr dirty="0" sz="1300" spc="-10">
                <a:latin typeface="Roboto"/>
                <a:cs typeface="Roboto"/>
              </a:rPr>
              <a:t>.</a:t>
            </a:r>
            <a:endParaRPr sz="13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  <a:spcBef>
                <a:spcPts val="1535"/>
              </a:spcBef>
            </a:pPr>
            <a:r>
              <a:rPr dirty="0" sz="1300" spc="-10">
                <a:latin typeface="Roboto"/>
                <a:cs typeface="Roboto"/>
              </a:rPr>
              <a:t>Пример:</a:t>
            </a:r>
            <a:endParaRPr sz="1300">
              <a:latin typeface="Roboto"/>
              <a:cs typeface="Roboto"/>
            </a:endParaRPr>
          </a:p>
          <a:p>
            <a:pPr marL="12700" marR="4399280">
              <a:lnSpc>
                <a:spcPct val="114999"/>
              </a:lnSpc>
              <a:spcBef>
                <a:spcPts val="1345"/>
              </a:spcBef>
            </a:pPr>
            <a:r>
              <a:rPr dirty="0" sz="1100">
                <a:latin typeface="Roboto"/>
                <a:cs typeface="Roboto"/>
              </a:rPr>
              <a:t>FILE</a:t>
            </a:r>
            <a:r>
              <a:rPr dirty="0" sz="1100" spc="-10">
                <a:latin typeface="Roboto"/>
                <a:cs typeface="Roboto"/>
              </a:rPr>
              <a:t> *ﬁle_ptr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fopen("data.txt",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"r"); </a:t>
            </a:r>
            <a:r>
              <a:rPr dirty="0" sz="1100">
                <a:latin typeface="Roboto"/>
                <a:cs typeface="Roboto"/>
              </a:rPr>
              <a:t>if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(ﬁle_ptr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!=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NULL)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151130" marR="5182870">
              <a:lnSpc>
                <a:spcPct val="114999"/>
              </a:lnSpc>
            </a:pP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работа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с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30">
                <a:latin typeface="Roboto"/>
                <a:cs typeface="Roboto"/>
              </a:rPr>
              <a:t>файлом </a:t>
            </a:r>
            <a:r>
              <a:rPr dirty="0" sz="1100" spc="-10">
                <a:latin typeface="Roboto"/>
                <a:cs typeface="Roboto"/>
              </a:rPr>
              <a:t>fclose(ﬁle_ptr);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6900" y="3575050"/>
            <a:ext cx="6959600" cy="0"/>
          </a:xfrm>
          <a:custGeom>
            <a:avLst/>
            <a:gdLst/>
            <a:ahLst/>
            <a:cxnLst/>
            <a:rect l="l" t="t" r="r" b="b"/>
            <a:pathLst>
              <a:path w="6959600" h="0">
                <a:moveTo>
                  <a:pt x="0" y="0"/>
                </a:moveTo>
                <a:lnTo>
                  <a:pt x="6959599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700" y="4145920"/>
            <a:ext cx="3446779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40">
                <a:latin typeface="Roboto"/>
                <a:cs typeface="Roboto"/>
              </a:rPr>
              <a:t>Указатели</a:t>
            </a:r>
            <a:r>
              <a:rPr dirty="0" sz="2650" spc="-55">
                <a:latin typeface="Roboto"/>
                <a:cs typeface="Roboto"/>
              </a:rPr>
              <a:t> </a:t>
            </a:r>
            <a:r>
              <a:rPr dirty="0" sz="2650">
                <a:latin typeface="Roboto"/>
                <a:cs typeface="Roboto"/>
              </a:rPr>
              <a:t>и</a:t>
            </a:r>
            <a:r>
              <a:rPr dirty="0" sz="2650" spc="-55">
                <a:latin typeface="Roboto"/>
                <a:cs typeface="Roboto"/>
              </a:rPr>
              <a:t> </a:t>
            </a:r>
            <a:r>
              <a:rPr dirty="0" sz="2650" spc="-10">
                <a:latin typeface="Roboto"/>
                <a:cs typeface="Roboto"/>
              </a:rPr>
              <a:t>массивы</a:t>
            </a:r>
            <a:endParaRPr sz="26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750" y="4906105"/>
            <a:ext cx="6588759" cy="162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 marR="5080">
              <a:lnSpc>
                <a:spcPct val="114999"/>
              </a:lnSpc>
              <a:spcBef>
                <a:spcPts val="100"/>
              </a:spcBef>
            </a:pPr>
            <a:r>
              <a:rPr dirty="0" sz="1300" b="1">
                <a:latin typeface="Roboto"/>
                <a:cs typeface="Roboto"/>
              </a:rPr>
              <a:t>Имя</a:t>
            </a:r>
            <a:r>
              <a:rPr dirty="0" sz="1300" spc="10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массива</a:t>
            </a:r>
            <a:r>
              <a:rPr dirty="0" sz="1300" spc="10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это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константный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указатель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его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первый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элемент.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Элементы </a:t>
            </a:r>
            <a:r>
              <a:rPr dirty="0" sz="1300">
                <a:latin typeface="Roboto"/>
                <a:cs typeface="Roboto"/>
              </a:rPr>
              <a:t>массива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можно</a:t>
            </a:r>
            <a:r>
              <a:rPr dirty="0" sz="1300" spc="-20">
                <a:latin typeface="Roboto"/>
                <a:cs typeface="Roboto"/>
              </a:rPr>
              <a:t> обрабатывать </a:t>
            </a:r>
            <a:r>
              <a:rPr dirty="0" sz="1300">
                <a:latin typeface="Roboto"/>
                <a:cs typeface="Roboto"/>
              </a:rPr>
              <a:t>через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арифметику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указателей:</a:t>
            </a:r>
            <a:endParaRPr sz="13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  <a:spcBef>
                <a:spcPts val="1535"/>
              </a:spcBef>
            </a:pPr>
            <a:r>
              <a:rPr dirty="0" sz="1300" spc="-10">
                <a:latin typeface="Roboto"/>
                <a:cs typeface="Roboto"/>
              </a:rPr>
              <a:t>Пример:</a:t>
            </a:r>
            <a:endParaRPr sz="1300">
              <a:latin typeface="Roboto"/>
              <a:cs typeface="Roboto"/>
            </a:endParaRPr>
          </a:p>
          <a:p>
            <a:pPr marL="12700" marR="5266690">
              <a:lnSpc>
                <a:spcPct val="114999"/>
              </a:lnSpc>
              <a:spcBef>
                <a:spcPts val="1345"/>
              </a:spcBef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arr[]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{10,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20,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30}; </a:t>
            </a: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*p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arr;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 spc="-20">
                <a:latin typeface="Roboto"/>
                <a:cs typeface="Roboto"/>
              </a:rPr>
              <a:t>printf("%d",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*(p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+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2));</a:t>
            </a:r>
            <a:r>
              <a:rPr dirty="0" sz="1100" spc="265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вывод: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30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9750" y="7093070"/>
            <a:ext cx="5934075" cy="1358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Передача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массива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функцию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может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осуществляться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через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указатель:</a:t>
            </a:r>
            <a:endParaRPr sz="1300">
              <a:latin typeface="Roboto"/>
              <a:cs typeface="Roboto"/>
            </a:endParaRPr>
          </a:p>
          <a:p>
            <a:pPr marL="151130" marR="3919854" indent="-139065">
              <a:lnSpc>
                <a:spcPct val="114999"/>
              </a:lnSpc>
              <a:spcBef>
                <a:spcPts val="1345"/>
              </a:spcBef>
            </a:pPr>
            <a:r>
              <a:rPr dirty="0" sz="1100">
                <a:latin typeface="Roboto"/>
                <a:cs typeface="Roboto"/>
              </a:rPr>
              <a:t>void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printArray(int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*arr,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size)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 </a:t>
            </a:r>
            <a:r>
              <a:rPr dirty="0" sz="1100">
                <a:latin typeface="Roboto"/>
                <a:cs typeface="Roboto"/>
              </a:rPr>
              <a:t>for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(int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0;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&lt;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size;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i++)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289560">
              <a:lnSpc>
                <a:spcPct val="100000"/>
              </a:lnSpc>
              <a:spcBef>
                <a:spcPts val="200"/>
              </a:spcBef>
            </a:pPr>
            <a:r>
              <a:rPr dirty="0" sz="1100" spc="-10">
                <a:latin typeface="Roboto"/>
                <a:cs typeface="Roboto"/>
              </a:rPr>
              <a:t>printf("%d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",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*(arr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+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i));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195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6900" y="9150350"/>
            <a:ext cx="6959600" cy="0"/>
          </a:xfrm>
          <a:custGeom>
            <a:avLst/>
            <a:gdLst/>
            <a:ahLst/>
            <a:cxnLst/>
            <a:rect l="l" t="t" r="r" b="b"/>
            <a:pathLst>
              <a:path w="6959600" h="0">
                <a:moveTo>
                  <a:pt x="0" y="0"/>
                </a:moveTo>
                <a:lnTo>
                  <a:pt x="6959599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Указатели</a:t>
            </a:r>
            <a:r>
              <a:rPr dirty="0" spc="-75"/>
              <a:t> </a:t>
            </a:r>
            <a:r>
              <a:rPr dirty="0"/>
              <a:t>на</a:t>
            </a:r>
            <a:r>
              <a:rPr dirty="0" spc="-70"/>
              <a:t> </a:t>
            </a:r>
            <a:r>
              <a:rPr dirty="0" spc="-50"/>
              <a:t>функции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750" y="1645120"/>
            <a:ext cx="6592570" cy="162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 marR="5080">
              <a:lnSpc>
                <a:spcPct val="114999"/>
              </a:lnSpc>
              <a:spcBef>
                <a:spcPts val="100"/>
              </a:spcBef>
            </a:pPr>
            <a:r>
              <a:rPr dirty="0" sz="1300" spc="-10">
                <a:latin typeface="Roboto"/>
                <a:cs typeface="Roboto"/>
              </a:rPr>
              <a:t>Указатели</a:t>
            </a:r>
            <a:r>
              <a:rPr dirty="0" sz="1300" spc="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могут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хранить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адреса</a:t>
            </a:r>
            <a:r>
              <a:rPr dirty="0" sz="1300" spc="-30">
                <a:latin typeface="Roboto"/>
                <a:cs typeface="Roboto"/>
              </a:rPr>
              <a:t> функций.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Это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позволяет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передавать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функции </a:t>
            </a:r>
            <a:r>
              <a:rPr dirty="0" sz="1300">
                <a:latin typeface="Roboto"/>
                <a:cs typeface="Roboto"/>
              </a:rPr>
              <a:t>как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параметры.</a:t>
            </a:r>
            <a:endParaRPr sz="13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  <a:spcBef>
                <a:spcPts val="1535"/>
              </a:spcBef>
            </a:pPr>
            <a:r>
              <a:rPr dirty="0" sz="1300" spc="-10">
                <a:latin typeface="Roboto"/>
                <a:cs typeface="Roboto"/>
              </a:rPr>
              <a:t>Пример:</a:t>
            </a:r>
            <a:endParaRPr sz="1300">
              <a:latin typeface="Roboto"/>
              <a:cs typeface="Roboto"/>
            </a:endParaRPr>
          </a:p>
          <a:p>
            <a:pPr marL="12700" marR="4519295">
              <a:lnSpc>
                <a:spcPct val="114999"/>
              </a:lnSpc>
              <a:spcBef>
                <a:spcPts val="1345"/>
              </a:spcBef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add(int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a,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b)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{</a:t>
            </a:r>
            <a:r>
              <a:rPr dirty="0" sz="1100" spc="-20">
                <a:latin typeface="Roboto"/>
                <a:cs typeface="Roboto"/>
              </a:rPr>
              <a:t> return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a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+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b;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} </a:t>
            </a: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(*func_ptr)(int,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int)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add;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 spc="-20">
                <a:latin typeface="Roboto"/>
                <a:cs typeface="Roboto"/>
              </a:rPr>
              <a:t>printf("%d",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func_ptr(3,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4));</a:t>
            </a:r>
            <a:r>
              <a:rPr dirty="0" sz="1100" spc="265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вывод: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7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6900" y="3968747"/>
            <a:ext cx="6959600" cy="0"/>
          </a:xfrm>
          <a:custGeom>
            <a:avLst/>
            <a:gdLst/>
            <a:ahLst/>
            <a:cxnLst/>
            <a:rect l="l" t="t" r="r" b="b"/>
            <a:pathLst>
              <a:path w="6959600" h="0">
                <a:moveTo>
                  <a:pt x="0" y="0"/>
                </a:moveTo>
                <a:lnTo>
                  <a:pt x="6959599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700" y="4541682"/>
            <a:ext cx="133350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40">
                <a:latin typeface="Roboto"/>
                <a:cs typeface="Roboto"/>
              </a:rPr>
              <a:t>Выводы</a:t>
            </a:r>
            <a:endParaRPr sz="26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6025" y="5301864"/>
            <a:ext cx="5780405" cy="1848485"/>
          </a:xfrm>
          <a:prstGeom prst="rect">
            <a:avLst/>
          </a:prstGeom>
        </p:spPr>
        <p:txBody>
          <a:bodyPr wrap="square" lIns="0" tIns="42544" rIns="0" bIns="0" rtlCol="0" vert="horz">
            <a:spAutoFit/>
          </a:bodyPr>
          <a:lstStyle/>
          <a:p>
            <a:pPr marL="450215" indent="-227965">
              <a:lnSpc>
                <a:spcPct val="100000"/>
              </a:lnSpc>
              <a:spcBef>
                <a:spcPts val="334"/>
              </a:spcBef>
              <a:buFont typeface="Microsoft Sans Serif"/>
              <a:buChar char="●"/>
              <a:tabLst>
                <a:tab pos="450215" algn="l"/>
              </a:tabLst>
            </a:pPr>
            <a:r>
              <a:rPr dirty="0" sz="1300" spc="-25" b="1">
                <a:latin typeface="Roboto"/>
                <a:cs typeface="Roboto"/>
              </a:rPr>
              <a:t>Указатель</a:t>
            </a:r>
            <a:r>
              <a:rPr dirty="0" sz="1300" spc="-45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это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переменная,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хранящая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адрес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другой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переменной.</a:t>
            </a:r>
            <a:endParaRPr sz="1300">
              <a:latin typeface="Roboto"/>
              <a:cs typeface="Roboto"/>
            </a:endParaRPr>
          </a:p>
          <a:p>
            <a:pPr marL="450850" marR="688975" indent="-228600">
              <a:lnSpc>
                <a:spcPct val="114999"/>
              </a:lnSpc>
              <a:buFont typeface="Microsoft Sans Serif"/>
              <a:buChar char="●"/>
              <a:tabLst>
                <a:tab pos="450850" algn="l"/>
              </a:tabLst>
            </a:pPr>
            <a:r>
              <a:rPr dirty="0" sz="1300">
                <a:latin typeface="Roboto"/>
                <a:cs typeface="Roboto"/>
              </a:rPr>
              <a:t>Операции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*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latin typeface="Roboto"/>
                <a:cs typeface="Roboto"/>
              </a:rPr>
              <a:t>(разыменование)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&amp;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latin typeface="Roboto"/>
                <a:cs typeface="Roboto"/>
              </a:rPr>
              <a:t>(взятие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адреса)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являются </a:t>
            </a:r>
            <a:r>
              <a:rPr dirty="0" sz="1300">
                <a:latin typeface="Roboto"/>
                <a:cs typeface="Roboto"/>
              </a:rPr>
              <a:t>основными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работы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указателями.</a:t>
            </a:r>
            <a:endParaRPr sz="1300">
              <a:latin typeface="Roboto"/>
              <a:cs typeface="Roboto"/>
            </a:endParaRPr>
          </a:p>
          <a:p>
            <a:pPr marL="450850" marR="5080" indent="-228600">
              <a:lnSpc>
                <a:spcPct val="114999"/>
              </a:lnSpc>
              <a:buFont typeface="Microsoft Sans Serif"/>
              <a:buChar char="●"/>
              <a:tabLst>
                <a:tab pos="450850" algn="l"/>
              </a:tabLst>
            </a:pPr>
            <a:r>
              <a:rPr dirty="0" sz="1300" spc="-25">
                <a:latin typeface="Roboto"/>
                <a:cs typeface="Roboto"/>
              </a:rPr>
              <a:t>Указатели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играют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важную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роль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работе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массивами, </a:t>
            </a:r>
            <a:r>
              <a:rPr dirty="0" sz="1300" spc="-40">
                <a:latin typeface="Roboto"/>
                <a:cs typeface="Roboto"/>
              </a:rPr>
              <a:t>функциями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и </a:t>
            </a:r>
            <a:r>
              <a:rPr dirty="0" sz="1300" spc="-10">
                <a:latin typeface="Roboto"/>
                <a:cs typeface="Roboto"/>
              </a:rPr>
              <a:t>динамическим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выделением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памяти.</a:t>
            </a:r>
            <a:endParaRPr sz="1300">
              <a:latin typeface="Roboto"/>
              <a:cs typeface="Roboto"/>
            </a:endParaRPr>
          </a:p>
          <a:p>
            <a:pPr marL="450850" marR="120014" indent="-228600">
              <a:lnSpc>
                <a:spcPct val="114999"/>
              </a:lnSpc>
              <a:buFont typeface="Microsoft Sans Serif"/>
              <a:buChar char="●"/>
              <a:tabLst>
                <a:tab pos="450850" algn="l"/>
              </a:tabLst>
            </a:pPr>
            <a:r>
              <a:rPr dirty="0" sz="1300" spc="-10">
                <a:latin typeface="Roboto"/>
                <a:cs typeface="Roboto"/>
              </a:rPr>
              <a:t>Работа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указателями </a:t>
            </a:r>
            <a:r>
              <a:rPr dirty="0" sz="1300" spc="-20">
                <a:latin typeface="Roboto"/>
                <a:cs typeface="Roboto"/>
              </a:rPr>
              <a:t>требует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аккуратности,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так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как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ошибки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могут </a:t>
            </a:r>
            <a:r>
              <a:rPr dirty="0" sz="1300">
                <a:latin typeface="Roboto"/>
                <a:cs typeface="Roboto"/>
              </a:rPr>
              <a:t>привести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сбоям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программы.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300" spc="-50">
                <a:latin typeface="Microsoft Sans Serif"/>
                <a:cs typeface="Microsoft Sans Serif"/>
              </a:rPr>
              <a:t>●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7679475"/>
            <a:ext cx="552513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>
                <a:latin typeface="Roboto"/>
                <a:cs typeface="Roboto"/>
              </a:rPr>
              <a:t>Введение</a:t>
            </a:r>
            <a:r>
              <a:rPr dirty="0" sz="2650" spc="-50">
                <a:latin typeface="Roboto"/>
                <a:cs typeface="Roboto"/>
              </a:rPr>
              <a:t> </a:t>
            </a:r>
            <a:r>
              <a:rPr dirty="0" sz="2650">
                <a:latin typeface="Roboto"/>
                <a:cs typeface="Roboto"/>
              </a:rPr>
              <a:t>в</a:t>
            </a:r>
            <a:r>
              <a:rPr dirty="0" sz="2650" spc="-45">
                <a:latin typeface="Roboto"/>
                <a:cs typeface="Roboto"/>
              </a:rPr>
              <a:t> </a:t>
            </a:r>
            <a:r>
              <a:rPr dirty="0" sz="2650" spc="-20">
                <a:latin typeface="Roboto"/>
                <a:cs typeface="Roboto"/>
              </a:rPr>
              <a:t>динамическую</a:t>
            </a:r>
            <a:r>
              <a:rPr dirty="0" sz="2650" spc="-45">
                <a:latin typeface="Roboto"/>
                <a:cs typeface="Roboto"/>
              </a:rPr>
              <a:t> </a:t>
            </a:r>
            <a:r>
              <a:rPr dirty="0" sz="2650" spc="-10">
                <a:latin typeface="Roboto"/>
                <a:cs typeface="Roboto"/>
              </a:rPr>
              <a:t>память</a:t>
            </a:r>
            <a:endParaRPr sz="265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8439650"/>
            <a:ext cx="6231255" cy="1165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Динамическая</a:t>
            </a:r>
            <a:r>
              <a:rPr dirty="0" sz="1300" spc="4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память</a:t>
            </a:r>
            <a:r>
              <a:rPr dirty="0" sz="1300" spc="4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выделяется</a:t>
            </a:r>
            <a:r>
              <a:rPr dirty="0" sz="1300" spc="3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во</a:t>
            </a:r>
            <a:r>
              <a:rPr dirty="0" sz="1300" spc="3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время</a:t>
            </a:r>
            <a:r>
              <a:rPr dirty="0" sz="1300" spc="3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выполнения</a:t>
            </a:r>
            <a:r>
              <a:rPr dirty="0" sz="1300" spc="3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программы,</a:t>
            </a:r>
            <a:r>
              <a:rPr dirty="0" sz="1300" spc="35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что </a:t>
            </a:r>
            <a:r>
              <a:rPr dirty="0" sz="1300">
                <a:latin typeface="Roboto"/>
                <a:cs typeface="Roboto"/>
              </a:rPr>
              <a:t>позволяет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гибко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управлять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объемом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памяти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зависимости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от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потребностей.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4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отличие</a:t>
            </a:r>
            <a:r>
              <a:rPr dirty="0" sz="1300" spc="4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от</a:t>
            </a:r>
            <a:r>
              <a:rPr dirty="0" sz="1300" spc="4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статической</a:t>
            </a:r>
            <a:r>
              <a:rPr dirty="0" sz="1300" spc="4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памяти,</a:t>
            </a:r>
            <a:r>
              <a:rPr dirty="0" sz="1300" spc="4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размер</a:t>
            </a:r>
            <a:r>
              <a:rPr dirty="0" sz="1300" spc="4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которой</a:t>
            </a:r>
            <a:r>
              <a:rPr dirty="0" sz="1300" spc="4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фиксирован</a:t>
            </a:r>
            <a:r>
              <a:rPr dirty="0" sz="1300" spc="4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3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этапе </a:t>
            </a:r>
            <a:r>
              <a:rPr dirty="0" sz="1300">
                <a:latin typeface="Roboto"/>
                <a:cs typeface="Roboto"/>
              </a:rPr>
              <a:t>компиляции,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динамическая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память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предоставляет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больше</a:t>
            </a:r>
            <a:r>
              <a:rPr dirty="0" sz="1300" spc="-6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свободы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6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работе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с </a:t>
            </a:r>
            <a:r>
              <a:rPr dirty="0" sz="1300">
                <a:latin typeface="Roboto"/>
                <a:cs typeface="Roboto"/>
              </a:rPr>
              <a:t>большими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изменяемыми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объемами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данных.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63722"/>
            <a:ext cx="6231890" cy="66586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762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114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языке</a:t>
            </a:r>
            <a:r>
              <a:rPr dirty="0" sz="1300" spc="12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C</a:t>
            </a:r>
            <a:r>
              <a:rPr dirty="0" sz="1300" spc="12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динамическая</a:t>
            </a:r>
            <a:r>
              <a:rPr dirty="0" sz="1300" spc="114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память</a:t>
            </a:r>
            <a:r>
              <a:rPr dirty="0" sz="1300" spc="12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управляется</a:t>
            </a:r>
            <a:r>
              <a:rPr dirty="0" sz="1300" spc="12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вручную,</a:t>
            </a:r>
            <a:r>
              <a:rPr dirty="0" sz="1300" spc="12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что</a:t>
            </a:r>
            <a:r>
              <a:rPr dirty="0" sz="1300" spc="49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требует</a:t>
            </a:r>
            <a:r>
              <a:rPr dirty="0" sz="1300" spc="49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от </a:t>
            </a:r>
            <a:r>
              <a:rPr dirty="0" sz="1300" spc="-10">
                <a:latin typeface="Roboto"/>
                <a:cs typeface="Roboto"/>
              </a:rPr>
              <a:t>программиста</a:t>
            </a:r>
            <a:r>
              <a:rPr dirty="0" sz="1300" spc="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внимания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аккуратности.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Ошибки,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такие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как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утечка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памяти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или </a:t>
            </a:r>
            <a:r>
              <a:rPr dirty="0" sz="1300">
                <a:latin typeface="Roboto"/>
                <a:cs typeface="Roboto"/>
              </a:rPr>
              <a:t>использование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невалидных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указателей,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могут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привести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сбоям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программы.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650" spc="-10">
                <a:latin typeface="Roboto"/>
                <a:cs typeface="Roboto"/>
              </a:rPr>
              <a:t>Преимущества</a:t>
            </a:r>
            <a:r>
              <a:rPr dirty="0" sz="1650" spc="-25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динамической</a:t>
            </a:r>
            <a:r>
              <a:rPr dirty="0" sz="1650" spc="-20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памяти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650">
              <a:latin typeface="Roboto"/>
              <a:cs typeface="Roboto"/>
            </a:endParaRPr>
          </a:p>
          <a:p>
            <a:pPr marL="765175" marR="38735" indent="-228600">
              <a:lnSpc>
                <a:spcPct val="114999"/>
              </a:lnSpc>
              <a:buFont typeface="Microsoft Sans Serif"/>
              <a:buChar char="●"/>
              <a:tabLst>
                <a:tab pos="765175" algn="l"/>
              </a:tabLst>
            </a:pPr>
            <a:r>
              <a:rPr dirty="0" sz="1300" spc="-10">
                <a:latin typeface="Roboto"/>
                <a:cs typeface="Roboto"/>
              </a:rPr>
              <a:t>Позволяет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создавать</a:t>
            </a:r>
            <a:r>
              <a:rPr dirty="0" sz="1300" spc="-30">
                <a:latin typeface="Roboto"/>
                <a:cs typeface="Roboto"/>
              </a:rPr>
              <a:t> структуры </a:t>
            </a:r>
            <a:r>
              <a:rPr dirty="0" sz="1300" spc="-10">
                <a:latin typeface="Roboto"/>
                <a:cs typeface="Roboto"/>
              </a:rPr>
              <a:t>данных,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размер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которых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неизвестен </a:t>
            </a:r>
            <a:r>
              <a:rPr dirty="0" sz="1300">
                <a:latin typeface="Roboto"/>
                <a:cs typeface="Roboto"/>
              </a:rPr>
              <a:t>заранее</a:t>
            </a:r>
            <a:r>
              <a:rPr dirty="0" sz="1300" spc="-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(например,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массивы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переменной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длины).</a:t>
            </a:r>
            <a:endParaRPr sz="1300">
              <a:latin typeface="Roboto"/>
              <a:cs typeface="Roboto"/>
            </a:endParaRPr>
          </a:p>
          <a:p>
            <a:pPr marL="764540" indent="-227965">
              <a:lnSpc>
                <a:spcPct val="100000"/>
              </a:lnSpc>
              <a:spcBef>
                <a:spcPts val="234"/>
              </a:spcBef>
              <a:buFont typeface="Microsoft Sans Serif"/>
              <a:buChar char="●"/>
              <a:tabLst>
                <a:tab pos="764540" algn="l"/>
              </a:tabLst>
            </a:pPr>
            <a:r>
              <a:rPr dirty="0" sz="1300" spc="-20">
                <a:latin typeface="Roboto"/>
                <a:cs typeface="Roboto"/>
              </a:rPr>
              <a:t>Упрощает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управление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памятью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сложных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программ.</a:t>
            </a:r>
            <a:endParaRPr sz="1300">
              <a:latin typeface="Roboto"/>
              <a:cs typeface="Roboto"/>
            </a:endParaRPr>
          </a:p>
          <a:p>
            <a:pPr marL="765175" marR="711835" indent="-228600">
              <a:lnSpc>
                <a:spcPct val="114999"/>
              </a:lnSpc>
              <a:buFont typeface="Microsoft Sans Serif"/>
              <a:buChar char="●"/>
              <a:tabLst>
                <a:tab pos="765175" algn="l"/>
              </a:tabLst>
            </a:pPr>
            <a:r>
              <a:rPr dirty="0" sz="1300" spc="-10">
                <a:latin typeface="Roboto"/>
                <a:cs typeface="Roboto"/>
              </a:rPr>
              <a:t>Динамическая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память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позволяет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эффективно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использовать ресурсы,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выделяя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память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только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мере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необходимости.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  <a:buFont typeface="Microsoft Sans Serif"/>
              <a:buChar char="●"/>
            </a:pPr>
            <a:endParaRPr sz="13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650" spc="-25">
                <a:latin typeface="Roboto"/>
                <a:cs typeface="Roboto"/>
              </a:rPr>
              <a:t>Структура</a:t>
            </a:r>
            <a:r>
              <a:rPr dirty="0" sz="1650" spc="-60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памяти</a:t>
            </a:r>
            <a:r>
              <a:rPr dirty="0" sz="1650" spc="-55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программы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65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300" spc="-10">
                <a:latin typeface="Roboto"/>
                <a:cs typeface="Roboto"/>
              </a:rPr>
              <a:t>Память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программы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делится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несколько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сегментов:</a:t>
            </a:r>
            <a:endParaRPr sz="1300">
              <a:latin typeface="Roboto"/>
              <a:cs typeface="Roboto"/>
            </a:endParaRPr>
          </a:p>
          <a:p>
            <a:pPr marL="765175" marR="264795" indent="-228600">
              <a:lnSpc>
                <a:spcPct val="114999"/>
              </a:lnSpc>
              <a:spcBef>
                <a:spcPts val="1300"/>
              </a:spcBef>
              <a:buFont typeface="Microsoft Sans Serif"/>
              <a:buChar char="●"/>
              <a:tabLst>
                <a:tab pos="765175" algn="l"/>
              </a:tabLst>
            </a:pPr>
            <a:r>
              <a:rPr dirty="0" sz="1300" b="1">
                <a:latin typeface="Roboto"/>
                <a:cs typeface="Roboto"/>
              </a:rPr>
              <a:t>Стек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используется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хранения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локальных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переменных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и </a:t>
            </a:r>
            <a:r>
              <a:rPr dirty="0" sz="1300" spc="-10">
                <a:latin typeface="Roboto"/>
                <a:cs typeface="Roboto"/>
              </a:rPr>
              <a:t>аргументов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функций.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Работает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принципу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LIFO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(Last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In,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First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Out).</a:t>
            </a:r>
            <a:endParaRPr sz="1300">
              <a:latin typeface="Roboto"/>
              <a:cs typeface="Roboto"/>
            </a:endParaRPr>
          </a:p>
          <a:p>
            <a:pPr marL="765175" marR="34290" indent="-228600">
              <a:lnSpc>
                <a:spcPct val="114999"/>
              </a:lnSpc>
              <a:buFont typeface="Microsoft Sans Serif"/>
              <a:buChar char="●"/>
              <a:tabLst>
                <a:tab pos="765175" algn="l"/>
              </a:tabLst>
            </a:pPr>
            <a:r>
              <a:rPr dirty="0" sz="1300" spc="-10" b="1">
                <a:latin typeface="Roboto"/>
                <a:cs typeface="Roboto"/>
              </a:rPr>
              <a:t>Куча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область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динамической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памяти,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которой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память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выделяется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и </a:t>
            </a:r>
            <a:r>
              <a:rPr dirty="0" sz="1300" spc="-10">
                <a:latin typeface="Roboto"/>
                <a:cs typeface="Roboto"/>
              </a:rPr>
              <a:t>освобождается</a:t>
            </a:r>
            <a:r>
              <a:rPr dirty="0" sz="1300" spc="-20">
                <a:latin typeface="Roboto"/>
                <a:cs typeface="Roboto"/>
              </a:rPr>
              <a:t> вручную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помощью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функций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malloc</a:t>
            </a:r>
            <a:r>
              <a:rPr dirty="0" sz="1300" spc="-10">
                <a:latin typeface="Roboto"/>
                <a:cs typeface="Roboto"/>
              </a:rPr>
              <a:t>,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calloc</a:t>
            </a:r>
            <a:r>
              <a:rPr dirty="0" sz="1300" spc="-10">
                <a:latin typeface="Roboto"/>
                <a:cs typeface="Roboto"/>
              </a:rPr>
              <a:t>,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realloc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и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free</a:t>
            </a:r>
            <a:r>
              <a:rPr dirty="0" sz="1300" spc="-10">
                <a:latin typeface="Roboto"/>
                <a:cs typeface="Roboto"/>
              </a:rPr>
              <a:t>.</a:t>
            </a:r>
            <a:endParaRPr sz="1300">
              <a:latin typeface="Roboto"/>
              <a:cs typeface="Roboto"/>
            </a:endParaRPr>
          </a:p>
          <a:p>
            <a:pPr marL="765175" marR="410209" indent="-228600">
              <a:lnSpc>
                <a:spcPct val="114999"/>
              </a:lnSpc>
              <a:buFont typeface="Microsoft Sans Serif"/>
              <a:buChar char="●"/>
              <a:tabLst>
                <a:tab pos="765175" algn="l"/>
              </a:tabLst>
            </a:pPr>
            <a:r>
              <a:rPr dirty="0" sz="1300" b="1">
                <a:latin typeface="Roboto"/>
                <a:cs typeface="Roboto"/>
              </a:rPr>
              <a:t>Сегмент</a:t>
            </a:r>
            <a:r>
              <a:rPr dirty="0" sz="1300" spc="-25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данных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хранит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глобальные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переменные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статические </a:t>
            </a:r>
            <a:r>
              <a:rPr dirty="0" sz="1300">
                <a:latin typeface="Roboto"/>
                <a:cs typeface="Roboto"/>
              </a:rPr>
              <a:t>данные</a:t>
            </a:r>
            <a:r>
              <a:rPr dirty="0" sz="1300" spc="-7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программы.</a:t>
            </a:r>
            <a:endParaRPr sz="1300">
              <a:latin typeface="Roboto"/>
              <a:cs typeface="Roboto"/>
            </a:endParaRPr>
          </a:p>
          <a:p>
            <a:pPr marL="764540" indent="-227965">
              <a:lnSpc>
                <a:spcPct val="100000"/>
              </a:lnSpc>
              <a:spcBef>
                <a:spcPts val="234"/>
              </a:spcBef>
              <a:buFont typeface="Microsoft Sans Serif"/>
              <a:buChar char="●"/>
              <a:tabLst>
                <a:tab pos="764540" algn="l"/>
              </a:tabLst>
            </a:pPr>
            <a:r>
              <a:rPr dirty="0" sz="1300" b="1">
                <a:latin typeface="Roboto"/>
                <a:cs typeface="Roboto"/>
              </a:rPr>
              <a:t>Сегмент</a:t>
            </a:r>
            <a:r>
              <a:rPr dirty="0" sz="1300" spc="-35" b="1">
                <a:latin typeface="Roboto"/>
                <a:cs typeface="Roboto"/>
              </a:rPr>
              <a:t> </a:t>
            </a:r>
            <a:r>
              <a:rPr dirty="0" sz="1300" spc="-25" b="1">
                <a:latin typeface="Roboto"/>
                <a:cs typeface="Roboto"/>
              </a:rPr>
              <a:t>кода</a:t>
            </a:r>
            <a:r>
              <a:rPr dirty="0" sz="1300" spc="-25">
                <a:latin typeface="Roboto"/>
                <a:cs typeface="Roboto"/>
              </a:rPr>
              <a:t>: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содержит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исполняемый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код </a:t>
            </a:r>
            <a:r>
              <a:rPr dirty="0" sz="1300" spc="-10">
                <a:latin typeface="Roboto"/>
                <a:cs typeface="Roboto"/>
              </a:rPr>
              <a:t>программы.</a:t>
            </a:r>
            <a:endParaRPr sz="1300">
              <a:latin typeface="Roboto"/>
              <a:cs typeface="Roboto"/>
            </a:endParaRPr>
          </a:p>
          <a:p>
            <a:pPr algn="just" marL="12700" marR="5080">
              <a:lnSpc>
                <a:spcPct val="114999"/>
              </a:lnSpc>
              <a:spcBef>
                <a:spcPts val="1300"/>
              </a:spcBef>
            </a:pPr>
            <a:r>
              <a:rPr dirty="0" sz="1300">
                <a:latin typeface="Roboto"/>
                <a:cs typeface="Roboto"/>
              </a:rPr>
              <a:t>Каждый</a:t>
            </a:r>
            <a:r>
              <a:rPr dirty="0" sz="1300" spc="3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сегмент</a:t>
            </a:r>
            <a:r>
              <a:rPr dirty="0" sz="1300" spc="3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выполняет</a:t>
            </a:r>
            <a:r>
              <a:rPr dirty="0" sz="1300" spc="3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свою</a:t>
            </a:r>
            <a:r>
              <a:rPr dirty="0" sz="1300" spc="3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роль</a:t>
            </a:r>
            <a:r>
              <a:rPr dirty="0" sz="1300" spc="3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3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обеспечении</a:t>
            </a:r>
            <a:r>
              <a:rPr dirty="0" sz="1300" spc="3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корректной</a:t>
            </a:r>
            <a:r>
              <a:rPr dirty="0" sz="1300" spc="3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работы </a:t>
            </a:r>
            <a:r>
              <a:rPr dirty="0" sz="1300">
                <a:latin typeface="Roboto"/>
                <a:cs typeface="Roboto"/>
              </a:rPr>
              <a:t>программы,</a:t>
            </a:r>
            <a:r>
              <a:rPr dirty="0" sz="1300" spc="1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а</a:t>
            </a:r>
            <a:r>
              <a:rPr dirty="0" sz="1300" spc="1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управление</a:t>
            </a:r>
            <a:r>
              <a:rPr dirty="0" sz="1300" spc="11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памятью</a:t>
            </a:r>
            <a:r>
              <a:rPr dirty="0" sz="1300" spc="10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11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куче</a:t>
            </a:r>
            <a:r>
              <a:rPr dirty="0" sz="1300" spc="10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10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одна</a:t>
            </a:r>
            <a:r>
              <a:rPr dirty="0" sz="1300" spc="11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из</a:t>
            </a:r>
            <a:r>
              <a:rPr dirty="0" sz="1300" spc="10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ключевых</a:t>
            </a:r>
            <a:r>
              <a:rPr dirty="0" sz="1300" spc="110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задач программиста.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6900" y="7829550"/>
            <a:ext cx="6959600" cy="0"/>
          </a:xfrm>
          <a:custGeom>
            <a:avLst/>
            <a:gdLst/>
            <a:ahLst/>
            <a:cxnLst/>
            <a:rect l="l" t="t" r="r" b="b"/>
            <a:pathLst>
              <a:path w="6959600" h="0">
                <a:moveTo>
                  <a:pt x="0" y="0"/>
                </a:moveTo>
                <a:lnTo>
                  <a:pt x="6959599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700" y="8239344"/>
            <a:ext cx="3714115" cy="1156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  <a:tabLst>
                <a:tab pos="2288540" algn="l"/>
              </a:tabLst>
            </a:pPr>
            <a:r>
              <a:rPr dirty="0" sz="2650" spc="-10">
                <a:latin typeface="Roboto"/>
                <a:cs typeface="Roboto"/>
              </a:rPr>
              <a:t>Функции</a:t>
            </a:r>
            <a:r>
              <a:rPr dirty="0" sz="2650">
                <a:latin typeface="Roboto"/>
                <a:cs typeface="Roboto"/>
              </a:rPr>
              <a:t>	</a:t>
            </a:r>
            <a:r>
              <a:rPr dirty="0" sz="2650" spc="-25">
                <a:latin typeface="Roboto"/>
                <a:cs typeface="Roboto"/>
              </a:rPr>
              <a:t>для </a:t>
            </a:r>
            <a:r>
              <a:rPr dirty="0" sz="2650">
                <a:latin typeface="Roboto"/>
                <a:cs typeface="Roboto"/>
              </a:rPr>
              <a:t>распределения</a:t>
            </a:r>
            <a:r>
              <a:rPr dirty="0" sz="2650" spc="-140">
                <a:latin typeface="Roboto"/>
                <a:cs typeface="Roboto"/>
              </a:rPr>
              <a:t> </a:t>
            </a:r>
            <a:r>
              <a:rPr dirty="0" sz="2650" spc="-10">
                <a:latin typeface="Roboto"/>
                <a:cs typeface="Roboto"/>
              </a:rPr>
              <a:t>памяти</a:t>
            </a:r>
            <a:endParaRPr sz="26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3470" y="8400981"/>
            <a:ext cx="248158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0">
                <a:latin typeface="Roboto"/>
                <a:cs typeface="Roboto"/>
              </a:rPr>
              <a:t>динамического</a:t>
            </a:r>
            <a:endParaRPr sz="26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3950642"/>
            <a:ext cx="79375" cy="984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4143461"/>
            <a:ext cx="79375" cy="984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9750" y="863722"/>
            <a:ext cx="6588125" cy="66967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управления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динамической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памятью в языке C </a:t>
            </a:r>
            <a:r>
              <a:rPr dirty="0" sz="1300" spc="-10">
                <a:latin typeface="Roboto"/>
                <a:cs typeface="Roboto"/>
              </a:rPr>
              <a:t>используется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стандартная библиотека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&lt;stdlib.h&gt;</a:t>
            </a:r>
            <a:r>
              <a:rPr dirty="0" sz="1300" spc="-10">
                <a:latin typeface="Roboto"/>
                <a:cs typeface="Roboto"/>
              </a:rPr>
              <a:t>,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которая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предоставляет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следующие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функции:</a:t>
            </a:r>
            <a:endParaRPr sz="1300">
              <a:latin typeface="Roboto"/>
              <a:cs typeface="Roboto"/>
            </a:endParaRPr>
          </a:p>
          <a:p>
            <a:pPr marL="1126490" indent="-227965">
              <a:lnSpc>
                <a:spcPct val="100000"/>
              </a:lnSpc>
              <a:spcBef>
                <a:spcPts val="1535"/>
              </a:spcBef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1126490" algn="l"/>
              </a:tabLst>
            </a:pPr>
            <a:r>
              <a:rPr dirty="0" sz="1100" b="1">
                <a:solidFill>
                  <a:srgbClr val="178037"/>
                </a:solidFill>
                <a:latin typeface="Courier New"/>
                <a:cs typeface="Courier New"/>
              </a:rPr>
              <a:t>malloc(size_t</a:t>
            </a:r>
            <a:r>
              <a:rPr dirty="0" sz="1100" spc="-114" b="1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178037"/>
                </a:solidFill>
                <a:latin typeface="Courier New"/>
                <a:cs typeface="Courier New"/>
              </a:rPr>
              <a:t>size)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выделяет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блок</a:t>
            </a:r>
            <a:r>
              <a:rPr dirty="0" sz="1300" spc="-6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памяти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указанного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размера.</a:t>
            </a:r>
            <a:endParaRPr sz="1300">
              <a:latin typeface="Roboto"/>
              <a:cs typeface="Roboto"/>
            </a:endParaRPr>
          </a:p>
          <a:p>
            <a:pPr marL="1126490" indent="-22796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1126490" algn="l"/>
              </a:tabLst>
            </a:pPr>
            <a:r>
              <a:rPr dirty="0" sz="1100" b="1">
                <a:solidFill>
                  <a:srgbClr val="178037"/>
                </a:solidFill>
                <a:latin typeface="Courier New"/>
                <a:cs typeface="Courier New"/>
              </a:rPr>
              <a:t>calloc(size_t</a:t>
            </a:r>
            <a:r>
              <a:rPr dirty="0" sz="1100" spc="-100" b="1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178037"/>
                </a:solidFill>
                <a:latin typeface="Courier New"/>
                <a:cs typeface="Courier New"/>
              </a:rPr>
              <a:t>n,</a:t>
            </a:r>
            <a:r>
              <a:rPr dirty="0" sz="1100" spc="-100" b="1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178037"/>
                </a:solidFill>
                <a:latin typeface="Courier New"/>
                <a:cs typeface="Courier New"/>
              </a:rPr>
              <a:t>size_t</a:t>
            </a:r>
            <a:r>
              <a:rPr dirty="0" sz="1100" spc="-100" b="1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178037"/>
                </a:solidFill>
                <a:latin typeface="Courier New"/>
                <a:cs typeface="Courier New"/>
              </a:rPr>
              <a:t>size)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выделяет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память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массива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из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178037"/>
                </a:solidFill>
                <a:latin typeface="Courier New"/>
                <a:cs typeface="Courier New"/>
              </a:rPr>
              <a:t>n</a:t>
            </a:r>
            <a:endParaRPr sz="1100">
              <a:latin typeface="Courier New"/>
              <a:cs typeface="Courier New"/>
            </a:endParaRPr>
          </a:p>
          <a:p>
            <a:pPr marL="1127125">
              <a:lnSpc>
                <a:spcPct val="100000"/>
              </a:lnSpc>
              <a:spcBef>
                <a:spcPts val="235"/>
              </a:spcBef>
            </a:pPr>
            <a:r>
              <a:rPr dirty="0" sz="1300" spc="-10">
                <a:latin typeface="Roboto"/>
                <a:cs typeface="Roboto"/>
              </a:rPr>
              <a:t>элементов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инициализирует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их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нулями.</a:t>
            </a:r>
            <a:endParaRPr sz="1300">
              <a:latin typeface="Roboto"/>
              <a:cs typeface="Roboto"/>
            </a:endParaRPr>
          </a:p>
          <a:p>
            <a:pPr marL="1127125" marR="356870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1127125" algn="l"/>
              </a:tabLst>
            </a:pPr>
            <a:r>
              <a:rPr dirty="0" sz="1100" b="1">
                <a:solidFill>
                  <a:srgbClr val="178037"/>
                </a:solidFill>
                <a:latin typeface="Courier New"/>
                <a:cs typeface="Courier New"/>
              </a:rPr>
              <a:t>realloc(void</a:t>
            </a:r>
            <a:r>
              <a:rPr dirty="0" sz="1100" spc="-100" b="1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178037"/>
                </a:solidFill>
                <a:latin typeface="Courier New"/>
                <a:cs typeface="Courier New"/>
              </a:rPr>
              <a:t>*ptr,</a:t>
            </a:r>
            <a:r>
              <a:rPr dirty="0" sz="1100" spc="-100" b="1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178037"/>
                </a:solidFill>
                <a:latin typeface="Courier New"/>
                <a:cs typeface="Courier New"/>
              </a:rPr>
              <a:t>size_t</a:t>
            </a:r>
            <a:r>
              <a:rPr dirty="0" sz="1100" spc="-100" b="1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178037"/>
                </a:solidFill>
                <a:latin typeface="Courier New"/>
                <a:cs typeface="Courier New"/>
              </a:rPr>
              <a:t>size)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изменяет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размер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ранее </a:t>
            </a:r>
            <a:r>
              <a:rPr dirty="0" sz="1300">
                <a:latin typeface="Roboto"/>
                <a:cs typeface="Roboto"/>
              </a:rPr>
              <a:t>выделенного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блока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памяти.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Если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новый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размер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меньше,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лишняя память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освобождается.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Если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новый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размер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больше,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выделяется дополнительная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память.</a:t>
            </a:r>
            <a:endParaRPr sz="1300">
              <a:latin typeface="Roboto"/>
              <a:cs typeface="Roboto"/>
            </a:endParaRPr>
          </a:p>
          <a:p>
            <a:pPr marL="1126490" indent="-22796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1126490" algn="l"/>
              </a:tabLst>
            </a:pPr>
            <a:r>
              <a:rPr dirty="0" sz="1100" b="1">
                <a:solidFill>
                  <a:srgbClr val="178037"/>
                </a:solidFill>
                <a:latin typeface="Courier New"/>
                <a:cs typeface="Courier New"/>
              </a:rPr>
              <a:t>free(void</a:t>
            </a:r>
            <a:r>
              <a:rPr dirty="0" sz="1100" spc="-60" b="1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178037"/>
                </a:solidFill>
                <a:latin typeface="Courier New"/>
                <a:cs typeface="Courier New"/>
              </a:rPr>
              <a:t>*ptr)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освобождает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ранее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выделенную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память.</a:t>
            </a:r>
            <a:endParaRPr sz="13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  <a:spcBef>
                <a:spcPts val="1535"/>
              </a:spcBef>
            </a:pPr>
            <a:r>
              <a:rPr dirty="0" sz="1300">
                <a:latin typeface="Roboto"/>
                <a:cs typeface="Roboto"/>
              </a:rPr>
              <a:t>Пример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использования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функций:</a:t>
            </a:r>
            <a:endParaRPr sz="1300">
              <a:latin typeface="Roboto"/>
              <a:cs typeface="Roboto"/>
            </a:endParaRPr>
          </a:p>
          <a:p>
            <a:pPr marL="98425" marR="5398135">
              <a:lnSpc>
                <a:spcPct val="114999"/>
              </a:lnSpc>
              <a:spcBef>
                <a:spcPts val="1345"/>
              </a:spcBef>
            </a:pPr>
            <a:r>
              <a:rPr dirty="0" sz="1100" spc="-10">
                <a:latin typeface="Roboto"/>
                <a:cs typeface="Roboto"/>
              </a:rPr>
              <a:t>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&lt;stdlib.h&gt; 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&lt;stdio.h&gt;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main()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151130" marR="1564005">
              <a:lnSpc>
                <a:spcPct val="114999"/>
              </a:lnSpc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6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*arr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(int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*)malloc(5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sizeof(int));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Выделение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памяти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для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5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элементов </a:t>
            </a:r>
            <a:r>
              <a:rPr dirty="0" sz="1100">
                <a:latin typeface="Roboto"/>
                <a:cs typeface="Roboto"/>
              </a:rPr>
              <a:t>if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(arr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==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NULL)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289560" marR="3806825">
              <a:lnSpc>
                <a:spcPct val="114999"/>
              </a:lnSpc>
            </a:pPr>
            <a:r>
              <a:rPr dirty="0" sz="1100" spc="-10">
                <a:latin typeface="Roboto"/>
                <a:cs typeface="Roboto"/>
              </a:rPr>
              <a:t>printf("Ошибка выделения памяти\n"); </a:t>
            </a: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1;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195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Roboto"/>
                <a:cs typeface="Roboto"/>
              </a:rPr>
              <a:t>for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(int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0;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&lt;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5;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i++)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289560" marR="4084954">
              <a:lnSpc>
                <a:spcPct val="114999"/>
              </a:lnSpc>
            </a:pPr>
            <a:r>
              <a:rPr dirty="0" sz="1100" spc="-10">
                <a:latin typeface="Roboto"/>
                <a:cs typeface="Roboto"/>
              </a:rPr>
              <a:t>arr[i]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i;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Заполнение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массива printf("%d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",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arr[i]);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195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 spc="-10">
                <a:latin typeface="Roboto"/>
                <a:cs typeface="Roboto"/>
              </a:rPr>
              <a:t>printf("\n");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Roboto"/>
              <a:cs typeface="Roboto"/>
            </a:endParaRPr>
          </a:p>
          <a:p>
            <a:pPr marL="151130" marR="4217035">
              <a:lnSpc>
                <a:spcPct val="114999"/>
              </a:lnSpc>
              <a:spcBef>
                <a:spcPts val="5"/>
              </a:spcBef>
            </a:pPr>
            <a:r>
              <a:rPr dirty="0" sz="1100" spc="-10">
                <a:latin typeface="Roboto"/>
                <a:cs typeface="Roboto"/>
              </a:rPr>
              <a:t>free(arr);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Освобождение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памяти </a:t>
            </a: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0;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6900" y="8261352"/>
            <a:ext cx="6959600" cy="0"/>
          </a:xfrm>
          <a:custGeom>
            <a:avLst/>
            <a:gdLst/>
            <a:ahLst/>
            <a:cxnLst/>
            <a:rect l="l" t="t" r="r" b="b"/>
            <a:pathLst>
              <a:path w="6959600" h="0">
                <a:moveTo>
                  <a:pt x="0" y="0"/>
                </a:moveTo>
                <a:lnTo>
                  <a:pt x="6959599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1700" y="723300"/>
            <a:ext cx="3860165" cy="11569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  <a:tabLst>
                <a:tab pos="2268220" algn="l"/>
              </a:tabLst>
            </a:pPr>
            <a:r>
              <a:rPr dirty="0" spc="-10"/>
              <a:t>Основные</a:t>
            </a:r>
            <a:r>
              <a:rPr dirty="0"/>
              <a:t>	</a:t>
            </a:r>
            <a:r>
              <a:rPr dirty="0" spc="-10"/>
              <a:t>правила динамической</a:t>
            </a:r>
            <a:r>
              <a:rPr dirty="0" spc="-100"/>
              <a:t> </a:t>
            </a:r>
            <a:r>
              <a:rPr dirty="0" spc="-10"/>
              <a:t>памятью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3665" y="884938"/>
            <a:ext cx="200723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18005" algn="l"/>
              </a:tabLst>
            </a:pPr>
            <a:r>
              <a:rPr dirty="0" sz="2650" spc="-10">
                <a:latin typeface="Roboto"/>
                <a:cs typeface="Roboto"/>
              </a:rPr>
              <a:t>работы</a:t>
            </a:r>
            <a:r>
              <a:rPr dirty="0" sz="2650">
                <a:latin typeface="Roboto"/>
                <a:cs typeface="Roboto"/>
              </a:rPr>
              <a:t>	</a:t>
            </a:r>
            <a:r>
              <a:rPr dirty="0" sz="2650" spc="-50">
                <a:latin typeface="Roboto"/>
                <a:cs typeface="Roboto"/>
              </a:rPr>
              <a:t>с</a:t>
            </a:r>
            <a:endParaRPr sz="265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2544" rIns="0" bIns="0" rtlCol="0" vert="horz">
            <a:spAutoFit/>
          </a:bodyPr>
          <a:lstStyle/>
          <a:p>
            <a:pPr marL="1126490" indent="-227965">
              <a:lnSpc>
                <a:spcPct val="100000"/>
              </a:lnSpc>
              <a:spcBef>
                <a:spcPts val="334"/>
              </a:spcBef>
              <a:buAutoNum type="arabicPeriod"/>
              <a:tabLst>
                <a:tab pos="1126490" algn="l"/>
              </a:tabLst>
            </a:pPr>
            <a:r>
              <a:rPr dirty="0" spc="-10"/>
              <a:t>Всегда</a:t>
            </a:r>
            <a:r>
              <a:rPr dirty="0" spc="-20"/>
              <a:t> </a:t>
            </a:r>
            <a:r>
              <a:rPr dirty="0" spc="-10"/>
              <a:t>проверяйте, что </a:t>
            </a:r>
            <a:r>
              <a:rPr dirty="0" spc="-30"/>
              <a:t>результат</a:t>
            </a:r>
            <a:r>
              <a:rPr dirty="0" spc="-10"/>
              <a:t> вызова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malloc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/>
              <a:t>или</a:t>
            </a:r>
            <a:r>
              <a:rPr dirty="0" spc="-10"/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calloc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/>
              <a:t>не</a:t>
            </a:r>
            <a:r>
              <a:rPr dirty="0" spc="-10"/>
              <a:t> равен</a:t>
            </a:r>
            <a:endParaRPr sz="1100">
              <a:latin typeface="Courier New"/>
              <a:cs typeface="Courier New"/>
            </a:endParaRPr>
          </a:p>
          <a:p>
            <a:pPr marL="1127125">
              <a:lnSpc>
                <a:spcPct val="100000"/>
              </a:lnSpc>
              <a:spcBef>
                <a:spcPts val="229"/>
              </a:spcBef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NULL</a:t>
            </a:r>
            <a:r>
              <a:rPr dirty="0"/>
              <a:t>.</a:t>
            </a:r>
            <a:r>
              <a:rPr dirty="0" spc="-50"/>
              <a:t> </a:t>
            </a:r>
            <a:r>
              <a:rPr dirty="0"/>
              <a:t>Это</a:t>
            </a:r>
            <a:r>
              <a:rPr dirty="0" spc="-45"/>
              <a:t> </a:t>
            </a:r>
            <a:r>
              <a:rPr dirty="0" spc="-20"/>
              <a:t>гарантирует,</a:t>
            </a:r>
            <a:r>
              <a:rPr dirty="0" spc="-45"/>
              <a:t> </a:t>
            </a:r>
            <a:r>
              <a:rPr dirty="0" spc="-10"/>
              <a:t>что</a:t>
            </a:r>
            <a:r>
              <a:rPr dirty="0" spc="-45"/>
              <a:t> </a:t>
            </a:r>
            <a:r>
              <a:rPr dirty="0" spc="-10"/>
              <a:t>память</a:t>
            </a:r>
            <a:r>
              <a:rPr dirty="0" spc="-45"/>
              <a:t> </a:t>
            </a:r>
            <a:r>
              <a:rPr dirty="0"/>
              <a:t>была</a:t>
            </a:r>
            <a:r>
              <a:rPr dirty="0" spc="-45"/>
              <a:t> </a:t>
            </a:r>
            <a:r>
              <a:rPr dirty="0"/>
              <a:t>успешно</a:t>
            </a:r>
            <a:r>
              <a:rPr dirty="0" spc="-45"/>
              <a:t> </a:t>
            </a:r>
            <a:r>
              <a:rPr dirty="0" spc="-10"/>
              <a:t>выделена.</a:t>
            </a:r>
            <a:endParaRPr sz="1100">
              <a:latin typeface="Courier New"/>
              <a:cs typeface="Courier New"/>
            </a:endParaRPr>
          </a:p>
          <a:p>
            <a:pPr marL="1127125" marR="137795" indent="-228600">
              <a:lnSpc>
                <a:spcPct val="114999"/>
              </a:lnSpc>
              <a:buAutoNum type="arabicPeriod" startAt="2"/>
              <a:tabLst>
                <a:tab pos="1127125" algn="l"/>
              </a:tabLst>
            </a:pPr>
            <a:r>
              <a:rPr dirty="0"/>
              <a:t>После</a:t>
            </a:r>
            <a:r>
              <a:rPr dirty="0" spc="-20"/>
              <a:t> </a:t>
            </a:r>
            <a:r>
              <a:rPr dirty="0" spc="-10"/>
              <a:t>завершения</a:t>
            </a:r>
            <a:r>
              <a:rPr dirty="0" spc="-20"/>
              <a:t> </a:t>
            </a:r>
            <a:r>
              <a:rPr dirty="0" spc="-10"/>
              <a:t>работы</a:t>
            </a:r>
            <a:r>
              <a:rPr dirty="0" spc="-20"/>
              <a:t> </a:t>
            </a:r>
            <a:r>
              <a:rPr dirty="0"/>
              <a:t>с</a:t>
            </a:r>
            <a:r>
              <a:rPr dirty="0" spc="-20"/>
              <a:t> </a:t>
            </a:r>
            <a:r>
              <a:rPr dirty="0" spc="-10"/>
              <a:t>памятью</a:t>
            </a:r>
            <a:r>
              <a:rPr dirty="0" spc="-20"/>
              <a:t> обязательно вызывайте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free</a:t>
            </a:r>
            <a:r>
              <a:rPr dirty="0" spc="-10"/>
              <a:t>, </a:t>
            </a:r>
            <a:r>
              <a:rPr dirty="0" spc="-20"/>
              <a:t>чтобы</a:t>
            </a:r>
            <a:r>
              <a:rPr dirty="0" spc="-55"/>
              <a:t> </a:t>
            </a:r>
            <a:r>
              <a:rPr dirty="0"/>
              <a:t>избежать</a:t>
            </a:r>
            <a:r>
              <a:rPr dirty="0" spc="-50"/>
              <a:t> </a:t>
            </a:r>
            <a:r>
              <a:rPr dirty="0" spc="-10"/>
              <a:t>утечек.</a:t>
            </a:r>
            <a:endParaRPr sz="1100">
              <a:latin typeface="Courier New"/>
              <a:cs typeface="Courier New"/>
            </a:endParaRPr>
          </a:p>
          <a:p>
            <a:pPr marL="1127125" marR="5080" indent="-228600">
              <a:lnSpc>
                <a:spcPct val="114999"/>
              </a:lnSpc>
              <a:spcBef>
                <a:spcPts val="5"/>
              </a:spcBef>
              <a:buAutoNum type="arabicPeriod" startAt="2"/>
              <a:tabLst>
                <a:tab pos="1127125" algn="l"/>
              </a:tabLst>
            </a:pPr>
            <a:r>
              <a:rPr dirty="0" spc="-10"/>
              <a:t>Никогда</a:t>
            </a:r>
            <a:r>
              <a:rPr dirty="0" spc="-15"/>
              <a:t> </a:t>
            </a:r>
            <a:r>
              <a:rPr dirty="0"/>
              <a:t>не</a:t>
            </a:r>
            <a:r>
              <a:rPr dirty="0" spc="-5"/>
              <a:t> </a:t>
            </a:r>
            <a:r>
              <a:rPr dirty="0" spc="-20"/>
              <a:t>используйте</a:t>
            </a:r>
            <a:r>
              <a:rPr dirty="0" spc="-10"/>
              <a:t> </a:t>
            </a:r>
            <a:r>
              <a:rPr dirty="0" spc="-25"/>
              <a:t>указатель</a:t>
            </a:r>
            <a:r>
              <a:rPr dirty="0" spc="-10"/>
              <a:t> </a:t>
            </a:r>
            <a:r>
              <a:rPr dirty="0"/>
              <a:t>после</a:t>
            </a:r>
            <a:r>
              <a:rPr dirty="0" spc="-5"/>
              <a:t> </a:t>
            </a:r>
            <a:r>
              <a:rPr dirty="0" spc="-10"/>
              <a:t>вызова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free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 spc="-35"/>
              <a:t>это</a:t>
            </a:r>
            <a:r>
              <a:rPr dirty="0" spc="-5"/>
              <a:t> </a:t>
            </a:r>
            <a:r>
              <a:rPr dirty="0" spc="-10"/>
              <a:t>приведет </a:t>
            </a:r>
            <a:r>
              <a:rPr dirty="0"/>
              <a:t>к</a:t>
            </a:r>
            <a:r>
              <a:rPr dirty="0" spc="-5"/>
              <a:t> </a:t>
            </a:r>
            <a:r>
              <a:rPr dirty="0" spc="-10"/>
              <a:t>неопределенному</a:t>
            </a:r>
            <a:r>
              <a:rPr dirty="0"/>
              <a:t> поведению </a:t>
            </a:r>
            <a:r>
              <a:rPr dirty="0" spc="-10"/>
              <a:t>программы.</a:t>
            </a:r>
            <a:endParaRPr sz="1100">
              <a:latin typeface="Courier New"/>
              <a:cs typeface="Courier New"/>
            </a:endParaRPr>
          </a:p>
          <a:p>
            <a:pPr algn="just" marL="1127125" marR="519430" indent="-228600">
              <a:lnSpc>
                <a:spcPct val="114999"/>
              </a:lnSpc>
              <a:buAutoNum type="arabicPeriod" startAt="2"/>
              <a:tabLst>
                <a:tab pos="1127125" algn="l"/>
              </a:tabLst>
            </a:pPr>
            <a:r>
              <a:rPr dirty="0"/>
              <a:t>В</a:t>
            </a:r>
            <a:r>
              <a:rPr dirty="0" spc="-85"/>
              <a:t> </a:t>
            </a:r>
            <a:r>
              <a:rPr dirty="0"/>
              <a:t>случае</a:t>
            </a:r>
            <a:r>
              <a:rPr dirty="0" spc="-80"/>
              <a:t> </a:t>
            </a:r>
            <a:r>
              <a:rPr dirty="0" spc="-10"/>
              <a:t>использования</a:t>
            </a:r>
            <a:r>
              <a:rPr dirty="0" spc="10"/>
              <a:t> </a:t>
            </a:r>
            <a:r>
              <a:rPr dirty="0" sz="1100" spc="-45">
                <a:solidFill>
                  <a:srgbClr val="178037"/>
                </a:solidFill>
                <a:latin typeface="Courier New"/>
                <a:cs typeface="Courier New"/>
              </a:rPr>
              <a:t>realloc</a:t>
            </a:r>
            <a:r>
              <a:rPr dirty="0" sz="1100" spc="-12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pc="-10"/>
              <a:t>всегда</a:t>
            </a:r>
            <a:r>
              <a:rPr dirty="0" spc="15"/>
              <a:t> </a:t>
            </a:r>
            <a:r>
              <a:rPr dirty="0" spc="-10"/>
              <a:t>проверяйте</a:t>
            </a:r>
            <a:r>
              <a:rPr dirty="0" spc="15"/>
              <a:t> </a:t>
            </a:r>
            <a:r>
              <a:rPr dirty="0" spc="-10"/>
              <a:t>результат, поскольку</a:t>
            </a:r>
            <a:r>
              <a:rPr dirty="0" spc="-75"/>
              <a:t> </a:t>
            </a:r>
            <a:r>
              <a:rPr dirty="0" spc="-25"/>
              <a:t>эта</a:t>
            </a:r>
            <a:r>
              <a:rPr dirty="0" spc="-55"/>
              <a:t> </a:t>
            </a:r>
            <a:r>
              <a:rPr dirty="0" spc="-45"/>
              <a:t>функция</a:t>
            </a:r>
            <a:r>
              <a:rPr dirty="0" spc="-35"/>
              <a:t> </a:t>
            </a:r>
            <a:r>
              <a:rPr dirty="0"/>
              <a:t>может</a:t>
            </a:r>
            <a:r>
              <a:rPr dirty="0" spc="-65"/>
              <a:t> </a:t>
            </a:r>
            <a:r>
              <a:rPr dirty="0" spc="-10"/>
              <a:t>вернуть</a:t>
            </a:r>
            <a:r>
              <a:rPr dirty="0"/>
              <a:t> </a:t>
            </a:r>
            <a:r>
              <a:rPr dirty="0" sz="1100" spc="-75">
                <a:solidFill>
                  <a:srgbClr val="178037"/>
                </a:solidFill>
                <a:latin typeface="Courier New"/>
                <a:cs typeface="Courier New"/>
              </a:rPr>
              <a:t>NULL</a:t>
            </a:r>
            <a:r>
              <a:rPr dirty="0" sz="1100" spc="-9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/>
              <a:t>в</a:t>
            </a:r>
            <a:r>
              <a:rPr dirty="0" spc="5"/>
              <a:t> </a:t>
            </a:r>
            <a:r>
              <a:rPr dirty="0"/>
              <a:t>случае </a:t>
            </a:r>
            <a:r>
              <a:rPr dirty="0" spc="-20"/>
              <a:t>неудачи,</a:t>
            </a:r>
            <a:r>
              <a:rPr dirty="0" spc="5"/>
              <a:t> </a:t>
            </a:r>
            <a:r>
              <a:rPr dirty="0" spc="-50"/>
              <a:t>а </a:t>
            </a:r>
            <a:r>
              <a:rPr dirty="0" spc="-10"/>
              <a:t>старый</a:t>
            </a:r>
            <a:r>
              <a:rPr dirty="0" spc="-30"/>
              <a:t> </a:t>
            </a:r>
            <a:r>
              <a:rPr dirty="0" spc="-25"/>
              <a:t>указатель </a:t>
            </a:r>
            <a:r>
              <a:rPr dirty="0"/>
              <a:t>может</a:t>
            </a:r>
            <a:r>
              <a:rPr dirty="0" spc="-30"/>
              <a:t> </a:t>
            </a:r>
            <a:r>
              <a:rPr dirty="0" spc="-10"/>
              <a:t>быть</a:t>
            </a:r>
            <a:r>
              <a:rPr dirty="0" spc="-25"/>
              <a:t> </a:t>
            </a:r>
            <a:r>
              <a:rPr dirty="0"/>
              <a:t>всё</a:t>
            </a:r>
            <a:r>
              <a:rPr dirty="0" spc="-30"/>
              <a:t> </a:t>
            </a:r>
            <a:r>
              <a:rPr dirty="0"/>
              <a:t>еще</a:t>
            </a:r>
            <a:r>
              <a:rPr dirty="0" spc="-25"/>
              <a:t> </a:t>
            </a:r>
            <a:r>
              <a:rPr dirty="0" spc="-10"/>
              <a:t>действительным.</a:t>
            </a:r>
            <a:endParaRPr sz="1100">
              <a:latin typeface="Courier New"/>
              <a:cs typeface="Courier New"/>
            </a:endParaRPr>
          </a:p>
          <a:p>
            <a:pPr marL="374650">
              <a:lnSpc>
                <a:spcPct val="100000"/>
              </a:lnSpc>
              <a:spcBef>
                <a:spcPts val="1530"/>
              </a:spcBef>
            </a:pPr>
            <a:r>
              <a:rPr dirty="0"/>
              <a:t>Пример</a:t>
            </a:r>
            <a:r>
              <a:rPr dirty="0" spc="-50"/>
              <a:t> </a:t>
            </a:r>
            <a:r>
              <a:rPr dirty="0"/>
              <a:t>с</a:t>
            </a:r>
            <a:r>
              <a:rPr dirty="0" spc="-50"/>
              <a:t> </a:t>
            </a:r>
            <a:r>
              <a:rPr dirty="0"/>
              <a:t>проверкой</a:t>
            </a:r>
            <a:r>
              <a:rPr dirty="0" spc="-50"/>
              <a:t> </a:t>
            </a:r>
            <a:r>
              <a:rPr dirty="0"/>
              <a:t>выделения</a:t>
            </a:r>
            <a:r>
              <a:rPr dirty="0" spc="-50"/>
              <a:t> </a:t>
            </a:r>
            <a:r>
              <a:rPr dirty="0" spc="-10"/>
              <a:t>памяти:</a:t>
            </a:r>
          </a:p>
          <a:p>
            <a:pPr marL="12700" marR="4180204">
              <a:lnSpc>
                <a:spcPct val="114999"/>
              </a:lnSpc>
              <a:spcBef>
                <a:spcPts val="1350"/>
              </a:spcBef>
            </a:pPr>
            <a:r>
              <a:rPr dirty="0" sz="1100"/>
              <a:t>int</a:t>
            </a:r>
            <a:r>
              <a:rPr dirty="0" sz="1100" spc="-30"/>
              <a:t> </a:t>
            </a:r>
            <a:r>
              <a:rPr dirty="0" sz="1100" spc="-10"/>
              <a:t>*ptr</a:t>
            </a:r>
            <a:r>
              <a:rPr dirty="0" sz="1100" spc="-30"/>
              <a:t> </a:t>
            </a:r>
            <a:r>
              <a:rPr dirty="0" sz="1100"/>
              <a:t>=</a:t>
            </a:r>
            <a:r>
              <a:rPr dirty="0" sz="1100" spc="-25"/>
              <a:t> </a:t>
            </a:r>
            <a:r>
              <a:rPr dirty="0" sz="1100"/>
              <a:t>(int</a:t>
            </a:r>
            <a:r>
              <a:rPr dirty="0" sz="1100" spc="-30"/>
              <a:t> </a:t>
            </a:r>
            <a:r>
              <a:rPr dirty="0" sz="1100" spc="-10"/>
              <a:t>*)malloc(10</a:t>
            </a:r>
            <a:r>
              <a:rPr dirty="0" sz="1100" spc="-25"/>
              <a:t> </a:t>
            </a:r>
            <a:r>
              <a:rPr dirty="0" sz="1100"/>
              <a:t>*</a:t>
            </a:r>
            <a:r>
              <a:rPr dirty="0" sz="1100" spc="-30"/>
              <a:t> </a:t>
            </a:r>
            <a:r>
              <a:rPr dirty="0" sz="1100" spc="-10"/>
              <a:t>sizeof(int)); </a:t>
            </a:r>
            <a:r>
              <a:rPr dirty="0" sz="1100"/>
              <a:t>if</a:t>
            </a:r>
            <a:r>
              <a:rPr dirty="0" sz="1100" spc="-35"/>
              <a:t> </a:t>
            </a:r>
            <a:r>
              <a:rPr dirty="0" sz="1100"/>
              <a:t>(!ptr)</a:t>
            </a:r>
            <a:r>
              <a:rPr dirty="0" sz="1100" spc="-30"/>
              <a:t> </a:t>
            </a:r>
            <a:r>
              <a:rPr dirty="0" sz="1100" spc="-50"/>
              <a:t>{</a:t>
            </a:r>
            <a:endParaRPr sz="1100"/>
          </a:p>
          <a:p>
            <a:pPr marL="151130" marR="3239135">
              <a:lnSpc>
                <a:spcPct val="114999"/>
              </a:lnSpc>
            </a:pPr>
            <a:r>
              <a:rPr dirty="0" sz="1100" spc="-10"/>
              <a:t>printf("Ошибка:</a:t>
            </a:r>
            <a:r>
              <a:rPr dirty="0" sz="1100" spc="-15"/>
              <a:t> </a:t>
            </a:r>
            <a:r>
              <a:rPr dirty="0" sz="1100"/>
              <a:t>не</a:t>
            </a:r>
            <a:r>
              <a:rPr dirty="0" sz="1100" spc="-10"/>
              <a:t> </a:t>
            </a:r>
            <a:r>
              <a:rPr dirty="0" sz="1100" spc="-20"/>
              <a:t>удалось</a:t>
            </a:r>
            <a:r>
              <a:rPr dirty="0" sz="1100" spc="-15"/>
              <a:t> </a:t>
            </a:r>
            <a:r>
              <a:rPr dirty="0" sz="1100" spc="-10"/>
              <a:t>выделить память\n"); exit(EXIT_FAILURE);</a:t>
            </a:r>
            <a:endParaRPr sz="1100"/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-50"/>
              <a:t>}</a:t>
            </a:r>
            <a:endParaRPr sz="1100"/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 spc="-10"/>
              <a:t>free(ptr);</a:t>
            </a:r>
            <a:endParaRPr sz="1100"/>
          </a:p>
        </p:txBody>
      </p:sp>
      <p:sp>
        <p:nvSpPr>
          <p:cNvPr id="5" name="object 5"/>
          <p:cNvSpPr/>
          <p:nvPr/>
        </p:nvSpPr>
        <p:spPr>
          <a:xfrm>
            <a:off x="596900" y="6699243"/>
            <a:ext cx="6959600" cy="0"/>
          </a:xfrm>
          <a:custGeom>
            <a:avLst/>
            <a:gdLst/>
            <a:ahLst/>
            <a:cxnLst/>
            <a:rect l="l" t="t" r="r" b="b"/>
            <a:pathLst>
              <a:path w="6959600" h="0">
                <a:moveTo>
                  <a:pt x="0" y="0"/>
                </a:moveTo>
                <a:lnTo>
                  <a:pt x="6959599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1700" y="7280752"/>
            <a:ext cx="600710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>
                <a:latin typeface="Roboto"/>
                <a:cs typeface="Roboto"/>
              </a:rPr>
              <a:t>Одномерные</a:t>
            </a:r>
            <a:r>
              <a:rPr dirty="0" sz="2650" spc="-105">
                <a:latin typeface="Roboto"/>
                <a:cs typeface="Roboto"/>
              </a:rPr>
              <a:t> </a:t>
            </a:r>
            <a:r>
              <a:rPr dirty="0" sz="2650" spc="-10">
                <a:latin typeface="Roboto"/>
                <a:cs typeface="Roboto"/>
              </a:rPr>
              <a:t>динамические</a:t>
            </a:r>
            <a:r>
              <a:rPr dirty="0" sz="2650" spc="-105">
                <a:latin typeface="Roboto"/>
                <a:cs typeface="Roboto"/>
              </a:rPr>
              <a:t> </a:t>
            </a:r>
            <a:r>
              <a:rPr dirty="0" sz="2650" spc="-10">
                <a:latin typeface="Roboto"/>
                <a:cs typeface="Roboto"/>
              </a:rPr>
              <a:t>массивы</a:t>
            </a:r>
            <a:endParaRPr sz="2650">
              <a:latin typeface="Roboto"/>
              <a:cs typeface="Roboto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9367639"/>
            <a:ext cx="79375" cy="984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9560452"/>
            <a:ext cx="79375" cy="9842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25705" y="8040940"/>
            <a:ext cx="6506845" cy="1658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88290" marR="5080">
              <a:lnSpc>
                <a:spcPct val="114999"/>
              </a:lnSpc>
              <a:spcBef>
                <a:spcPts val="100"/>
              </a:spcBef>
            </a:pPr>
            <a:r>
              <a:rPr dirty="0" sz="1300" b="1">
                <a:latin typeface="Roboto"/>
                <a:cs typeface="Roboto"/>
              </a:rPr>
              <a:t>Одномерный</a:t>
            </a:r>
            <a:r>
              <a:rPr dirty="0" sz="1300" spc="310" b="1">
                <a:latin typeface="Roboto"/>
                <a:cs typeface="Roboto"/>
              </a:rPr>
              <a:t>  </a:t>
            </a:r>
            <a:r>
              <a:rPr dirty="0" sz="1300" b="1">
                <a:latin typeface="Roboto"/>
                <a:cs typeface="Roboto"/>
              </a:rPr>
              <a:t>динамический</a:t>
            </a:r>
            <a:r>
              <a:rPr dirty="0" sz="1300" spc="315" b="1">
                <a:latin typeface="Roboto"/>
                <a:cs typeface="Roboto"/>
              </a:rPr>
              <a:t>  </a:t>
            </a:r>
            <a:r>
              <a:rPr dirty="0" sz="1300" b="1">
                <a:latin typeface="Roboto"/>
                <a:cs typeface="Roboto"/>
              </a:rPr>
              <a:t>массив</a:t>
            </a:r>
            <a:r>
              <a:rPr dirty="0" sz="1300" spc="315" b="1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31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это</a:t>
            </a:r>
            <a:r>
              <a:rPr dirty="0" sz="1300" spc="28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массив,</a:t>
            </a:r>
            <a:r>
              <a:rPr dirty="0" sz="1300" spc="27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размер</a:t>
            </a:r>
            <a:r>
              <a:rPr dirty="0" sz="1300" spc="280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которого </a:t>
            </a:r>
            <a:r>
              <a:rPr dirty="0" sz="1300">
                <a:latin typeface="Roboto"/>
                <a:cs typeface="Roboto"/>
              </a:rPr>
              <a:t>определяется</a:t>
            </a:r>
            <a:r>
              <a:rPr dirty="0" sz="1300" spc="20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во</a:t>
            </a:r>
            <a:r>
              <a:rPr dirty="0" sz="1300" spc="204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время</a:t>
            </a:r>
            <a:r>
              <a:rPr dirty="0" sz="1300" spc="1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выполнения</a:t>
            </a:r>
            <a:r>
              <a:rPr dirty="0" sz="1300" spc="17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программы.</a:t>
            </a:r>
            <a:r>
              <a:rPr dirty="0" sz="1300" spc="17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17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создания</a:t>
            </a:r>
            <a:r>
              <a:rPr dirty="0" sz="1300" spc="165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такого </a:t>
            </a:r>
            <a:r>
              <a:rPr dirty="0" sz="1300">
                <a:latin typeface="Roboto"/>
                <a:cs typeface="Roboto"/>
              </a:rPr>
              <a:t>массива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C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используется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функция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malloc.</a:t>
            </a:r>
            <a:endParaRPr sz="1300">
              <a:latin typeface="Roboto"/>
              <a:cs typeface="Roboto"/>
            </a:endParaRPr>
          </a:p>
          <a:p>
            <a:pPr algn="just" marL="288290">
              <a:lnSpc>
                <a:spcPct val="100000"/>
              </a:lnSpc>
              <a:spcBef>
                <a:spcPts val="1535"/>
              </a:spcBef>
            </a:pPr>
            <a:r>
              <a:rPr dirty="0" sz="1300">
                <a:latin typeface="Roboto"/>
                <a:cs typeface="Roboto"/>
              </a:rPr>
              <a:t>Пример</a:t>
            </a:r>
            <a:r>
              <a:rPr dirty="0" sz="1300" spc="-6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создания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массива:</a:t>
            </a:r>
            <a:endParaRPr sz="1300">
              <a:latin typeface="Roboto"/>
              <a:cs typeface="Roboto"/>
            </a:endParaRPr>
          </a:p>
          <a:p>
            <a:pPr marL="12700" marR="5403215">
              <a:lnSpc>
                <a:spcPct val="114999"/>
              </a:lnSpc>
              <a:spcBef>
                <a:spcPts val="1345"/>
              </a:spcBef>
            </a:pPr>
            <a:r>
              <a:rPr dirty="0" sz="1100" spc="-10">
                <a:latin typeface="Roboto"/>
                <a:cs typeface="Roboto"/>
              </a:rPr>
              <a:t>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&lt;stdlib.h&gt; 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&lt;stdio.h&gt;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9750" y="1062388"/>
            <a:ext cx="2785745" cy="38817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130" marR="2085975" indent="-139065">
              <a:lnSpc>
                <a:spcPct val="114999"/>
              </a:lnSpc>
              <a:spcBef>
                <a:spcPts val="100"/>
              </a:spcBef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main()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 </a:t>
            </a: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6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n;</a:t>
            </a:r>
            <a:endParaRPr sz="1100">
              <a:latin typeface="Roboto"/>
              <a:cs typeface="Roboto"/>
            </a:endParaRPr>
          </a:p>
          <a:p>
            <a:pPr marL="151130" marR="358140">
              <a:lnSpc>
                <a:spcPct val="114999"/>
              </a:lnSpc>
            </a:pPr>
            <a:r>
              <a:rPr dirty="0" sz="1100" spc="-20">
                <a:latin typeface="Roboto"/>
                <a:cs typeface="Roboto"/>
              </a:rPr>
              <a:t>printf("Введите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размер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массива: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"); </a:t>
            </a:r>
            <a:r>
              <a:rPr dirty="0" sz="1100" spc="-10">
                <a:latin typeface="Roboto"/>
                <a:cs typeface="Roboto"/>
              </a:rPr>
              <a:t>scanf("%d",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&amp;n);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Roboto"/>
              <a:cs typeface="Roboto"/>
            </a:endParaRPr>
          </a:p>
          <a:p>
            <a:pPr marL="151130" marR="330200">
              <a:lnSpc>
                <a:spcPct val="114999"/>
              </a:lnSpc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*arr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(int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*)malloc(n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sizeof(int)); </a:t>
            </a:r>
            <a:r>
              <a:rPr dirty="0" sz="1100">
                <a:latin typeface="Roboto"/>
                <a:cs typeface="Roboto"/>
              </a:rPr>
              <a:t>if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(arr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==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NULL)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289560" marR="5080">
              <a:lnSpc>
                <a:spcPct val="114999"/>
              </a:lnSpc>
            </a:pPr>
            <a:r>
              <a:rPr dirty="0" sz="1100" spc="-10">
                <a:latin typeface="Roboto"/>
                <a:cs typeface="Roboto"/>
              </a:rPr>
              <a:t>printf("Ошибка выделения памяти\n"); </a:t>
            </a: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1;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Roboto"/>
              <a:cs typeface="Roboto"/>
            </a:endParaRPr>
          </a:p>
          <a:p>
            <a:pPr marL="289560" marR="1216660" indent="-139065">
              <a:lnSpc>
                <a:spcPct val="114999"/>
              </a:lnSpc>
            </a:pPr>
            <a:r>
              <a:rPr dirty="0" sz="1100">
                <a:latin typeface="Roboto"/>
                <a:cs typeface="Roboto"/>
              </a:rPr>
              <a:t>for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(int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0;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&lt;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n;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i++)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 </a:t>
            </a:r>
            <a:r>
              <a:rPr dirty="0" sz="1100" spc="-10">
                <a:latin typeface="Roboto"/>
                <a:cs typeface="Roboto"/>
              </a:rPr>
              <a:t>arr[i]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+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35">
                <a:latin typeface="Roboto"/>
                <a:cs typeface="Roboto"/>
              </a:rPr>
              <a:t>1; </a:t>
            </a:r>
            <a:r>
              <a:rPr dirty="0" sz="1100" spc="-10">
                <a:latin typeface="Roboto"/>
                <a:cs typeface="Roboto"/>
              </a:rPr>
              <a:t>printf("%d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",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arr[i]);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195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 spc="-10">
                <a:latin typeface="Roboto"/>
                <a:cs typeface="Roboto"/>
              </a:rPr>
              <a:t>printf("\n");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Roboto"/>
              <a:cs typeface="Roboto"/>
            </a:endParaRPr>
          </a:p>
          <a:p>
            <a:pPr marL="151130" marR="2087245">
              <a:lnSpc>
                <a:spcPct val="114999"/>
              </a:lnSpc>
            </a:pPr>
            <a:r>
              <a:rPr dirty="0" sz="1100" spc="-10">
                <a:latin typeface="Roboto"/>
                <a:cs typeface="Roboto"/>
              </a:rPr>
              <a:t>free(arr); </a:t>
            </a: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0;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5477822"/>
            <a:ext cx="6226175" cy="481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Если</a:t>
            </a:r>
            <a:r>
              <a:rPr dirty="0" sz="1300" spc="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размер</a:t>
            </a:r>
            <a:r>
              <a:rPr dirty="0" sz="1300" spc="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массива</a:t>
            </a:r>
            <a:r>
              <a:rPr dirty="0" sz="1300" spc="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нужно</a:t>
            </a:r>
            <a:r>
              <a:rPr dirty="0" sz="1300" spc="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изменить,</a:t>
            </a:r>
            <a:r>
              <a:rPr dirty="0" sz="1300" spc="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можно</a:t>
            </a:r>
            <a:r>
              <a:rPr dirty="0" sz="1300" spc="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использовать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функцию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realloc</a:t>
            </a:r>
            <a:r>
              <a:rPr dirty="0" sz="1300" spc="-10">
                <a:latin typeface="Roboto"/>
                <a:cs typeface="Roboto"/>
              </a:rPr>
              <a:t>, </a:t>
            </a:r>
            <a:r>
              <a:rPr dirty="0" sz="1300" spc="-20">
                <a:latin typeface="Roboto"/>
                <a:cs typeface="Roboto"/>
              </a:rPr>
              <a:t>которая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перераспределяет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память.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6900" y="6267449"/>
            <a:ext cx="6959600" cy="0"/>
          </a:xfrm>
          <a:custGeom>
            <a:avLst/>
            <a:gdLst/>
            <a:ahLst/>
            <a:cxnLst/>
            <a:rect l="l" t="t" r="r" b="b"/>
            <a:pathLst>
              <a:path w="6959600" h="0">
                <a:moveTo>
                  <a:pt x="0" y="0"/>
                </a:moveTo>
                <a:lnTo>
                  <a:pt x="6959599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700" y="6676401"/>
            <a:ext cx="6231255" cy="1156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dirty="0" sz="2650">
                <a:latin typeface="Roboto"/>
                <a:cs typeface="Roboto"/>
              </a:rPr>
              <a:t>Динамическое</a:t>
            </a:r>
            <a:r>
              <a:rPr dirty="0" sz="2650" spc="85">
                <a:latin typeface="Roboto"/>
                <a:cs typeface="Roboto"/>
              </a:rPr>
              <a:t> </a:t>
            </a:r>
            <a:r>
              <a:rPr dirty="0" sz="2650">
                <a:latin typeface="Roboto"/>
                <a:cs typeface="Roboto"/>
              </a:rPr>
              <a:t>выделение</a:t>
            </a:r>
            <a:r>
              <a:rPr dirty="0" sz="2650" spc="85">
                <a:latin typeface="Roboto"/>
                <a:cs typeface="Roboto"/>
              </a:rPr>
              <a:t> </a:t>
            </a:r>
            <a:r>
              <a:rPr dirty="0" sz="2650">
                <a:latin typeface="Roboto"/>
                <a:cs typeface="Roboto"/>
              </a:rPr>
              <a:t>памяти</a:t>
            </a:r>
            <a:r>
              <a:rPr dirty="0" sz="2650" spc="20">
                <a:latin typeface="Roboto"/>
                <a:cs typeface="Roboto"/>
              </a:rPr>
              <a:t> </a:t>
            </a:r>
            <a:r>
              <a:rPr dirty="0" sz="2650" spc="-25">
                <a:latin typeface="Roboto"/>
                <a:cs typeface="Roboto"/>
              </a:rPr>
              <a:t>для </a:t>
            </a:r>
            <a:r>
              <a:rPr dirty="0" sz="2650" spc="-20">
                <a:latin typeface="Roboto"/>
                <a:cs typeface="Roboto"/>
              </a:rPr>
              <a:t>двумерных</a:t>
            </a:r>
            <a:r>
              <a:rPr dirty="0" sz="2650" spc="-114">
                <a:latin typeface="Roboto"/>
                <a:cs typeface="Roboto"/>
              </a:rPr>
              <a:t> </a:t>
            </a:r>
            <a:r>
              <a:rPr dirty="0" sz="2650" spc="-10">
                <a:latin typeface="Roboto"/>
                <a:cs typeface="Roboto"/>
              </a:rPr>
              <a:t>массивов</a:t>
            </a:r>
            <a:endParaRPr sz="26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9750" y="8193459"/>
            <a:ext cx="5869305" cy="1294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двумерных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массивов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память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можно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выделять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двумя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способами: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</a:pPr>
            <a:r>
              <a:rPr dirty="0" sz="1650">
                <a:latin typeface="Roboto"/>
                <a:cs typeface="Roboto"/>
              </a:rPr>
              <a:t>1.</a:t>
            </a:r>
            <a:r>
              <a:rPr dirty="0" sz="1650" spc="-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Одним блоком (плоский </a:t>
            </a:r>
            <a:r>
              <a:rPr dirty="0" sz="1650" spc="-10">
                <a:latin typeface="Roboto"/>
                <a:cs typeface="Roboto"/>
              </a:rPr>
              <a:t>массив)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6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*matrix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(int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*)malloc(rows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cols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sizeof(int));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2448979"/>
            <a:ext cx="79375" cy="984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2641798"/>
            <a:ext cx="79375" cy="984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9750" y="1293316"/>
            <a:ext cx="3651250" cy="6886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latin typeface="Roboto"/>
                <a:cs typeface="Roboto"/>
              </a:rPr>
              <a:t>Доступ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элементу: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matrix[i</a:t>
            </a:r>
            <a:r>
              <a:rPr dirty="0" sz="1100" spc="-4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*</a:t>
            </a:r>
            <a:r>
              <a:rPr dirty="0" sz="1100" spc="-4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cols</a:t>
            </a:r>
            <a:r>
              <a:rPr dirty="0" sz="1100" spc="-5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+</a:t>
            </a:r>
            <a:r>
              <a:rPr dirty="0" sz="1100" spc="-4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78037"/>
                </a:solidFill>
                <a:latin typeface="Courier New"/>
                <a:cs typeface="Courier New"/>
              </a:rPr>
              <a:t>j]</a:t>
            </a:r>
            <a:r>
              <a:rPr dirty="0" sz="1300" spc="-25">
                <a:latin typeface="Roboto"/>
                <a:cs typeface="Roboto"/>
              </a:rPr>
              <a:t>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</a:pPr>
            <a:r>
              <a:rPr dirty="0" sz="1650">
                <a:latin typeface="Roboto"/>
                <a:cs typeface="Roboto"/>
              </a:rPr>
              <a:t>2.</a:t>
            </a:r>
            <a:r>
              <a:rPr dirty="0" sz="1650" spc="-20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Массив</a:t>
            </a:r>
            <a:r>
              <a:rPr dirty="0" sz="1650" spc="-10">
                <a:latin typeface="Roboto"/>
                <a:cs typeface="Roboto"/>
              </a:rPr>
              <a:t> указателей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650">
              <a:latin typeface="Roboto"/>
              <a:cs typeface="Roboto"/>
            </a:endParaRPr>
          </a:p>
          <a:p>
            <a:pPr marL="98425" marR="2461260">
              <a:lnSpc>
                <a:spcPct val="114999"/>
              </a:lnSpc>
            </a:pPr>
            <a:r>
              <a:rPr dirty="0" sz="1100" spc="-10">
                <a:latin typeface="Roboto"/>
                <a:cs typeface="Roboto"/>
              </a:rPr>
              <a:t>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&lt;stdlib.h&gt; 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&lt;stdio.h&gt;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main()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rows,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cols;</a:t>
            </a:r>
            <a:endParaRPr sz="1100">
              <a:latin typeface="Roboto"/>
              <a:cs typeface="Roboto"/>
            </a:endParaRPr>
          </a:p>
          <a:p>
            <a:pPr marL="151130" marR="364490">
              <a:lnSpc>
                <a:spcPct val="114999"/>
              </a:lnSpc>
            </a:pPr>
            <a:r>
              <a:rPr dirty="0" sz="1100" spc="-20">
                <a:latin typeface="Roboto"/>
                <a:cs typeface="Roboto"/>
              </a:rPr>
              <a:t>printf("Введите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количество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строк</a:t>
            </a:r>
            <a:r>
              <a:rPr dirty="0" sz="1100">
                <a:latin typeface="Roboto"/>
                <a:cs typeface="Roboto"/>
              </a:rPr>
              <a:t> и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столбцов:</a:t>
            </a:r>
            <a:r>
              <a:rPr dirty="0" sz="1100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"); </a:t>
            </a:r>
            <a:r>
              <a:rPr dirty="0" sz="1100" spc="-10">
                <a:latin typeface="Roboto"/>
                <a:cs typeface="Roboto"/>
              </a:rPr>
              <a:t>scanf("%d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%d",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&amp;rows,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&amp;cols);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Roboto"/>
              <a:cs typeface="Roboto"/>
            </a:endParaRPr>
          </a:p>
          <a:p>
            <a:pPr marL="151130" marR="530860">
              <a:lnSpc>
                <a:spcPct val="114999"/>
              </a:lnSpc>
              <a:spcBef>
                <a:spcPts val="5"/>
              </a:spcBef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**matrix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(int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**)malloc(rows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sizeof(int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*)); </a:t>
            </a:r>
            <a:r>
              <a:rPr dirty="0" sz="1100">
                <a:latin typeface="Roboto"/>
                <a:cs typeface="Roboto"/>
              </a:rPr>
              <a:t>for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(int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0;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&lt;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rows;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i++)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dirty="0" sz="1100" spc="-10">
                <a:latin typeface="Roboto"/>
                <a:cs typeface="Roboto"/>
              </a:rPr>
              <a:t>matrix[i]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(int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*)malloc(cols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*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sizeof(int));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Roboto"/>
              <a:cs typeface="Roboto"/>
            </a:endParaRPr>
          </a:p>
          <a:p>
            <a:pPr marL="151130" marR="1856105">
              <a:lnSpc>
                <a:spcPct val="114999"/>
              </a:lnSpc>
            </a:pP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Заполнение</a:t>
            </a:r>
            <a:r>
              <a:rPr dirty="0" sz="1100">
                <a:latin typeface="Roboto"/>
                <a:cs typeface="Roboto"/>
              </a:rPr>
              <a:t> и </a:t>
            </a:r>
            <a:r>
              <a:rPr dirty="0" sz="1100" spc="-20">
                <a:latin typeface="Roboto"/>
                <a:cs typeface="Roboto"/>
              </a:rPr>
              <a:t>вывод </a:t>
            </a:r>
            <a:r>
              <a:rPr dirty="0" sz="1100">
                <a:latin typeface="Roboto"/>
                <a:cs typeface="Roboto"/>
              </a:rPr>
              <a:t>for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(int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0;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&lt;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rows;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i++)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427990" marR="1763395" indent="-139065">
              <a:lnSpc>
                <a:spcPct val="114999"/>
              </a:lnSpc>
              <a:spcBef>
                <a:spcPts val="5"/>
              </a:spcBef>
            </a:pPr>
            <a:r>
              <a:rPr dirty="0" sz="1100">
                <a:latin typeface="Roboto"/>
                <a:cs typeface="Roboto"/>
              </a:rPr>
              <a:t>for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(int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j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0;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j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&lt;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cols;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j++)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 </a:t>
            </a:r>
            <a:r>
              <a:rPr dirty="0" sz="1100" spc="-20">
                <a:latin typeface="Roboto"/>
                <a:cs typeface="Roboto"/>
              </a:rPr>
              <a:t>matrix[i][j]</a:t>
            </a:r>
            <a:r>
              <a:rPr dirty="0" sz="1100">
                <a:latin typeface="Roboto"/>
                <a:cs typeface="Roboto"/>
              </a:rPr>
              <a:t> = i + </a:t>
            </a:r>
            <a:r>
              <a:rPr dirty="0" sz="1100" spc="-25">
                <a:latin typeface="Roboto"/>
                <a:cs typeface="Roboto"/>
              </a:rPr>
              <a:t>j; </a:t>
            </a:r>
            <a:r>
              <a:rPr dirty="0" sz="1100" spc="-10">
                <a:latin typeface="Roboto"/>
                <a:cs typeface="Roboto"/>
              </a:rPr>
              <a:t>printf("%d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",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matrix[i][j]);</a:t>
            </a:r>
            <a:endParaRPr sz="1100">
              <a:latin typeface="Roboto"/>
              <a:cs typeface="Roboto"/>
            </a:endParaRPr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  <a:p>
            <a:pPr marL="289560">
              <a:lnSpc>
                <a:spcPct val="100000"/>
              </a:lnSpc>
              <a:spcBef>
                <a:spcPts val="200"/>
              </a:spcBef>
            </a:pPr>
            <a:r>
              <a:rPr dirty="0" sz="1100" spc="-10">
                <a:latin typeface="Roboto"/>
                <a:cs typeface="Roboto"/>
              </a:rPr>
              <a:t>printf("\n");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195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Roboto"/>
              <a:cs typeface="Roboto"/>
            </a:endParaRPr>
          </a:p>
          <a:p>
            <a:pPr marL="151130" marR="1853564">
              <a:lnSpc>
                <a:spcPct val="114999"/>
              </a:lnSpc>
            </a:pP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Освобождение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памяти </a:t>
            </a:r>
            <a:r>
              <a:rPr dirty="0" sz="1100">
                <a:latin typeface="Roboto"/>
                <a:cs typeface="Roboto"/>
              </a:rPr>
              <a:t>for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(int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0;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&lt;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rows;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i++)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289560">
              <a:lnSpc>
                <a:spcPct val="100000"/>
              </a:lnSpc>
              <a:spcBef>
                <a:spcPts val="200"/>
              </a:spcBef>
            </a:pPr>
            <a:r>
              <a:rPr dirty="0" sz="1100" spc="-10">
                <a:latin typeface="Roboto"/>
                <a:cs typeface="Roboto"/>
              </a:rPr>
              <a:t>free(matrix[i]);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195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 spc="-10">
                <a:latin typeface="Roboto"/>
                <a:cs typeface="Roboto"/>
              </a:rPr>
              <a:t>free(matrix);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</a:pP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0;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8906079"/>
            <a:ext cx="180340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latin typeface="Roboto"/>
                <a:cs typeface="Roboto"/>
              </a:rPr>
              <a:t>Важные</a:t>
            </a:r>
            <a:r>
              <a:rPr dirty="0" sz="1650" spc="-5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моменты</a:t>
            </a:r>
            <a:endParaRPr sz="16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5575" y="863716"/>
            <a:ext cx="5316220" cy="1165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38100" indent="-228600">
              <a:lnSpc>
                <a:spcPct val="114999"/>
              </a:lnSpc>
              <a:spcBef>
                <a:spcPts val="100"/>
              </a:spcBef>
              <a:buFont typeface="Microsoft Sans Serif"/>
              <a:buChar char="●"/>
              <a:tabLst>
                <a:tab pos="241300" algn="l"/>
                <a:tab pos="242570" algn="l"/>
              </a:tabLst>
            </a:pPr>
            <a:r>
              <a:rPr dirty="0" sz="1300">
                <a:latin typeface="Roboto"/>
                <a:cs typeface="Roboto"/>
              </a:rPr>
              <a:t>	Для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двумерных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массивов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всегда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следите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за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тем,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чтобы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каждая строка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имела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выделенную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память,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если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вы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используете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массив указателей.</a:t>
            </a:r>
            <a:endParaRPr sz="1300">
              <a:latin typeface="Roboto"/>
              <a:cs typeface="Roboto"/>
            </a:endParaRPr>
          </a:p>
          <a:p>
            <a:pPr algn="just" marL="241300" marR="5080" indent="-228600">
              <a:lnSpc>
                <a:spcPct val="114999"/>
              </a:lnSpc>
              <a:buFont typeface="Microsoft Sans Serif"/>
              <a:buChar char="●"/>
              <a:tabLst>
                <a:tab pos="241300" algn="l"/>
                <a:tab pos="242570" algn="l"/>
              </a:tabLst>
            </a:pPr>
            <a:r>
              <a:rPr dirty="0" sz="1300">
                <a:latin typeface="Roboto"/>
                <a:cs typeface="Roboto"/>
              </a:rPr>
              <a:t>	Важно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освобождать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память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том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же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порядке,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каком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она</a:t>
            </a:r>
            <a:r>
              <a:rPr dirty="0" sz="1300" spc="-20">
                <a:latin typeface="Roboto"/>
                <a:cs typeface="Roboto"/>
              </a:rPr>
              <a:t> была </a:t>
            </a:r>
            <a:r>
              <a:rPr dirty="0" sz="1300" spc="-10">
                <a:latin typeface="Roboto"/>
                <a:cs typeface="Roboto"/>
              </a:rPr>
              <a:t>выделена.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6900" y="2330446"/>
            <a:ext cx="6959600" cy="0"/>
          </a:xfrm>
          <a:custGeom>
            <a:avLst/>
            <a:gdLst/>
            <a:ahLst/>
            <a:cxnLst/>
            <a:rect l="l" t="t" r="r" b="b"/>
            <a:pathLst>
              <a:path w="6959600" h="0">
                <a:moveTo>
                  <a:pt x="0" y="0"/>
                </a:moveTo>
                <a:lnTo>
                  <a:pt x="6959599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700" y="2907549"/>
            <a:ext cx="198818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0">
                <a:latin typeface="Roboto"/>
                <a:cs typeface="Roboto"/>
              </a:rPr>
              <a:t>Заключение</a:t>
            </a:r>
            <a:endParaRPr sz="26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3667737"/>
            <a:ext cx="6232525" cy="2076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Работа</a:t>
            </a:r>
            <a:r>
              <a:rPr dirty="0" sz="1300" spc="12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12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динамической</a:t>
            </a:r>
            <a:r>
              <a:rPr dirty="0" sz="1300" spc="12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памятью</a:t>
            </a:r>
            <a:r>
              <a:rPr dirty="0" sz="1300" spc="12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открывает</a:t>
            </a:r>
            <a:r>
              <a:rPr dirty="0" sz="1300" spc="9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широкие</a:t>
            </a:r>
            <a:r>
              <a:rPr dirty="0" sz="1300" spc="9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возможности</a:t>
            </a:r>
            <a:r>
              <a:rPr dirty="0" sz="1300" spc="90">
                <a:latin typeface="Roboto"/>
                <a:cs typeface="Roboto"/>
              </a:rPr>
              <a:t>  </a:t>
            </a:r>
            <a:r>
              <a:rPr dirty="0" sz="1300" spc="-25">
                <a:latin typeface="Roboto"/>
                <a:cs typeface="Roboto"/>
              </a:rPr>
              <a:t>для </a:t>
            </a:r>
            <a:r>
              <a:rPr dirty="0" sz="1300">
                <a:latin typeface="Roboto"/>
                <a:cs typeface="Roboto"/>
              </a:rPr>
              <a:t>управления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памятью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программах,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но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требует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осторожности.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Ошибки,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такие </a:t>
            </a:r>
            <a:r>
              <a:rPr dirty="0" sz="1300">
                <a:latin typeface="Roboto"/>
                <a:cs typeface="Roboto"/>
              </a:rPr>
              <a:t>как</a:t>
            </a:r>
            <a:r>
              <a:rPr dirty="0" sz="1300" spc="21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утечки</a:t>
            </a:r>
            <a:r>
              <a:rPr dirty="0" sz="1300" spc="18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памяти,</a:t>
            </a:r>
            <a:r>
              <a:rPr dirty="0" sz="1300" spc="18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двойное</a:t>
            </a:r>
            <a:r>
              <a:rPr dirty="0" sz="1300" spc="18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освобождение</a:t>
            </a:r>
            <a:r>
              <a:rPr dirty="0" sz="1300" spc="18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памяти</a:t>
            </a:r>
            <a:r>
              <a:rPr dirty="0" sz="1300" spc="18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180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использование </a:t>
            </a:r>
            <a:r>
              <a:rPr dirty="0" sz="1300">
                <a:latin typeface="Roboto"/>
                <a:cs typeface="Roboto"/>
              </a:rPr>
              <a:t>невалидных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указателей,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могут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привести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сбоям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программы.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современных </a:t>
            </a:r>
            <a:r>
              <a:rPr dirty="0" sz="1300">
                <a:latin typeface="Roboto"/>
                <a:cs typeface="Roboto"/>
              </a:rPr>
              <a:t>языках</a:t>
            </a:r>
            <a:r>
              <a:rPr dirty="0" sz="1300" spc="20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программирования,</a:t>
            </a:r>
            <a:r>
              <a:rPr dirty="0" sz="1300" spc="2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таких</a:t>
            </a:r>
            <a:r>
              <a:rPr dirty="0" sz="1300" spc="2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как</a:t>
            </a:r>
            <a:r>
              <a:rPr dirty="0" sz="1300" spc="1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Python</a:t>
            </a:r>
            <a:r>
              <a:rPr dirty="0" sz="1300" spc="1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1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Java,</a:t>
            </a:r>
            <a:r>
              <a:rPr dirty="0" sz="1300" spc="1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управление</a:t>
            </a:r>
            <a:r>
              <a:rPr dirty="0" sz="1300" spc="1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памятью </a:t>
            </a:r>
            <a:r>
              <a:rPr dirty="0" sz="1300">
                <a:latin typeface="Roboto"/>
                <a:cs typeface="Roboto"/>
              </a:rPr>
              <a:t>происходит</a:t>
            </a:r>
            <a:r>
              <a:rPr dirty="0" sz="1300" spc="13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автоматически,</a:t>
            </a:r>
            <a:r>
              <a:rPr dirty="0" sz="1300" spc="1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но</a:t>
            </a:r>
            <a:r>
              <a:rPr dirty="0" sz="1300" spc="1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1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C</a:t>
            </a:r>
            <a:r>
              <a:rPr dirty="0" sz="1300" spc="1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1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C++</a:t>
            </a:r>
            <a:r>
              <a:rPr dirty="0" sz="1300" spc="10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программисты</a:t>
            </a:r>
            <a:r>
              <a:rPr dirty="0" sz="1300" spc="10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несут</a:t>
            </a:r>
            <a:r>
              <a:rPr dirty="0" sz="1300" spc="105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полную </a:t>
            </a:r>
            <a:r>
              <a:rPr dirty="0" sz="1300">
                <a:latin typeface="Roboto"/>
                <a:cs typeface="Roboto"/>
              </a:rPr>
              <a:t>ответственность</a:t>
            </a:r>
            <a:r>
              <a:rPr dirty="0" sz="1300" spc="1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за</a:t>
            </a:r>
            <a:r>
              <a:rPr dirty="0" sz="1300" spc="1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правильное</a:t>
            </a:r>
            <a:r>
              <a:rPr dirty="0" sz="1300" spc="1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распределение</a:t>
            </a:r>
            <a:r>
              <a:rPr dirty="0" sz="1300" spc="1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освобождение</a:t>
            </a:r>
            <a:r>
              <a:rPr dirty="0" sz="1300" spc="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памяти.</a:t>
            </a:r>
            <a:r>
              <a:rPr dirty="0" sz="1300" spc="8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Это </a:t>
            </a:r>
            <a:r>
              <a:rPr dirty="0" sz="1300">
                <a:latin typeface="Roboto"/>
                <a:cs typeface="Roboto"/>
              </a:rPr>
              <a:t>требует</a:t>
            </a:r>
            <a:r>
              <a:rPr dirty="0" sz="1300" spc="2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дисциплины</a:t>
            </a:r>
            <a:r>
              <a:rPr dirty="0" sz="1300" spc="2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2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внимания</a:t>
            </a:r>
            <a:r>
              <a:rPr dirty="0" sz="1300" spc="2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2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каждом</a:t>
            </a:r>
            <a:r>
              <a:rPr dirty="0" sz="1300" spc="2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этапе</a:t>
            </a:r>
            <a:r>
              <a:rPr dirty="0" sz="1300" spc="2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работы</a:t>
            </a:r>
            <a:r>
              <a:rPr dirty="0" sz="1300" spc="2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2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динамической памятью.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6273223"/>
            <a:ext cx="419163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>
                <a:latin typeface="Roboto"/>
                <a:cs typeface="Roboto"/>
              </a:rPr>
              <a:t>Основы</a:t>
            </a:r>
            <a:r>
              <a:rPr dirty="0" sz="2650" spc="-80">
                <a:latin typeface="Roboto"/>
                <a:cs typeface="Roboto"/>
              </a:rPr>
              <a:t> </a:t>
            </a:r>
            <a:r>
              <a:rPr dirty="0" sz="2650" spc="-50">
                <a:latin typeface="Roboto"/>
                <a:cs typeface="Roboto"/>
              </a:rPr>
              <a:t>файловых</a:t>
            </a:r>
            <a:r>
              <a:rPr dirty="0" sz="2650" spc="-75">
                <a:latin typeface="Roboto"/>
                <a:cs typeface="Roboto"/>
              </a:rPr>
              <a:t> </a:t>
            </a:r>
            <a:r>
              <a:rPr dirty="0" sz="2650" spc="-10">
                <a:latin typeface="Roboto"/>
                <a:cs typeface="Roboto"/>
              </a:rPr>
              <a:t>систем</a:t>
            </a:r>
            <a:endParaRPr sz="265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7060945"/>
            <a:ext cx="6231255" cy="2289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latin typeface="Roboto"/>
                <a:cs typeface="Roboto"/>
              </a:rPr>
              <a:t>Что</a:t>
            </a:r>
            <a:r>
              <a:rPr dirty="0" sz="1650" spc="-95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такое</a:t>
            </a:r>
            <a:r>
              <a:rPr dirty="0" sz="1650" spc="-90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файл?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650">
              <a:latin typeface="Roboto"/>
              <a:cs typeface="Roboto"/>
            </a:endParaRPr>
          </a:p>
          <a:p>
            <a:pPr algn="just" marL="12700" marR="5080">
              <a:lnSpc>
                <a:spcPct val="114999"/>
              </a:lnSpc>
            </a:pPr>
            <a:r>
              <a:rPr dirty="0" sz="1300" b="1">
                <a:latin typeface="Roboto"/>
                <a:cs typeface="Roboto"/>
              </a:rPr>
              <a:t>Файл</a:t>
            </a:r>
            <a:r>
              <a:rPr dirty="0" sz="1300" spc="290" b="1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29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это</a:t>
            </a:r>
            <a:r>
              <a:rPr dirty="0" sz="1300" spc="29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именованная</a:t>
            </a:r>
            <a:r>
              <a:rPr dirty="0" sz="1300" spc="254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область</a:t>
            </a:r>
            <a:r>
              <a:rPr dirty="0" sz="1300" spc="25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данных,</a:t>
            </a:r>
            <a:r>
              <a:rPr dirty="0" sz="1300" spc="254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хранящаяся</a:t>
            </a:r>
            <a:r>
              <a:rPr dirty="0" sz="1300" spc="254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254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носителе </a:t>
            </a:r>
            <a:r>
              <a:rPr dirty="0" sz="1300">
                <a:latin typeface="Roboto"/>
                <a:cs typeface="Roboto"/>
              </a:rPr>
              <a:t>информации</a:t>
            </a:r>
            <a:r>
              <a:rPr dirty="0" sz="1300" spc="1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(жесткий</a:t>
            </a:r>
            <a:r>
              <a:rPr dirty="0" sz="1300" spc="1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диск,</a:t>
            </a:r>
            <a:r>
              <a:rPr dirty="0" sz="1300" spc="1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SSD,</a:t>
            </a:r>
            <a:r>
              <a:rPr dirty="0" sz="1300" spc="1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флешка</a:t>
            </a:r>
            <a:r>
              <a:rPr dirty="0" sz="1300" spc="1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11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т.д.),</a:t>
            </a:r>
            <a:r>
              <a:rPr dirty="0" sz="1300" spc="11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доступная</a:t>
            </a:r>
            <a:r>
              <a:rPr dirty="0" sz="1300" spc="1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</a:t>
            </a:r>
            <a:r>
              <a:rPr dirty="0" sz="1300" spc="114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уникальному </a:t>
            </a:r>
            <a:r>
              <a:rPr dirty="0" sz="1300">
                <a:latin typeface="Roboto"/>
                <a:cs typeface="Roboto"/>
              </a:rPr>
              <a:t>имени.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ОС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могут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рассматривать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как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файлы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обрабатывать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сходным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образом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1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другие</a:t>
            </a:r>
            <a:r>
              <a:rPr dirty="0" sz="1300" spc="1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ресурсы,</a:t>
            </a:r>
            <a:r>
              <a:rPr dirty="0" sz="1300" spc="1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такие</a:t>
            </a:r>
            <a:r>
              <a:rPr dirty="0" sz="1300" spc="1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как</a:t>
            </a:r>
            <a:r>
              <a:rPr dirty="0" sz="1300" spc="1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устройства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(клавиатура,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экран,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принтер),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потоки данных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сетевые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ресурсы.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3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650">
                <a:latin typeface="Roboto"/>
                <a:cs typeface="Roboto"/>
              </a:rPr>
              <a:t>Файловая</a:t>
            </a:r>
            <a:r>
              <a:rPr dirty="0" sz="1650" spc="20">
                <a:latin typeface="Roboto"/>
                <a:cs typeface="Roboto"/>
              </a:rPr>
              <a:t> </a:t>
            </a:r>
            <a:r>
              <a:rPr dirty="0" sz="1650" spc="-20">
                <a:latin typeface="Roboto"/>
                <a:cs typeface="Roboto"/>
              </a:rPr>
              <a:t>система</a:t>
            </a:r>
            <a:r>
              <a:rPr dirty="0" sz="1650" spc="20">
                <a:latin typeface="Roboto"/>
                <a:cs typeface="Roboto"/>
              </a:rPr>
              <a:t> </a:t>
            </a:r>
            <a:r>
              <a:rPr dirty="0" sz="1650" spc="-20">
                <a:latin typeface="Roboto"/>
                <a:cs typeface="Roboto"/>
              </a:rPr>
              <a:t>(ФС)</a:t>
            </a:r>
            <a:endParaRPr sz="16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3477"/>
            <a:ext cx="6229985" cy="283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Roboto"/>
                <a:cs typeface="Roboto"/>
              </a:rPr>
              <a:t>Файловая</a:t>
            </a:r>
            <a:r>
              <a:rPr dirty="0" sz="1300" spc="10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система</a:t>
            </a:r>
            <a:r>
              <a:rPr dirty="0" sz="1300" spc="10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(ФС)</a:t>
            </a:r>
            <a:r>
              <a:rPr dirty="0" sz="1300" spc="10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это:</a:t>
            </a:r>
            <a:endParaRPr sz="1300">
              <a:latin typeface="Roboto"/>
              <a:cs typeface="Roboto"/>
            </a:endParaRPr>
          </a:p>
          <a:p>
            <a:pPr marL="765175" marR="555625" indent="-228600">
              <a:lnSpc>
                <a:spcPct val="114999"/>
              </a:lnSpc>
              <a:spcBef>
                <a:spcPts val="1300"/>
              </a:spcBef>
              <a:buFont typeface="Microsoft Sans Serif"/>
              <a:buChar char="●"/>
              <a:tabLst>
                <a:tab pos="765175" algn="l"/>
              </a:tabLst>
            </a:pPr>
            <a:r>
              <a:rPr dirty="0" sz="1300" b="1">
                <a:latin typeface="Roboto"/>
                <a:cs typeface="Roboto"/>
              </a:rPr>
              <a:t>Набор</a:t>
            </a:r>
            <a:r>
              <a:rPr dirty="0" sz="1300" spc="-40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правил</a:t>
            </a:r>
            <a:r>
              <a:rPr dirty="0" sz="1300" spc="-3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и</a:t>
            </a:r>
            <a:r>
              <a:rPr dirty="0" sz="1300" spc="-35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структур</a:t>
            </a:r>
            <a:r>
              <a:rPr dirty="0" sz="1300" spc="-10">
                <a:latin typeface="Roboto"/>
                <a:cs typeface="Roboto"/>
              </a:rPr>
              <a:t>,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описывающих,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как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данные</a:t>
            </a:r>
            <a:r>
              <a:rPr dirty="0" sz="1300" spc="-35">
                <a:latin typeface="Roboto"/>
                <a:cs typeface="Roboto"/>
              </a:rPr>
              <a:t> (файлы </a:t>
            </a:r>
            <a:r>
              <a:rPr dirty="0" sz="1300" spc="-50">
                <a:latin typeface="Roboto"/>
                <a:cs typeface="Roboto"/>
              </a:rPr>
              <a:t>и </a:t>
            </a:r>
            <a:r>
              <a:rPr dirty="0" sz="1300" spc="-10">
                <a:latin typeface="Roboto"/>
                <a:cs typeface="Roboto"/>
              </a:rPr>
              <a:t>каталоги)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организуются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 </a:t>
            </a:r>
            <a:r>
              <a:rPr dirty="0" sz="1300" spc="-25">
                <a:latin typeface="Roboto"/>
                <a:cs typeface="Roboto"/>
              </a:rPr>
              <a:t>хранятся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 </a:t>
            </a:r>
            <a:r>
              <a:rPr dirty="0" sz="1300" spc="-10">
                <a:latin typeface="Roboto"/>
                <a:cs typeface="Roboto"/>
              </a:rPr>
              <a:t>носителе.</a:t>
            </a:r>
            <a:endParaRPr sz="1300">
              <a:latin typeface="Roboto"/>
              <a:cs typeface="Roboto"/>
            </a:endParaRPr>
          </a:p>
          <a:p>
            <a:pPr marL="764540" indent="-227965">
              <a:lnSpc>
                <a:spcPct val="100000"/>
              </a:lnSpc>
              <a:spcBef>
                <a:spcPts val="234"/>
              </a:spcBef>
              <a:buFont typeface="Microsoft Sans Serif"/>
              <a:buChar char="●"/>
              <a:tabLst>
                <a:tab pos="764540" algn="l"/>
              </a:tabLst>
            </a:pPr>
            <a:r>
              <a:rPr dirty="0" sz="1300" spc="-10" b="1">
                <a:latin typeface="Roboto"/>
                <a:cs typeface="Roboto"/>
              </a:rPr>
              <a:t>Совокупность</a:t>
            </a:r>
            <a:r>
              <a:rPr dirty="0" sz="1300" spc="-20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всех</a:t>
            </a:r>
            <a:r>
              <a:rPr dirty="0" sz="1300" spc="-20" b="1">
                <a:latin typeface="Roboto"/>
                <a:cs typeface="Roboto"/>
              </a:rPr>
              <a:t> </a:t>
            </a:r>
            <a:r>
              <a:rPr dirty="0" sz="1300" spc="-35" b="1">
                <a:latin typeface="Roboto"/>
                <a:cs typeface="Roboto"/>
              </a:rPr>
              <a:t>файлов</a:t>
            </a:r>
            <a:r>
              <a:rPr dirty="0" sz="1300" spc="-35">
                <a:latin typeface="Roboto"/>
                <a:cs typeface="Roboto"/>
              </a:rPr>
              <a:t>,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хранимых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компьютерной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системе.</a:t>
            </a:r>
            <a:endParaRPr sz="1300">
              <a:latin typeface="Roboto"/>
              <a:cs typeface="Roboto"/>
            </a:endParaRPr>
          </a:p>
          <a:p>
            <a:pPr marL="765175" marR="218440" indent="-228600">
              <a:lnSpc>
                <a:spcPct val="114999"/>
              </a:lnSpc>
              <a:buFont typeface="Microsoft Sans Serif"/>
              <a:buChar char="●"/>
              <a:tabLst>
                <a:tab pos="765175" algn="l"/>
              </a:tabLst>
            </a:pPr>
            <a:r>
              <a:rPr dirty="0" sz="1300">
                <a:latin typeface="Roboto"/>
                <a:cs typeface="Roboto"/>
              </a:rPr>
              <a:t>(В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контексте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70">
                <a:latin typeface="Roboto"/>
                <a:cs typeface="Roboto"/>
              </a:rPr>
              <a:t>UNIX-</a:t>
            </a:r>
            <a:r>
              <a:rPr dirty="0" sz="1300" spc="-20">
                <a:latin typeface="Roboto"/>
                <a:cs typeface="Roboto"/>
              </a:rPr>
              <a:t>подобных</a:t>
            </a:r>
            <a:r>
              <a:rPr dirty="0" sz="1300" spc="-10">
                <a:latin typeface="Roboto"/>
                <a:cs typeface="Roboto"/>
              </a:rPr>
              <a:t> систем) </a:t>
            </a:r>
            <a:r>
              <a:rPr dirty="0" sz="1300" spc="-10" b="1">
                <a:latin typeface="Roboto"/>
                <a:cs typeface="Roboto"/>
              </a:rPr>
              <a:t>Совокупность</a:t>
            </a:r>
            <a:r>
              <a:rPr dirty="0" sz="1300" spc="-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всех</a:t>
            </a:r>
            <a:r>
              <a:rPr dirty="0" sz="1300" spc="-10" b="1">
                <a:latin typeface="Roboto"/>
                <a:cs typeface="Roboto"/>
              </a:rPr>
              <a:t> </a:t>
            </a:r>
            <a:r>
              <a:rPr dirty="0" sz="1300" spc="-35" b="1">
                <a:latin typeface="Roboto"/>
                <a:cs typeface="Roboto"/>
              </a:rPr>
              <a:t>файлов</a:t>
            </a:r>
            <a:r>
              <a:rPr dirty="0" sz="1300" spc="-10" b="1">
                <a:latin typeface="Roboto"/>
                <a:cs typeface="Roboto"/>
              </a:rPr>
              <a:t> </a:t>
            </a:r>
            <a:r>
              <a:rPr dirty="0" sz="1300" spc="-25" b="1">
                <a:latin typeface="Roboto"/>
                <a:cs typeface="Roboto"/>
              </a:rPr>
              <a:t>на </a:t>
            </a:r>
            <a:r>
              <a:rPr dirty="0" sz="1300" spc="-10" b="1">
                <a:latin typeface="Roboto"/>
                <a:cs typeface="Roboto"/>
              </a:rPr>
              <a:t>разделе</a:t>
            </a:r>
            <a:r>
              <a:rPr dirty="0" sz="1300" spc="-30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диска</a:t>
            </a:r>
            <a:r>
              <a:rPr dirty="0" sz="1300" spc="-30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или</a:t>
            </a:r>
            <a:r>
              <a:rPr dirty="0" sz="1300" spc="-30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устройстве</a:t>
            </a:r>
            <a:r>
              <a:rPr dirty="0" sz="1300" spc="-30" b="1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вместе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самими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устройствами, </a:t>
            </a:r>
            <a:r>
              <a:rPr dirty="0" sz="1300" spc="-20">
                <a:latin typeface="Roboto"/>
                <a:cs typeface="Roboto"/>
              </a:rPr>
              <a:t>которые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также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представлены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как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файлы.</a:t>
            </a:r>
            <a:endParaRPr sz="1300">
              <a:latin typeface="Roboto"/>
              <a:cs typeface="Roboto"/>
            </a:endParaRPr>
          </a:p>
          <a:p>
            <a:pPr algn="just" marL="12700" marR="5080">
              <a:lnSpc>
                <a:spcPct val="114999"/>
              </a:lnSpc>
              <a:spcBef>
                <a:spcPts val="1300"/>
              </a:spcBef>
            </a:pPr>
            <a:r>
              <a:rPr dirty="0" sz="1300">
                <a:latin typeface="Roboto"/>
                <a:cs typeface="Roboto"/>
              </a:rPr>
              <a:t>По</a:t>
            </a:r>
            <a:r>
              <a:rPr dirty="0" sz="1300" spc="26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сути,</a:t>
            </a:r>
            <a:r>
              <a:rPr dirty="0" sz="1300" spc="265">
                <a:latin typeface="Roboto"/>
                <a:cs typeface="Roboto"/>
              </a:rPr>
              <a:t>  </a:t>
            </a:r>
            <a:r>
              <a:rPr dirty="0" sz="1300" i="1">
                <a:latin typeface="Roboto"/>
                <a:cs typeface="Roboto"/>
              </a:rPr>
              <a:t>ФС</a:t>
            </a:r>
            <a:r>
              <a:rPr dirty="0" sz="1300" spc="260" i="1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определяет</a:t>
            </a:r>
            <a:r>
              <a:rPr dirty="0" sz="1300" spc="2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порядок</a:t>
            </a:r>
            <a:r>
              <a:rPr dirty="0" sz="1300" spc="2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26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способ</a:t>
            </a:r>
            <a:r>
              <a:rPr dirty="0" sz="1300" spc="229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именования,</a:t>
            </a:r>
            <a:r>
              <a:rPr dirty="0" sz="1300" spc="22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хранения</a:t>
            </a:r>
            <a:r>
              <a:rPr dirty="0" sz="1300" spc="229">
                <a:latin typeface="Roboto"/>
                <a:cs typeface="Roboto"/>
              </a:rPr>
              <a:t>  </a:t>
            </a:r>
            <a:r>
              <a:rPr dirty="0" sz="1300" spc="-50">
                <a:latin typeface="Roboto"/>
                <a:cs typeface="Roboto"/>
              </a:rPr>
              <a:t>и </a:t>
            </a:r>
            <a:r>
              <a:rPr dirty="0" sz="1300">
                <a:latin typeface="Roboto"/>
                <a:cs typeface="Roboto"/>
              </a:rPr>
              <a:t>организации</a:t>
            </a:r>
            <a:r>
              <a:rPr dirty="0" sz="1300" spc="20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информации.</a:t>
            </a:r>
            <a:r>
              <a:rPr dirty="0" sz="1300" spc="204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Практические</a:t>
            </a:r>
            <a:r>
              <a:rPr dirty="0" sz="1300" spc="20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реализации</a:t>
            </a:r>
            <a:r>
              <a:rPr dirty="0" sz="1300" spc="17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файловых</a:t>
            </a:r>
            <a:r>
              <a:rPr dirty="0" sz="1300" spc="170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систем, </a:t>
            </a:r>
            <a:r>
              <a:rPr dirty="0" sz="1300">
                <a:latin typeface="Roboto"/>
                <a:cs typeface="Roboto"/>
              </a:rPr>
              <a:t>например,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178037"/>
                </a:solidFill>
                <a:latin typeface="Courier New"/>
                <a:cs typeface="Courier New"/>
              </a:rPr>
              <a:t>NTFS</a:t>
            </a:r>
            <a:r>
              <a:rPr dirty="0" sz="1100" spc="-1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90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ext4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9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9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это</a:t>
            </a:r>
            <a:r>
              <a:rPr dirty="0" sz="1300" spc="9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технический</a:t>
            </a:r>
            <a:r>
              <a:rPr dirty="0" sz="1300" spc="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способ</a:t>
            </a:r>
            <a:r>
              <a:rPr dirty="0" sz="1300" spc="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организации</a:t>
            </a:r>
            <a:r>
              <a:rPr dirty="0" sz="1300" spc="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информации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определенном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типе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носителя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20">
                <a:latin typeface="Roboto"/>
                <a:cs typeface="Roboto"/>
              </a:rPr>
              <a:t> соответствии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принятыми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правилами.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4255163"/>
            <a:ext cx="565213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40">
                <a:latin typeface="Roboto"/>
                <a:cs typeface="Roboto"/>
              </a:rPr>
              <a:t>Структура</a:t>
            </a:r>
            <a:r>
              <a:rPr dirty="0" sz="2650" spc="-105">
                <a:latin typeface="Roboto"/>
                <a:cs typeface="Roboto"/>
              </a:rPr>
              <a:t> </a:t>
            </a:r>
            <a:r>
              <a:rPr dirty="0" sz="2650" spc="-40">
                <a:latin typeface="Roboto"/>
                <a:cs typeface="Roboto"/>
              </a:rPr>
              <a:t>файловой</a:t>
            </a:r>
            <a:r>
              <a:rPr dirty="0" sz="2650" spc="-95">
                <a:latin typeface="Roboto"/>
                <a:cs typeface="Roboto"/>
              </a:rPr>
              <a:t> </a:t>
            </a:r>
            <a:r>
              <a:rPr dirty="0" sz="2650" spc="-25">
                <a:latin typeface="Roboto"/>
                <a:cs typeface="Roboto"/>
              </a:rPr>
              <a:t>системы</a:t>
            </a:r>
            <a:r>
              <a:rPr dirty="0" sz="2650" spc="-90">
                <a:latin typeface="Roboto"/>
                <a:cs typeface="Roboto"/>
              </a:rPr>
              <a:t> </a:t>
            </a:r>
            <a:r>
              <a:rPr dirty="0" sz="2650" spc="-10">
                <a:latin typeface="Roboto"/>
                <a:cs typeface="Roboto"/>
              </a:rPr>
              <a:t>Linux</a:t>
            </a:r>
            <a:endParaRPr sz="26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5015339"/>
            <a:ext cx="6231255" cy="4544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25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отличие</a:t>
            </a:r>
            <a:r>
              <a:rPr dirty="0" sz="1300" spc="25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от</a:t>
            </a:r>
            <a:r>
              <a:rPr dirty="0" sz="1300" spc="21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операционных</a:t>
            </a:r>
            <a:r>
              <a:rPr dirty="0" sz="1300" spc="21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систем</a:t>
            </a:r>
            <a:r>
              <a:rPr dirty="0" sz="1300" spc="21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семейства</a:t>
            </a:r>
            <a:r>
              <a:rPr dirty="0" sz="1300" spc="21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Windows,</a:t>
            </a:r>
            <a:r>
              <a:rPr dirty="0" sz="1300" spc="21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где</a:t>
            </a:r>
            <a:r>
              <a:rPr dirty="0" sz="1300" spc="215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каждый </a:t>
            </a:r>
            <a:r>
              <a:rPr dirty="0" sz="1300">
                <a:latin typeface="Roboto"/>
                <a:cs typeface="Roboto"/>
              </a:rPr>
              <a:t>логический</a:t>
            </a:r>
            <a:r>
              <a:rPr dirty="0" sz="1300" spc="1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1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физический</a:t>
            </a:r>
            <a:r>
              <a:rPr dirty="0" sz="1300" spc="1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раздел</a:t>
            </a:r>
            <a:r>
              <a:rPr dirty="0" sz="1300" spc="1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диска</a:t>
            </a:r>
            <a:r>
              <a:rPr dirty="0" sz="1300" spc="1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имеет</a:t>
            </a:r>
            <a:r>
              <a:rPr dirty="0" sz="1300" spc="1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свою</a:t>
            </a:r>
            <a:r>
              <a:rPr dirty="0" sz="1300" spc="1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букву</a:t>
            </a:r>
            <a:r>
              <a:rPr dirty="0" sz="1300" spc="8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8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независимую </a:t>
            </a:r>
            <a:r>
              <a:rPr dirty="0" sz="1300">
                <a:latin typeface="Roboto"/>
                <a:cs typeface="Roboto"/>
              </a:rPr>
              <a:t>иерархию</a:t>
            </a:r>
            <a:r>
              <a:rPr dirty="0" sz="1300" spc="29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(например,</a:t>
            </a:r>
            <a:r>
              <a:rPr dirty="0" sz="1300" spc="295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C:\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295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D:\</a:t>
            </a:r>
            <a:r>
              <a:rPr dirty="0" sz="1300">
                <a:latin typeface="Roboto"/>
                <a:cs typeface="Roboto"/>
              </a:rPr>
              <a:t>),</a:t>
            </a:r>
            <a:r>
              <a:rPr dirty="0" sz="1300" spc="29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29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Linux</a:t>
            </a:r>
            <a:r>
              <a:rPr dirty="0" sz="1300" spc="229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используется</a:t>
            </a:r>
            <a:r>
              <a:rPr dirty="0" sz="1300" spc="229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единая</a:t>
            </a:r>
            <a:r>
              <a:rPr dirty="0" sz="1300" spc="229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иерархическая </a:t>
            </a:r>
            <a:r>
              <a:rPr dirty="0" sz="1300" b="1">
                <a:latin typeface="Roboto"/>
                <a:cs typeface="Roboto"/>
              </a:rPr>
              <a:t>структура</a:t>
            </a:r>
            <a:r>
              <a:rPr dirty="0" sz="1300" spc="180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19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одним</a:t>
            </a:r>
            <a:r>
              <a:rPr dirty="0" sz="1300" spc="190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корневым</a:t>
            </a:r>
            <a:r>
              <a:rPr dirty="0" sz="1300" spc="190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каталогом</a:t>
            </a:r>
            <a:r>
              <a:rPr dirty="0" sz="1300" spc="12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(</a:t>
            </a:r>
            <a:r>
              <a:rPr dirty="0" sz="1100" b="1">
                <a:solidFill>
                  <a:srgbClr val="178037"/>
                </a:solidFill>
                <a:latin typeface="Courier New"/>
                <a:cs typeface="Courier New"/>
              </a:rPr>
              <a:t>/</a:t>
            </a:r>
            <a:r>
              <a:rPr dirty="0" sz="1300" b="1">
                <a:latin typeface="Roboto"/>
                <a:cs typeface="Roboto"/>
              </a:rPr>
              <a:t>)</a:t>
            </a:r>
            <a:r>
              <a:rPr dirty="0" sz="1300">
                <a:latin typeface="Roboto"/>
                <a:cs typeface="Roboto"/>
              </a:rPr>
              <a:t>.</a:t>
            </a:r>
            <a:r>
              <a:rPr dirty="0" sz="1300" spc="1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Все</a:t>
            </a:r>
            <a:r>
              <a:rPr dirty="0" sz="1300" spc="1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устройства</a:t>
            </a:r>
            <a:r>
              <a:rPr dirty="0" sz="1300" spc="1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монтируются</a:t>
            </a:r>
            <a:r>
              <a:rPr dirty="0" sz="1300" spc="12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в </a:t>
            </a:r>
            <a:r>
              <a:rPr dirty="0" sz="1300">
                <a:latin typeface="Roboto"/>
                <a:cs typeface="Roboto"/>
              </a:rPr>
              <a:t>единое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дерево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каталогов.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650">
                <a:latin typeface="Roboto"/>
                <a:cs typeface="Roboto"/>
              </a:rPr>
              <a:t>Ключевые</a:t>
            </a:r>
            <a:r>
              <a:rPr dirty="0" sz="1650" spc="-1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особенности</a:t>
            </a:r>
            <a:r>
              <a:rPr dirty="0" sz="1650" spc="-15">
                <a:latin typeface="Roboto"/>
                <a:cs typeface="Roboto"/>
              </a:rPr>
              <a:t> </a:t>
            </a:r>
            <a:r>
              <a:rPr dirty="0" sz="1650" spc="-30">
                <a:latin typeface="Roboto"/>
                <a:cs typeface="Roboto"/>
              </a:rPr>
              <a:t>структуры</a:t>
            </a:r>
            <a:r>
              <a:rPr dirty="0" sz="1650" spc="-10">
                <a:latin typeface="Roboto"/>
                <a:cs typeface="Roboto"/>
              </a:rPr>
              <a:t> </a:t>
            </a:r>
            <a:r>
              <a:rPr dirty="0" sz="1650" spc="65">
                <a:latin typeface="Roboto"/>
                <a:cs typeface="Roboto"/>
              </a:rPr>
              <a:t>ФС</a:t>
            </a:r>
            <a:r>
              <a:rPr dirty="0" sz="1650" spc="-15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Linux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650">
              <a:latin typeface="Roboto"/>
              <a:cs typeface="Roboto"/>
            </a:endParaRPr>
          </a:p>
          <a:p>
            <a:pPr marL="764540" marR="253365" indent="-228600">
              <a:lnSpc>
                <a:spcPct val="114999"/>
              </a:lnSpc>
              <a:buFont typeface="Microsoft Sans Serif"/>
              <a:buChar char="●"/>
              <a:tabLst>
                <a:tab pos="764540" algn="l"/>
              </a:tabLst>
            </a:pPr>
            <a:r>
              <a:rPr dirty="0" sz="1300" spc="-10" b="1">
                <a:latin typeface="Roboto"/>
                <a:cs typeface="Roboto"/>
              </a:rPr>
              <a:t>Единый</a:t>
            </a:r>
            <a:r>
              <a:rPr dirty="0" sz="1300" spc="-4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корень</a:t>
            </a:r>
            <a:r>
              <a:rPr dirty="0" sz="1300" spc="-4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(</a:t>
            </a:r>
            <a:r>
              <a:rPr dirty="0" sz="1100" b="1">
                <a:solidFill>
                  <a:srgbClr val="178037"/>
                </a:solidFill>
                <a:latin typeface="Courier New"/>
                <a:cs typeface="Courier New"/>
              </a:rPr>
              <a:t>/</a:t>
            </a:r>
            <a:r>
              <a:rPr dirty="0" sz="1300" b="1">
                <a:latin typeface="Roboto"/>
                <a:cs typeface="Roboto"/>
              </a:rPr>
              <a:t>)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Вся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файловая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система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начинается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корневого каталога.</a:t>
            </a:r>
            <a:endParaRPr sz="1300">
              <a:latin typeface="Roboto"/>
              <a:cs typeface="Roboto"/>
            </a:endParaRPr>
          </a:p>
          <a:p>
            <a:pPr marL="764540" indent="-227965">
              <a:lnSpc>
                <a:spcPct val="100000"/>
              </a:lnSpc>
              <a:spcBef>
                <a:spcPts val="234"/>
              </a:spcBef>
              <a:buFont typeface="Microsoft Sans Serif"/>
              <a:buChar char="●"/>
              <a:tabLst>
                <a:tab pos="764540" algn="l"/>
              </a:tabLst>
            </a:pPr>
            <a:r>
              <a:rPr dirty="0" sz="1300" spc="-10" b="1">
                <a:latin typeface="Roboto"/>
                <a:cs typeface="Roboto"/>
              </a:rPr>
              <a:t>Монтирование</a:t>
            </a:r>
            <a:r>
              <a:rPr dirty="0" sz="1300" spc="-20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устройств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Дополнительные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разделы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диска,</a:t>
            </a:r>
            <a:endParaRPr sz="1300">
              <a:latin typeface="Roboto"/>
              <a:cs typeface="Roboto"/>
            </a:endParaRPr>
          </a:p>
          <a:p>
            <a:pPr marL="765175" marR="10160">
              <a:lnSpc>
                <a:spcPct val="114999"/>
              </a:lnSpc>
            </a:pPr>
            <a:r>
              <a:rPr dirty="0" sz="1300" spc="-90">
                <a:latin typeface="Roboto"/>
                <a:cs typeface="Roboto"/>
              </a:rPr>
              <a:t>USB-</a:t>
            </a:r>
            <a:r>
              <a:rPr dirty="0" sz="1300" spc="-30">
                <a:latin typeface="Roboto"/>
                <a:cs typeface="Roboto"/>
              </a:rPr>
              <a:t>флешки,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оптические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диски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другие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носители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подключаются </a:t>
            </a:r>
            <a:r>
              <a:rPr dirty="0" sz="1300" spc="-20">
                <a:latin typeface="Roboto"/>
                <a:cs typeface="Roboto"/>
              </a:rPr>
              <a:t>(монтируются)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определенным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каталогам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внутри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этого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единого </a:t>
            </a:r>
            <a:r>
              <a:rPr dirty="0" sz="1300">
                <a:latin typeface="Roboto"/>
                <a:cs typeface="Roboto"/>
              </a:rPr>
              <a:t>дерева,</a:t>
            </a:r>
            <a:r>
              <a:rPr dirty="0" sz="1300" spc="-8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называемым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точками</a:t>
            </a:r>
            <a:r>
              <a:rPr dirty="0" sz="1300" spc="-40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монтирования</a:t>
            </a:r>
            <a:r>
              <a:rPr dirty="0" sz="1300" spc="-40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(например,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/media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25">
                <a:latin typeface="Roboto"/>
                <a:cs typeface="Roboto"/>
              </a:rPr>
              <a:t>для </a:t>
            </a:r>
            <a:r>
              <a:rPr dirty="0" sz="1300">
                <a:latin typeface="Roboto"/>
                <a:cs typeface="Roboto"/>
              </a:rPr>
              <a:t>съемных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носителей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пользовательские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точки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монтирования).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Это </a:t>
            </a:r>
            <a:r>
              <a:rPr dirty="0" sz="1300">
                <a:latin typeface="Roboto"/>
                <a:cs typeface="Roboto"/>
              </a:rPr>
              <a:t>делает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пути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данным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более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стабильными,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независимо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от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того,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на </a:t>
            </a:r>
            <a:r>
              <a:rPr dirty="0" sz="1300" spc="-10">
                <a:latin typeface="Roboto"/>
                <a:cs typeface="Roboto"/>
              </a:rPr>
              <a:t>каком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физическом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устройстве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они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расположены.</a:t>
            </a:r>
            <a:endParaRPr sz="1300">
              <a:latin typeface="Roboto"/>
              <a:cs typeface="Roboto"/>
            </a:endParaRPr>
          </a:p>
          <a:p>
            <a:pPr marL="765175" marR="135255" indent="-228600">
              <a:lnSpc>
                <a:spcPct val="114999"/>
              </a:lnSpc>
              <a:buFont typeface="Microsoft Sans Serif"/>
              <a:buChar char="●"/>
              <a:tabLst>
                <a:tab pos="765175" algn="l"/>
              </a:tabLst>
            </a:pPr>
            <a:r>
              <a:rPr dirty="0" sz="1300" spc="-10" b="1">
                <a:latin typeface="Roboto"/>
                <a:cs typeface="Roboto"/>
              </a:rPr>
              <a:t>"Все</a:t>
            </a:r>
            <a:r>
              <a:rPr dirty="0" sz="1300" spc="-2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есть</a:t>
            </a:r>
            <a:r>
              <a:rPr dirty="0" sz="1300" spc="-20" b="1">
                <a:latin typeface="Roboto"/>
                <a:cs typeface="Roboto"/>
              </a:rPr>
              <a:t> </a:t>
            </a:r>
            <a:r>
              <a:rPr dirty="0" sz="1300" spc="-65" b="1">
                <a:latin typeface="Roboto"/>
                <a:cs typeface="Roboto"/>
              </a:rPr>
              <a:t>файл"</a:t>
            </a:r>
            <a:r>
              <a:rPr dirty="0" sz="1300" spc="-65">
                <a:latin typeface="Roboto"/>
                <a:cs typeface="Roboto"/>
              </a:rPr>
              <a:t>: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Linux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все,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включая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дисковые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накопители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и </a:t>
            </a:r>
            <a:r>
              <a:rPr dirty="0" sz="1300" spc="-20">
                <a:latin typeface="Roboto"/>
                <a:cs typeface="Roboto"/>
              </a:rPr>
              <a:t>устройства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(клавиатура,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экран,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принтер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т.д.),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представлено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виде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63716"/>
            <a:ext cx="6226810" cy="3554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5175" marR="563880">
              <a:lnSpc>
                <a:spcPct val="114999"/>
              </a:lnSpc>
              <a:spcBef>
                <a:spcPts val="100"/>
              </a:spcBef>
            </a:pPr>
            <a:r>
              <a:rPr dirty="0" sz="1300" spc="-30">
                <a:latin typeface="Roboto"/>
                <a:cs typeface="Roboto"/>
              </a:rPr>
              <a:t>файлов. </a:t>
            </a:r>
            <a:r>
              <a:rPr dirty="0" sz="1300">
                <a:latin typeface="Roboto"/>
                <a:cs typeface="Roboto"/>
              </a:rPr>
              <a:t>Это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ключевое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понятие,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позволяющее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единообразно </a:t>
            </a:r>
            <a:r>
              <a:rPr dirty="0" sz="1300" spc="-20">
                <a:latin typeface="Roboto"/>
                <a:cs typeface="Roboto"/>
              </a:rPr>
              <a:t>работать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различными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ресурсами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через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файловые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операции.</a:t>
            </a:r>
            <a:endParaRPr sz="1300">
              <a:latin typeface="Roboto"/>
              <a:cs typeface="Roboto"/>
            </a:endParaRPr>
          </a:p>
          <a:p>
            <a:pPr marL="764540" indent="-227965">
              <a:lnSpc>
                <a:spcPct val="100000"/>
              </a:lnSpc>
              <a:spcBef>
                <a:spcPts val="234"/>
              </a:spcBef>
              <a:buFont typeface="Microsoft Sans Serif"/>
              <a:buChar char="●"/>
              <a:tabLst>
                <a:tab pos="764540" algn="l"/>
              </a:tabLst>
            </a:pPr>
            <a:r>
              <a:rPr dirty="0" sz="1300" spc="-10" b="1">
                <a:latin typeface="Roboto"/>
                <a:cs typeface="Roboto"/>
              </a:rPr>
              <a:t>Иерархичность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ФС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Linux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имеет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единый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корень</a:t>
            </a:r>
            <a:r>
              <a:rPr dirty="0" sz="1300" spc="-20">
                <a:latin typeface="Roboto"/>
                <a:cs typeface="Roboto"/>
              </a:rPr>
              <a:t> (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/</a:t>
            </a:r>
            <a:r>
              <a:rPr dirty="0" sz="1300" spc="-20">
                <a:latin typeface="Roboto"/>
                <a:cs typeface="Roboto"/>
              </a:rPr>
              <a:t>).</a:t>
            </a:r>
            <a:endParaRPr sz="1300">
              <a:latin typeface="Roboto"/>
              <a:cs typeface="Roboto"/>
            </a:endParaRPr>
          </a:p>
          <a:p>
            <a:pPr marL="765175" marR="250190" indent="-228600">
              <a:lnSpc>
                <a:spcPct val="114999"/>
              </a:lnSpc>
              <a:buFont typeface="Microsoft Sans Serif"/>
              <a:buChar char="●"/>
              <a:tabLst>
                <a:tab pos="765175" algn="l"/>
              </a:tabLst>
            </a:pPr>
            <a:r>
              <a:rPr dirty="0" sz="1300" spc="-10" b="1">
                <a:latin typeface="Roboto"/>
                <a:cs typeface="Roboto"/>
              </a:rPr>
              <a:t>Неизменность</a:t>
            </a:r>
            <a:r>
              <a:rPr dirty="0" sz="1300" spc="-35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путей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Пути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данным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остаются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постоянными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даже </a:t>
            </a:r>
            <a:r>
              <a:rPr dirty="0" sz="1300">
                <a:latin typeface="Roboto"/>
                <a:cs typeface="Roboto"/>
              </a:rPr>
              <a:t>при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изменении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физической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структуры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дисков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благодаря монтированию.</a:t>
            </a:r>
            <a:endParaRPr sz="1300">
              <a:latin typeface="Roboto"/>
              <a:cs typeface="Roboto"/>
            </a:endParaRPr>
          </a:p>
          <a:p>
            <a:pPr marL="765175" marR="516255" indent="-228600">
              <a:lnSpc>
                <a:spcPct val="114999"/>
              </a:lnSpc>
              <a:buFont typeface="Microsoft Sans Serif"/>
              <a:buChar char="●"/>
              <a:tabLst>
                <a:tab pos="765175" algn="l"/>
              </a:tabLst>
            </a:pPr>
            <a:r>
              <a:rPr dirty="0" sz="1300" spc="-10" b="1">
                <a:latin typeface="Roboto"/>
                <a:cs typeface="Roboto"/>
              </a:rPr>
              <a:t>Регистрозависимость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Имена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файлов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каталогов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Linux </a:t>
            </a:r>
            <a:r>
              <a:rPr dirty="0" sz="1300" spc="-20">
                <a:latin typeface="Roboto"/>
                <a:cs typeface="Roboto"/>
              </a:rPr>
              <a:t>чувствительны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регистру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символов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(например,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Document.txt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50">
                <a:latin typeface="Roboto"/>
                <a:cs typeface="Roboto"/>
              </a:rPr>
              <a:t>и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document.txt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-35">
                <a:latin typeface="Roboto"/>
                <a:cs typeface="Roboto"/>
              </a:rPr>
              <a:t> это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два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разных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файла).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650">
                <a:latin typeface="Roboto"/>
                <a:cs typeface="Roboto"/>
              </a:rPr>
              <a:t>Типы</a:t>
            </a:r>
            <a:r>
              <a:rPr dirty="0" sz="1650" spc="15">
                <a:latin typeface="Roboto"/>
                <a:cs typeface="Roboto"/>
              </a:rPr>
              <a:t> </a:t>
            </a:r>
            <a:r>
              <a:rPr dirty="0" sz="1650" spc="-20">
                <a:latin typeface="Roboto"/>
                <a:cs typeface="Roboto"/>
              </a:rPr>
              <a:t>файлов</a:t>
            </a:r>
            <a:r>
              <a:rPr dirty="0" sz="1650" spc="1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в</a:t>
            </a:r>
            <a:r>
              <a:rPr dirty="0" sz="1650" spc="20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Linux</a:t>
            </a:r>
            <a:r>
              <a:rPr dirty="0" sz="1650" spc="1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(по</a:t>
            </a:r>
            <a:r>
              <a:rPr dirty="0" sz="1650" spc="20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первому</a:t>
            </a:r>
            <a:r>
              <a:rPr dirty="0" sz="1650" spc="1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символу</a:t>
            </a:r>
            <a:r>
              <a:rPr dirty="0" sz="1650" spc="20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в</a:t>
            </a:r>
            <a:r>
              <a:rPr dirty="0" sz="1650" spc="-50">
                <a:latin typeface="Roboto"/>
                <a:cs typeface="Roboto"/>
              </a:rPr>
              <a:t> </a:t>
            </a:r>
            <a:r>
              <a:rPr dirty="0" sz="1650" spc="-20">
                <a:latin typeface="Roboto"/>
                <a:cs typeface="Roboto"/>
              </a:rPr>
              <a:t>выводе</a:t>
            </a:r>
            <a:r>
              <a:rPr dirty="0" sz="1650" spc="-50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команды</a:t>
            </a:r>
            <a:endParaRPr sz="16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1400">
                <a:solidFill>
                  <a:srgbClr val="178037"/>
                </a:solidFill>
                <a:latin typeface="Courier New"/>
                <a:cs typeface="Courier New"/>
              </a:rPr>
              <a:t>ls</a:t>
            </a:r>
            <a:r>
              <a:rPr dirty="0" sz="1400" spc="-1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178037"/>
                </a:solidFill>
                <a:latin typeface="Courier New"/>
                <a:cs typeface="Courier New"/>
              </a:rPr>
              <a:t>-</a:t>
            </a:r>
            <a:r>
              <a:rPr dirty="0" sz="1400" spc="-25">
                <a:solidFill>
                  <a:srgbClr val="178037"/>
                </a:solidFill>
                <a:latin typeface="Courier New"/>
                <a:cs typeface="Courier New"/>
              </a:rPr>
              <a:t>l</a:t>
            </a:r>
            <a:r>
              <a:rPr dirty="0" sz="1650" spc="-25">
                <a:latin typeface="Roboto"/>
                <a:cs typeface="Roboto"/>
              </a:rPr>
              <a:t>)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6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выводе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команды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ls</a:t>
            </a:r>
            <a:r>
              <a:rPr dirty="0" sz="1100" spc="-6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-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l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первый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символ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строки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показывает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тип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файла: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9231095"/>
            <a:ext cx="269748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latin typeface="Roboto"/>
                <a:cs typeface="Roboto"/>
              </a:rPr>
              <a:t>Основные</a:t>
            </a:r>
            <a:r>
              <a:rPr dirty="0" sz="1650" spc="-3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каталоги</a:t>
            </a:r>
            <a:r>
              <a:rPr dirty="0" sz="1650" spc="-30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в</a:t>
            </a:r>
            <a:r>
              <a:rPr dirty="0" sz="1650" spc="-35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Linux</a:t>
            </a:r>
            <a:endParaRPr sz="165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922" y="4659509"/>
            <a:ext cx="6145355" cy="43424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63716"/>
            <a:ext cx="6232525" cy="8622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Вот</a:t>
            </a:r>
            <a:r>
              <a:rPr dirty="0" sz="1300" spc="7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краткое</a:t>
            </a:r>
            <a:r>
              <a:rPr dirty="0" sz="1300" spc="7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описание</a:t>
            </a:r>
            <a:r>
              <a:rPr dirty="0" sz="1300" spc="7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назначения</a:t>
            </a:r>
            <a:r>
              <a:rPr dirty="0" sz="1300" spc="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некоторых</a:t>
            </a:r>
            <a:r>
              <a:rPr dirty="0" sz="1300" spc="7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важных</a:t>
            </a:r>
            <a:r>
              <a:rPr dirty="0" sz="1300" spc="7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стандартных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каталогов </a:t>
            </a:r>
            <a:r>
              <a:rPr dirty="0" sz="1300">
                <a:latin typeface="Roboto"/>
                <a:cs typeface="Roboto"/>
              </a:rPr>
              <a:t>корневой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файловой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системы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Linux:</a:t>
            </a:r>
            <a:endParaRPr sz="1300">
              <a:latin typeface="Roboto"/>
              <a:cs typeface="Roboto"/>
            </a:endParaRPr>
          </a:p>
          <a:p>
            <a:pPr marL="764540" indent="-227965">
              <a:lnSpc>
                <a:spcPct val="100000"/>
              </a:lnSpc>
              <a:spcBef>
                <a:spcPts val="1535"/>
              </a:spcBef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4540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/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Корень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файловой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системы.</a:t>
            </a:r>
            <a:endParaRPr sz="1300">
              <a:latin typeface="Roboto"/>
              <a:cs typeface="Roboto"/>
            </a:endParaRPr>
          </a:p>
          <a:p>
            <a:pPr marL="765175" marR="44450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/bin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Основные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исполняемые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файлы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(бинарники)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пользовательских команд,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необходимые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работы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системы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однопользовательском </a:t>
            </a:r>
            <a:r>
              <a:rPr dirty="0" sz="1300">
                <a:latin typeface="Roboto"/>
                <a:cs typeface="Roboto"/>
              </a:rPr>
              <a:t>режиме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доступные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всем</a:t>
            </a:r>
            <a:r>
              <a:rPr dirty="0" sz="1300" spc="-10">
                <a:latin typeface="Roboto"/>
                <a:cs typeface="Roboto"/>
              </a:rPr>
              <a:t> пользователям.</a:t>
            </a:r>
            <a:endParaRPr sz="1300">
              <a:latin typeface="Roboto"/>
              <a:cs typeface="Roboto"/>
            </a:endParaRPr>
          </a:p>
          <a:p>
            <a:pPr marL="765175" marR="577850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/sbin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Системные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исполняемые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файлы,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предназначенные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для </a:t>
            </a:r>
            <a:r>
              <a:rPr dirty="0" sz="1300" spc="-10">
                <a:latin typeface="Roboto"/>
                <a:cs typeface="Roboto"/>
              </a:rPr>
              <a:t>системного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администрирования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(часто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доступны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только суперпользователю</a:t>
            </a:r>
            <a:r>
              <a:rPr dirty="0" sz="1300" spc="-6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root).</a:t>
            </a:r>
            <a:endParaRPr sz="1300">
              <a:latin typeface="Roboto"/>
              <a:cs typeface="Roboto"/>
            </a:endParaRPr>
          </a:p>
          <a:p>
            <a:pPr marL="765175" marR="847090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/etc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Конфигурационные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файлы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системы</a:t>
            </a:r>
            <a:r>
              <a:rPr dirty="0" sz="1300">
                <a:latin typeface="Roboto"/>
                <a:cs typeface="Roboto"/>
              </a:rPr>
              <a:t> и </a:t>
            </a:r>
            <a:r>
              <a:rPr dirty="0" sz="1300" spc="-10">
                <a:latin typeface="Roboto"/>
                <a:cs typeface="Roboto"/>
              </a:rPr>
              <a:t>установленных программ.</a:t>
            </a:r>
            <a:endParaRPr sz="1300">
              <a:latin typeface="Roboto"/>
              <a:cs typeface="Roboto"/>
            </a:endParaRPr>
          </a:p>
          <a:p>
            <a:pPr marL="764540" indent="-227965">
              <a:lnSpc>
                <a:spcPct val="100000"/>
              </a:lnSpc>
              <a:spcBef>
                <a:spcPts val="234"/>
              </a:spcBef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4540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/dev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Файлы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устройств.</a:t>
            </a:r>
            <a:endParaRPr sz="1300">
              <a:latin typeface="Roboto"/>
              <a:cs typeface="Roboto"/>
            </a:endParaRPr>
          </a:p>
          <a:p>
            <a:pPr marL="765175" marR="203200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/proc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Виртуальная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файловая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система,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содержащая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информацию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о </a:t>
            </a:r>
            <a:r>
              <a:rPr dirty="0" sz="1300" spc="-10">
                <a:latin typeface="Roboto"/>
                <a:cs typeface="Roboto"/>
              </a:rPr>
              <a:t>запущенных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процессах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ресурсах</a:t>
            </a:r>
            <a:r>
              <a:rPr dirty="0" sz="1300" spc="-20">
                <a:latin typeface="Roboto"/>
                <a:cs typeface="Roboto"/>
              </a:rPr>
              <a:t> системы</a:t>
            </a:r>
            <a:r>
              <a:rPr dirty="0" sz="1300" spc="-25">
                <a:latin typeface="Roboto"/>
                <a:cs typeface="Roboto"/>
              </a:rPr>
              <a:t> (создается</a:t>
            </a:r>
            <a:r>
              <a:rPr dirty="0" sz="1300" spc="-20">
                <a:latin typeface="Roboto"/>
                <a:cs typeface="Roboto"/>
              </a:rPr>
              <a:t> ядром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в </a:t>
            </a:r>
            <a:r>
              <a:rPr dirty="0" sz="1300" spc="-10">
                <a:latin typeface="Roboto"/>
                <a:cs typeface="Roboto"/>
              </a:rPr>
              <a:t>оперативной</a:t>
            </a:r>
            <a:r>
              <a:rPr dirty="0" sz="1300" spc="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памяти).</a:t>
            </a:r>
            <a:endParaRPr sz="1300">
              <a:latin typeface="Roboto"/>
              <a:cs typeface="Roboto"/>
            </a:endParaRPr>
          </a:p>
          <a:p>
            <a:pPr marL="765175" marR="27305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/sys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Виртуальная </a:t>
            </a:r>
            <a:r>
              <a:rPr dirty="0" sz="1300" spc="-30">
                <a:latin typeface="Roboto"/>
                <a:cs typeface="Roboto"/>
              </a:rPr>
              <a:t>файловая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система,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предоставляющая </a:t>
            </a:r>
            <a:r>
              <a:rPr dirty="0" sz="1300" spc="-35">
                <a:latin typeface="Roboto"/>
                <a:cs typeface="Roboto"/>
              </a:rPr>
              <a:t>интерфейс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к </a:t>
            </a:r>
            <a:r>
              <a:rPr dirty="0" sz="1300" spc="-20">
                <a:latin typeface="Roboto"/>
                <a:cs typeface="Roboto"/>
              </a:rPr>
              <a:t>устройствам, </a:t>
            </a:r>
            <a:r>
              <a:rPr dirty="0" sz="1300" spc="-10">
                <a:latin typeface="Roboto"/>
                <a:cs typeface="Roboto"/>
              </a:rPr>
              <a:t>подключенным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системе,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ядру.</a:t>
            </a:r>
            <a:endParaRPr sz="1300">
              <a:latin typeface="Roboto"/>
              <a:cs typeface="Roboto"/>
            </a:endParaRPr>
          </a:p>
          <a:p>
            <a:pPr marL="765175" marR="716280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/var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Переменные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данные.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Содержит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файлы,</a:t>
            </a:r>
            <a:r>
              <a:rPr dirty="0" sz="1300" spc="-20">
                <a:latin typeface="Roboto"/>
                <a:cs typeface="Roboto"/>
              </a:rPr>
              <a:t> которые </a:t>
            </a:r>
            <a:r>
              <a:rPr dirty="0" sz="1300" spc="-10">
                <a:latin typeface="Roboto"/>
                <a:cs typeface="Roboto"/>
              </a:rPr>
              <a:t>часто </a:t>
            </a:r>
            <a:r>
              <a:rPr dirty="0" sz="1300" spc="-25">
                <a:latin typeface="Roboto"/>
                <a:cs typeface="Roboto"/>
              </a:rPr>
              <a:t>изменяются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процессе</a:t>
            </a:r>
            <a:r>
              <a:rPr dirty="0" sz="1300" spc="-10">
                <a:latin typeface="Roboto"/>
                <a:cs typeface="Roboto"/>
              </a:rPr>
              <a:t> работы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системы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(логи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/var/log</a:t>
            </a:r>
            <a:r>
              <a:rPr dirty="0" sz="1300" spc="-10">
                <a:latin typeface="Roboto"/>
                <a:cs typeface="Roboto"/>
              </a:rPr>
              <a:t>, </a:t>
            </a:r>
            <a:r>
              <a:rPr dirty="0" sz="1300" spc="-25">
                <a:latin typeface="Roboto"/>
                <a:cs typeface="Roboto"/>
              </a:rPr>
              <a:t>кеш</a:t>
            </a:r>
            <a:endParaRPr sz="1300">
              <a:latin typeface="Roboto"/>
              <a:cs typeface="Roboto"/>
            </a:endParaRPr>
          </a:p>
          <a:p>
            <a:pPr marL="765175">
              <a:lnSpc>
                <a:spcPct val="100000"/>
              </a:lnSpc>
              <a:spcBef>
                <a:spcPts val="234"/>
              </a:spcBef>
            </a:pP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/var/cache</a:t>
            </a:r>
            <a:r>
              <a:rPr dirty="0" sz="1300" spc="-10">
                <a:latin typeface="Roboto"/>
                <a:cs typeface="Roboto"/>
              </a:rPr>
              <a:t>,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очереди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печати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т.п.).</a:t>
            </a:r>
            <a:endParaRPr sz="1300">
              <a:latin typeface="Roboto"/>
              <a:cs typeface="Roboto"/>
            </a:endParaRPr>
          </a:p>
          <a:p>
            <a:pPr marL="765175" marR="128270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/tmp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Временные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файлы.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Доступен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записи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всем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пользователям, содержимое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часто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удаляется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перезагрузке.</a:t>
            </a:r>
            <a:endParaRPr sz="1300">
              <a:latin typeface="Roboto"/>
              <a:cs typeface="Roboto"/>
            </a:endParaRPr>
          </a:p>
          <a:p>
            <a:pPr marL="765175" marR="766445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/usr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Содержит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основную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часть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программного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обеспечения </a:t>
            </a:r>
            <a:r>
              <a:rPr dirty="0" sz="1300" spc="-20">
                <a:latin typeface="Roboto"/>
                <a:cs typeface="Roboto"/>
              </a:rPr>
              <a:t>пользователя,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библиотеки,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документацию.</a:t>
            </a:r>
            <a:endParaRPr sz="1300">
              <a:latin typeface="Roboto"/>
              <a:cs typeface="Roboto"/>
            </a:endParaRPr>
          </a:p>
          <a:p>
            <a:pPr marL="764540" marR="299085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4540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/home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Домашние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каталоги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пользователей.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каждом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подкаталоге </a:t>
            </a:r>
            <a:r>
              <a:rPr dirty="0" sz="1300">
                <a:latin typeface="Roboto"/>
                <a:cs typeface="Roboto"/>
              </a:rPr>
              <a:t>(например,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/home/user1</a:t>
            </a:r>
            <a:r>
              <a:rPr dirty="0" sz="1300" spc="-10">
                <a:latin typeface="Roboto"/>
                <a:cs typeface="Roboto"/>
              </a:rPr>
              <a:t>) </a:t>
            </a:r>
            <a:r>
              <a:rPr dirty="0" sz="1300" spc="-25">
                <a:latin typeface="Roboto"/>
                <a:cs typeface="Roboto"/>
              </a:rPr>
              <a:t>хранятся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личные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файлы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настройки конкретного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пользователя.</a:t>
            </a:r>
            <a:endParaRPr sz="1300">
              <a:latin typeface="Roboto"/>
              <a:cs typeface="Roboto"/>
            </a:endParaRPr>
          </a:p>
          <a:p>
            <a:pPr marL="765175" marR="345440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/boot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Файлы,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необходимые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загрузки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операционной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системы </a:t>
            </a:r>
            <a:r>
              <a:rPr dirty="0" sz="1300" spc="-20">
                <a:latin typeface="Roboto"/>
                <a:cs typeface="Roboto"/>
              </a:rPr>
              <a:t>(загрузчик,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ядро).</a:t>
            </a:r>
            <a:endParaRPr sz="1300">
              <a:latin typeface="Roboto"/>
              <a:cs typeface="Roboto"/>
            </a:endParaRPr>
          </a:p>
          <a:p>
            <a:pPr marL="765175" marR="479425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/lib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/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/lib64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Системные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библиотеки,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необходимые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работы программ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из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/bin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/sbin</a:t>
            </a:r>
            <a:r>
              <a:rPr dirty="0" sz="1300" spc="-10">
                <a:latin typeface="Roboto"/>
                <a:cs typeface="Roboto"/>
              </a:rPr>
              <a:t>.</a:t>
            </a:r>
            <a:endParaRPr sz="1300">
              <a:latin typeface="Roboto"/>
              <a:cs typeface="Roboto"/>
            </a:endParaRPr>
          </a:p>
          <a:p>
            <a:pPr marL="765175" marR="143510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/opt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10">
                <a:latin typeface="Roboto"/>
                <a:cs typeface="Roboto"/>
              </a:rPr>
              <a:t> Дополнительное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программное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обеспечение,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устанавливаемое сторонними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производителями.</a:t>
            </a:r>
            <a:endParaRPr sz="1300">
              <a:latin typeface="Roboto"/>
              <a:cs typeface="Roboto"/>
            </a:endParaRPr>
          </a:p>
          <a:p>
            <a:pPr marL="765175" marR="92075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/mnt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Традиционное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место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временного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монтирования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файловых систем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(например,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сетевых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дисков,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других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разделов).</a:t>
            </a:r>
            <a:endParaRPr sz="1300">
              <a:latin typeface="Roboto"/>
              <a:cs typeface="Roboto"/>
            </a:endParaRPr>
          </a:p>
          <a:p>
            <a:pPr marL="765175" marR="220345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/media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Точка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монтирования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съемных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носителей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70">
                <a:latin typeface="Roboto"/>
                <a:cs typeface="Roboto"/>
              </a:rPr>
              <a:t>(USB-</a:t>
            </a:r>
            <a:r>
              <a:rPr dirty="0" sz="1300" spc="-10">
                <a:latin typeface="Roboto"/>
                <a:cs typeface="Roboto"/>
              </a:rPr>
              <a:t>флешек, CD/DVD)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автоматическом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монтировании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графической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среде.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63716"/>
            <a:ext cx="6232525" cy="8874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5175" marR="145415" indent="-228600">
              <a:lnSpc>
                <a:spcPct val="114999"/>
              </a:lnSpc>
              <a:spcBef>
                <a:spcPts val="100"/>
              </a:spcBef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/srv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Данные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сервисов,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предоставляемых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системой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(например, </a:t>
            </a:r>
            <a:r>
              <a:rPr dirty="0" sz="1300" spc="-50">
                <a:latin typeface="Roboto"/>
                <a:cs typeface="Roboto"/>
              </a:rPr>
              <a:t>файлы</a:t>
            </a:r>
            <a:r>
              <a:rPr dirty="0" sz="1300" spc="40">
                <a:latin typeface="Roboto"/>
                <a:cs typeface="Roboto"/>
              </a:rPr>
              <a:t> </a:t>
            </a:r>
            <a:r>
              <a:rPr dirty="0" sz="1300" spc="-70">
                <a:latin typeface="Roboto"/>
                <a:cs typeface="Roboto"/>
              </a:rPr>
              <a:t>веб-</a:t>
            </a:r>
            <a:r>
              <a:rPr dirty="0" sz="1300" spc="-10">
                <a:latin typeface="Roboto"/>
                <a:cs typeface="Roboto"/>
              </a:rPr>
              <a:t>сервера).</a:t>
            </a:r>
            <a:endParaRPr sz="1300">
              <a:latin typeface="Roboto"/>
              <a:cs typeface="Roboto"/>
            </a:endParaRPr>
          </a:p>
          <a:p>
            <a:pPr marL="765175" marR="286385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/run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Временные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файлы,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содержащие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информацию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запущенных </a:t>
            </a:r>
            <a:r>
              <a:rPr dirty="0" sz="1300">
                <a:latin typeface="Roboto"/>
                <a:cs typeface="Roboto"/>
              </a:rPr>
              <a:t>процессах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момента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последней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загрузки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системы.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  <a:buFont typeface="Microsoft Sans Serif"/>
              <a:buChar char="●"/>
            </a:pPr>
            <a:endParaRPr sz="13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650">
                <a:latin typeface="Roboto"/>
                <a:cs typeface="Roboto"/>
              </a:rPr>
              <a:t>Имена</a:t>
            </a:r>
            <a:r>
              <a:rPr dirty="0" sz="1650" spc="-20">
                <a:latin typeface="Roboto"/>
                <a:cs typeface="Roboto"/>
              </a:rPr>
              <a:t> </a:t>
            </a:r>
            <a:r>
              <a:rPr dirty="0" sz="1650" spc="-30">
                <a:latin typeface="Roboto"/>
                <a:cs typeface="Roboto"/>
              </a:rPr>
              <a:t>файлов</a:t>
            </a:r>
            <a:r>
              <a:rPr dirty="0" sz="1650" spc="-1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и</a:t>
            </a:r>
            <a:r>
              <a:rPr dirty="0" sz="1650" spc="-1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папок</a:t>
            </a:r>
            <a:r>
              <a:rPr dirty="0" sz="1650" spc="-1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в</a:t>
            </a:r>
            <a:r>
              <a:rPr dirty="0" sz="1650" spc="-20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Linux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65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300">
                <a:latin typeface="Roboto"/>
                <a:cs typeface="Roboto"/>
              </a:rPr>
              <a:t>Ограничения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особенности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имен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файлов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каталогов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Linux:</a:t>
            </a:r>
            <a:endParaRPr sz="1300">
              <a:latin typeface="Roboto"/>
              <a:cs typeface="Roboto"/>
            </a:endParaRPr>
          </a:p>
          <a:p>
            <a:pPr marL="765175" marR="62230" indent="-228600">
              <a:lnSpc>
                <a:spcPct val="114999"/>
              </a:lnSpc>
              <a:spcBef>
                <a:spcPts val="1300"/>
              </a:spcBef>
              <a:buFont typeface="Microsoft Sans Serif"/>
              <a:buChar char="●"/>
              <a:tabLst>
                <a:tab pos="765175" algn="l"/>
              </a:tabLst>
            </a:pPr>
            <a:r>
              <a:rPr dirty="0" sz="1300" spc="-10">
                <a:latin typeface="Roboto"/>
                <a:cs typeface="Roboto"/>
              </a:rPr>
              <a:t>Максимальная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длина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имени</a:t>
            </a:r>
            <a:r>
              <a:rPr dirty="0" sz="1300" spc="-25">
                <a:latin typeface="Roboto"/>
                <a:cs typeface="Roboto"/>
              </a:rPr>
              <a:t> файла/каталога </a:t>
            </a:r>
            <a:r>
              <a:rPr dirty="0" sz="1300">
                <a:latin typeface="Roboto"/>
                <a:cs typeface="Roboto"/>
              </a:rPr>
              <a:t>обычно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составляет</a:t>
            </a:r>
            <a:r>
              <a:rPr dirty="0" sz="1300" spc="-25">
                <a:latin typeface="Roboto"/>
                <a:cs typeface="Roboto"/>
              </a:rPr>
              <a:t> 255 </a:t>
            </a:r>
            <a:r>
              <a:rPr dirty="0" sz="1300" spc="-10">
                <a:latin typeface="Roboto"/>
                <a:cs typeface="Roboto"/>
              </a:rPr>
              <a:t>символов.</a:t>
            </a:r>
            <a:endParaRPr sz="1300">
              <a:latin typeface="Roboto"/>
              <a:cs typeface="Roboto"/>
            </a:endParaRPr>
          </a:p>
          <a:p>
            <a:pPr marL="765175" marR="895985" indent="-228600">
              <a:lnSpc>
                <a:spcPct val="114999"/>
              </a:lnSpc>
              <a:buFont typeface="Microsoft Sans Serif"/>
              <a:buChar char="●"/>
              <a:tabLst>
                <a:tab pos="765175" algn="l"/>
              </a:tabLst>
            </a:pPr>
            <a:r>
              <a:rPr dirty="0" sz="1300">
                <a:latin typeface="Roboto"/>
                <a:cs typeface="Roboto"/>
              </a:rPr>
              <a:t>Символ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/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latin typeface="Roboto"/>
                <a:cs typeface="Roboto"/>
              </a:rPr>
              <a:t>запрещен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именах,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так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как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он</a:t>
            </a:r>
            <a:r>
              <a:rPr dirty="0" sz="1300" spc="-20">
                <a:latin typeface="Roboto"/>
                <a:cs typeface="Roboto"/>
              </a:rPr>
              <a:t> используется </a:t>
            </a:r>
            <a:r>
              <a:rPr dirty="0" sz="1300" spc="-25">
                <a:latin typeface="Roboto"/>
                <a:cs typeface="Roboto"/>
              </a:rPr>
              <a:t>как </a:t>
            </a:r>
            <a:r>
              <a:rPr dirty="0" sz="1300" spc="-10">
                <a:latin typeface="Roboto"/>
                <a:cs typeface="Roboto"/>
              </a:rPr>
              <a:t>разделитель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компонентов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пути.</a:t>
            </a:r>
            <a:endParaRPr sz="1300">
              <a:latin typeface="Roboto"/>
              <a:cs typeface="Roboto"/>
            </a:endParaRPr>
          </a:p>
          <a:p>
            <a:pPr marL="765175" marR="1048385" indent="-228600">
              <a:lnSpc>
                <a:spcPct val="114999"/>
              </a:lnSpc>
              <a:buFont typeface="Microsoft Sans Serif"/>
              <a:buChar char="●"/>
              <a:tabLst>
                <a:tab pos="765175" algn="l"/>
              </a:tabLst>
            </a:pPr>
            <a:r>
              <a:rPr dirty="0" sz="1300">
                <a:latin typeface="Roboto"/>
                <a:cs typeface="Roboto"/>
              </a:rPr>
              <a:t>Имя,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начинающееся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точки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.</a:t>
            </a:r>
            <a:r>
              <a:rPr dirty="0" sz="1300">
                <a:latin typeface="Roboto"/>
                <a:cs typeface="Roboto"/>
              </a:rPr>
              <a:t>),</a:t>
            </a:r>
            <a:r>
              <a:rPr dirty="0" sz="1300" spc="-20">
                <a:latin typeface="Roboto"/>
                <a:cs typeface="Roboto"/>
              </a:rPr>
              <a:t> считается скрытым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не </a:t>
            </a:r>
            <a:r>
              <a:rPr dirty="0" sz="1300" spc="-20">
                <a:latin typeface="Roboto"/>
                <a:cs typeface="Roboto"/>
              </a:rPr>
              <a:t>отображается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</a:t>
            </a:r>
            <a:r>
              <a:rPr dirty="0" sz="1300" spc="-10">
                <a:latin typeface="Roboto"/>
                <a:cs typeface="Roboto"/>
              </a:rPr>
              <a:t> умолчанию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командой </a:t>
            </a:r>
            <a:r>
              <a:rPr dirty="0" sz="1100" spc="-25">
                <a:solidFill>
                  <a:srgbClr val="178037"/>
                </a:solidFill>
                <a:latin typeface="Courier New"/>
                <a:cs typeface="Courier New"/>
              </a:rPr>
              <a:t>ls</a:t>
            </a:r>
            <a:r>
              <a:rPr dirty="0" sz="1300" spc="-25">
                <a:latin typeface="Roboto"/>
                <a:cs typeface="Roboto"/>
              </a:rPr>
              <a:t>.</a:t>
            </a:r>
            <a:endParaRPr sz="1300">
              <a:latin typeface="Roboto"/>
              <a:cs typeface="Roboto"/>
            </a:endParaRPr>
          </a:p>
          <a:p>
            <a:pPr marL="764540" indent="-227965">
              <a:lnSpc>
                <a:spcPct val="100000"/>
              </a:lnSpc>
              <a:spcBef>
                <a:spcPts val="234"/>
              </a:spcBef>
              <a:buFont typeface="Microsoft Sans Serif"/>
              <a:buChar char="●"/>
              <a:tabLst>
                <a:tab pos="764540" algn="l"/>
              </a:tabLst>
            </a:pPr>
            <a:r>
              <a:rPr dirty="0" sz="1300">
                <a:latin typeface="Roboto"/>
                <a:cs typeface="Roboto"/>
              </a:rPr>
              <a:t>Имена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чувствительны</a:t>
            </a:r>
            <a:r>
              <a:rPr dirty="0" sz="1300">
                <a:latin typeface="Roboto"/>
                <a:cs typeface="Roboto"/>
              </a:rPr>
              <a:t> к </a:t>
            </a:r>
            <a:r>
              <a:rPr dirty="0" sz="1300" spc="-10">
                <a:latin typeface="Roboto"/>
                <a:cs typeface="Roboto"/>
              </a:rPr>
              <a:t>регистру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(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file.txt</a:t>
            </a:r>
            <a:r>
              <a:rPr dirty="0" sz="1100" spc="-33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≠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File.txt</a:t>
            </a:r>
            <a:r>
              <a:rPr dirty="0" sz="1300" spc="-10">
                <a:latin typeface="Roboto"/>
                <a:cs typeface="Roboto"/>
              </a:rPr>
              <a:t>).</a:t>
            </a:r>
            <a:endParaRPr sz="1300">
              <a:latin typeface="Roboto"/>
              <a:cs typeface="Roboto"/>
            </a:endParaRPr>
          </a:p>
          <a:p>
            <a:pPr marL="765175" marR="34290" indent="-228600">
              <a:lnSpc>
                <a:spcPct val="114999"/>
              </a:lnSpc>
              <a:buFont typeface="Microsoft Sans Serif"/>
              <a:buChar char="●"/>
              <a:tabLst>
                <a:tab pos="765175" algn="l"/>
              </a:tabLst>
            </a:pPr>
            <a:r>
              <a:rPr dirty="0" sz="1300">
                <a:latin typeface="Roboto"/>
                <a:cs typeface="Roboto"/>
              </a:rPr>
              <a:t>Пробелы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именах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допускаются,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но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считаются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плохим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тоном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в </a:t>
            </a:r>
            <a:r>
              <a:rPr dirty="0" sz="1300" spc="-20">
                <a:latin typeface="Roboto"/>
                <a:cs typeface="Roboto"/>
              </a:rPr>
              <a:t>профессиональной </a:t>
            </a:r>
            <a:r>
              <a:rPr dirty="0" sz="1300">
                <a:latin typeface="Roboto"/>
                <a:cs typeface="Roboto"/>
              </a:rPr>
              <a:t>среде.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Использование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пробелов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некоторых </a:t>
            </a:r>
            <a:r>
              <a:rPr dirty="0" sz="1300">
                <a:latin typeface="Roboto"/>
                <a:cs typeface="Roboto"/>
              </a:rPr>
              <a:t>спецсимволов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допустимо,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но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не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рекомендуется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удобства</a:t>
            </a:r>
            <a:r>
              <a:rPr dirty="0" sz="1300" spc="-10">
                <a:latin typeface="Roboto"/>
                <a:cs typeface="Roboto"/>
              </a:rPr>
              <a:t> работы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10">
                <a:latin typeface="Roboto"/>
                <a:cs typeface="Roboto"/>
              </a:rPr>
              <a:t> командной строке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(требуют</a:t>
            </a:r>
            <a:r>
              <a:rPr dirty="0" sz="1300" spc="-10">
                <a:latin typeface="Roboto"/>
                <a:cs typeface="Roboto"/>
              </a:rPr>
              <a:t> экранирования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-10">
                <a:latin typeface="Roboto"/>
                <a:cs typeface="Roboto"/>
              </a:rPr>
              <a:t> заключения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в </a:t>
            </a:r>
            <a:r>
              <a:rPr dirty="0" sz="1300" spc="-10">
                <a:latin typeface="Roboto"/>
                <a:cs typeface="Roboto"/>
              </a:rPr>
              <a:t>кавычки)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совместимости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копировании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другие</a:t>
            </a:r>
            <a:r>
              <a:rPr dirty="0" sz="1300" spc="500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файловые</a:t>
            </a:r>
            <a:r>
              <a:rPr dirty="0" sz="1300" spc="-10">
                <a:latin typeface="Roboto"/>
                <a:cs typeface="Roboto"/>
              </a:rPr>
              <a:t> системы.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650">
                <a:latin typeface="Roboto"/>
                <a:cs typeface="Roboto"/>
              </a:rPr>
              <a:t>Что</a:t>
            </a:r>
            <a:r>
              <a:rPr dirty="0" sz="1650" spc="-95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такое</a:t>
            </a:r>
            <a:r>
              <a:rPr dirty="0" sz="1650" spc="-90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Inode?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650">
              <a:latin typeface="Roboto"/>
              <a:cs typeface="Roboto"/>
            </a:endParaRPr>
          </a:p>
          <a:p>
            <a:pPr algn="just" marL="12700" marR="5080">
              <a:lnSpc>
                <a:spcPct val="114999"/>
              </a:lnSpc>
            </a:pPr>
            <a:r>
              <a:rPr dirty="0" sz="1300" b="1">
                <a:latin typeface="Roboto"/>
                <a:cs typeface="Roboto"/>
              </a:rPr>
              <a:t>Inode</a:t>
            </a:r>
            <a:r>
              <a:rPr dirty="0" sz="1300" spc="60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(индексный</a:t>
            </a:r>
            <a:r>
              <a:rPr dirty="0" sz="1300" spc="60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дескриптор)</a:t>
            </a:r>
            <a:r>
              <a:rPr dirty="0" sz="1300" spc="-5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— это ключевая </a:t>
            </a:r>
            <a:r>
              <a:rPr dirty="0" sz="1300" spc="-20">
                <a:latin typeface="Roboto"/>
                <a:cs typeface="Roboto"/>
              </a:rPr>
              <a:t>структура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данных в </a:t>
            </a:r>
            <a:r>
              <a:rPr dirty="0" sz="1300" spc="-10">
                <a:latin typeface="Roboto"/>
                <a:cs typeface="Roboto"/>
              </a:rPr>
              <a:t>файловых </a:t>
            </a:r>
            <a:r>
              <a:rPr dirty="0" sz="1300">
                <a:latin typeface="Roboto"/>
                <a:cs typeface="Roboto"/>
              </a:rPr>
              <a:t>системах</a:t>
            </a:r>
            <a:r>
              <a:rPr dirty="0" sz="1300" spc="4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Linux</a:t>
            </a:r>
            <a:r>
              <a:rPr dirty="0" sz="1300" spc="4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(и</a:t>
            </a:r>
            <a:r>
              <a:rPr dirty="0" sz="1300" spc="4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других</a:t>
            </a:r>
            <a:r>
              <a:rPr dirty="0" sz="1300" spc="484">
                <a:latin typeface="Roboto"/>
                <a:cs typeface="Roboto"/>
              </a:rPr>
              <a:t> </a:t>
            </a:r>
            <a:r>
              <a:rPr dirty="0" sz="1300" spc="-70">
                <a:latin typeface="Roboto"/>
                <a:cs typeface="Roboto"/>
              </a:rPr>
              <a:t>UNIX-</a:t>
            </a:r>
            <a:r>
              <a:rPr dirty="0" sz="1300">
                <a:latin typeface="Roboto"/>
                <a:cs typeface="Roboto"/>
              </a:rPr>
              <a:t>подобных</a:t>
            </a:r>
            <a:r>
              <a:rPr dirty="0" sz="1300" spc="4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систем),</a:t>
            </a:r>
            <a:r>
              <a:rPr dirty="0" sz="1300" spc="4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которая</a:t>
            </a:r>
            <a:r>
              <a:rPr dirty="0" sz="1300" spc="4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действует</a:t>
            </a:r>
            <a:r>
              <a:rPr dirty="0" sz="1300" spc="41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как "паспорт"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"карточка"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каждого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файла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каталога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диске.</a:t>
            </a:r>
            <a:endParaRPr sz="1300">
              <a:latin typeface="Roboto"/>
              <a:cs typeface="Roboto"/>
            </a:endParaRPr>
          </a:p>
          <a:p>
            <a:pPr algn="just" marL="12700" marR="5080">
              <a:lnSpc>
                <a:spcPct val="114999"/>
              </a:lnSpc>
              <a:spcBef>
                <a:spcPts val="1300"/>
              </a:spcBef>
            </a:pPr>
            <a:r>
              <a:rPr dirty="0" sz="1300">
                <a:latin typeface="Roboto"/>
                <a:cs typeface="Roboto"/>
              </a:rPr>
              <a:t>Inode</a:t>
            </a:r>
            <a:r>
              <a:rPr dirty="0" sz="1300" spc="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хранит</a:t>
            </a:r>
            <a:r>
              <a:rPr dirty="0" sz="1300" spc="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всю</a:t>
            </a:r>
            <a:r>
              <a:rPr dirty="0" sz="1300" spc="80">
                <a:latin typeface="Roboto"/>
                <a:cs typeface="Roboto"/>
              </a:rPr>
              <a:t> </a:t>
            </a:r>
            <a:r>
              <a:rPr dirty="0" sz="1300" spc="-20" b="1">
                <a:latin typeface="Roboto"/>
                <a:cs typeface="Roboto"/>
              </a:rPr>
              <a:t>метаинформацию</a:t>
            </a:r>
            <a:r>
              <a:rPr dirty="0" sz="1300" spc="15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об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объекте</a:t>
            </a:r>
            <a:r>
              <a:rPr dirty="0" sz="1300" spc="2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файловой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системы,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кроме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его </a:t>
            </a:r>
            <a:r>
              <a:rPr dirty="0" sz="1300">
                <a:latin typeface="Roboto"/>
                <a:cs typeface="Roboto"/>
              </a:rPr>
              <a:t>имени:</a:t>
            </a:r>
            <a:r>
              <a:rPr dirty="0" sz="1300" spc="1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*</a:t>
            </a:r>
            <a:r>
              <a:rPr dirty="0" sz="1300" spc="1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Тип</a:t>
            </a:r>
            <a:r>
              <a:rPr dirty="0" sz="1300" spc="1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файла</a:t>
            </a:r>
            <a:r>
              <a:rPr dirty="0" sz="1300" spc="1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(обычный</a:t>
            </a:r>
            <a:r>
              <a:rPr dirty="0" sz="1300" spc="7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файл,</a:t>
            </a:r>
            <a:r>
              <a:rPr dirty="0" sz="1300" spc="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каталог,</a:t>
            </a:r>
            <a:r>
              <a:rPr dirty="0" sz="1300" spc="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ссылка</a:t>
            </a:r>
            <a:r>
              <a:rPr dirty="0" sz="1300" spc="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т.д.).</a:t>
            </a:r>
            <a:r>
              <a:rPr dirty="0" sz="1300" spc="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*</a:t>
            </a:r>
            <a:r>
              <a:rPr dirty="0" sz="1300" spc="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Права</a:t>
            </a:r>
            <a:r>
              <a:rPr dirty="0" sz="1300" spc="7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доступа (кто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может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читать,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писать,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выполнять).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*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Владельца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25">
                <a:latin typeface="Roboto"/>
                <a:cs typeface="Roboto"/>
              </a:rPr>
              <a:t> группу.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*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Размер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файла.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* </a:t>
            </a:r>
            <a:r>
              <a:rPr dirty="0" sz="1300">
                <a:latin typeface="Roboto"/>
                <a:cs typeface="Roboto"/>
              </a:rPr>
              <a:t>Время</a:t>
            </a:r>
            <a:r>
              <a:rPr dirty="0" sz="1300" spc="2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создания,</a:t>
            </a:r>
            <a:r>
              <a:rPr dirty="0" sz="1300" spc="2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последнего</a:t>
            </a:r>
            <a:r>
              <a:rPr dirty="0" sz="1300" spc="2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доступа</a:t>
            </a:r>
            <a:r>
              <a:rPr dirty="0" sz="1300" spc="2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2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модификации.</a:t>
            </a:r>
            <a:r>
              <a:rPr dirty="0" sz="1300" spc="229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*</a:t>
            </a:r>
            <a:r>
              <a:rPr dirty="0" sz="1300" spc="2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1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самое</a:t>
            </a:r>
            <a:r>
              <a:rPr dirty="0" sz="1300" spc="1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главное</a:t>
            </a:r>
            <a:r>
              <a:rPr dirty="0" sz="1300" spc="16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— </a:t>
            </a:r>
            <a:r>
              <a:rPr dirty="0" sz="1300" b="1">
                <a:latin typeface="Roboto"/>
                <a:cs typeface="Roboto"/>
              </a:rPr>
              <a:t>указатели</a:t>
            </a:r>
            <a:r>
              <a:rPr dirty="0" sz="1300" spc="19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на</a:t>
            </a:r>
            <a:r>
              <a:rPr dirty="0" sz="1300" spc="19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блоки</a:t>
            </a:r>
            <a:r>
              <a:rPr dirty="0" sz="1300" spc="19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данных</a:t>
            </a:r>
            <a:r>
              <a:rPr dirty="0" sz="1300" spc="19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на</a:t>
            </a:r>
            <a:r>
              <a:rPr dirty="0" sz="1300" spc="19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диске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19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где</a:t>
            </a:r>
            <a:r>
              <a:rPr dirty="0" sz="1300" spc="19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физически</a:t>
            </a:r>
            <a:r>
              <a:rPr dirty="0" sz="1300" spc="19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хранится</a:t>
            </a:r>
            <a:r>
              <a:rPr dirty="0" sz="1300" spc="1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содержимое файла.</a:t>
            </a:r>
            <a:endParaRPr sz="1300">
              <a:latin typeface="Roboto"/>
              <a:cs typeface="Roboto"/>
            </a:endParaRPr>
          </a:p>
          <a:p>
            <a:pPr algn="just" marL="12700" marR="13970">
              <a:lnSpc>
                <a:spcPct val="114999"/>
              </a:lnSpc>
              <a:spcBef>
                <a:spcPts val="1300"/>
              </a:spcBef>
            </a:pPr>
            <a:r>
              <a:rPr dirty="0" sz="1300">
                <a:latin typeface="Roboto"/>
                <a:cs typeface="Roboto"/>
              </a:rPr>
              <a:t>Каждому</a:t>
            </a:r>
            <a:r>
              <a:rPr dirty="0" sz="1300" spc="13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Inode</a:t>
            </a:r>
            <a:r>
              <a:rPr dirty="0" sz="1300" spc="1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присваивается</a:t>
            </a:r>
            <a:r>
              <a:rPr dirty="0" sz="1300" spc="135">
                <a:latin typeface="Roboto"/>
                <a:cs typeface="Roboto"/>
              </a:rPr>
              <a:t>  </a:t>
            </a:r>
            <a:r>
              <a:rPr dirty="0" sz="1300" b="1">
                <a:latin typeface="Roboto"/>
                <a:cs typeface="Roboto"/>
              </a:rPr>
              <a:t>уникальный</a:t>
            </a:r>
            <a:r>
              <a:rPr dirty="0" sz="1300" spc="140" b="1">
                <a:latin typeface="Roboto"/>
                <a:cs typeface="Roboto"/>
              </a:rPr>
              <a:t>  </a:t>
            </a:r>
            <a:r>
              <a:rPr dirty="0" sz="1300" b="1">
                <a:latin typeface="Roboto"/>
                <a:cs typeface="Roboto"/>
              </a:rPr>
              <a:t>номер</a:t>
            </a:r>
            <a:r>
              <a:rPr dirty="0" sz="1300" spc="140" b="1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13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рамках</a:t>
            </a:r>
            <a:r>
              <a:rPr dirty="0" sz="1300" spc="105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конкретной </a:t>
            </a:r>
            <a:r>
              <a:rPr dirty="0" sz="1300" spc="-25">
                <a:latin typeface="Roboto"/>
                <a:cs typeface="Roboto"/>
              </a:rPr>
              <a:t>файловой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системы.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63716"/>
            <a:ext cx="6231255" cy="8771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715">
              <a:lnSpc>
                <a:spcPct val="114999"/>
              </a:lnSpc>
              <a:spcBef>
                <a:spcPts val="100"/>
              </a:spcBef>
            </a:pPr>
            <a:r>
              <a:rPr dirty="0" sz="1300" b="1">
                <a:latin typeface="Roboto"/>
                <a:cs typeface="Roboto"/>
              </a:rPr>
              <a:t>Имя</a:t>
            </a:r>
            <a:r>
              <a:rPr dirty="0" sz="1300" spc="120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файла</a:t>
            </a:r>
            <a:r>
              <a:rPr dirty="0" sz="1300" spc="120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каталоге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это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просто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ссылка</a:t>
            </a:r>
            <a:r>
              <a:rPr dirty="0" sz="1300" spc="55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"ярлык",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который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связывает </a:t>
            </a:r>
            <a:r>
              <a:rPr dirty="0" sz="1300">
                <a:latin typeface="Roboto"/>
                <a:cs typeface="Roboto"/>
              </a:rPr>
              <a:t>понятное</a:t>
            </a:r>
            <a:r>
              <a:rPr dirty="0" sz="1300" spc="1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человеку</a:t>
            </a:r>
            <a:r>
              <a:rPr dirty="0" sz="1300" spc="1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имя</a:t>
            </a:r>
            <a:r>
              <a:rPr dirty="0" sz="1300" spc="1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17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соответствующим</a:t>
            </a:r>
            <a:r>
              <a:rPr dirty="0" sz="1300" spc="1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номером</a:t>
            </a:r>
            <a:r>
              <a:rPr dirty="0" sz="1300" spc="1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Inode.</a:t>
            </a:r>
            <a:r>
              <a:rPr dirty="0" sz="1300" spc="1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Когда</a:t>
            </a:r>
            <a:r>
              <a:rPr dirty="0" sz="1300" spc="170">
                <a:latin typeface="Roboto"/>
                <a:cs typeface="Roboto"/>
              </a:rPr>
              <a:t>  </a:t>
            </a:r>
            <a:r>
              <a:rPr dirty="0" sz="1300" spc="-25">
                <a:latin typeface="Roboto"/>
                <a:cs typeface="Roboto"/>
              </a:rPr>
              <a:t>вы </a:t>
            </a:r>
            <a:r>
              <a:rPr dirty="0" sz="1300">
                <a:latin typeface="Roboto"/>
                <a:cs typeface="Roboto"/>
              </a:rPr>
              <a:t>обращаетесь</a:t>
            </a:r>
            <a:r>
              <a:rPr dirty="0" sz="1300" spc="2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26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файлу</a:t>
            </a:r>
            <a:r>
              <a:rPr dirty="0" sz="1300" spc="2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</a:t>
            </a:r>
            <a:r>
              <a:rPr dirty="0" sz="1300" spc="26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имени,</a:t>
            </a:r>
            <a:r>
              <a:rPr dirty="0" sz="1300" spc="2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система</a:t>
            </a:r>
            <a:r>
              <a:rPr dirty="0" sz="1300" spc="26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использует</a:t>
            </a:r>
            <a:r>
              <a:rPr dirty="0" sz="1300" spc="20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это</a:t>
            </a:r>
            <a:r>
              <a:rPr dirty="0" sz="1300" spc="20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имя,</a:t>
            </a:r>
            <a:r>
              <a:rPr dirty="0" sz="1300" spc="20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чтобы</a:t>
            </a:r>
            <a:r>
              <a:rPr dirty="0" sz="1300" spc="20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найти </a:t>
            </a:r>
            <a:r>
              <a:rPr dirty="0" sz="1300">
                <a:latin typeface="Roboto"/>
                <a:cs typeface="Roboto"/>
              </a:rPr>
              <a:t>нужный</a:t>
            </a:r>
            <a:r>
              <a:rPr dirty="0" sz="1300" spc="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Inode,</a:t>
            </a:r>
            <a:r>
              <a:rPr dirty="0" sz="1300" spc="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а</a:t>
            </a:r>
            <a:r>
              <a:rPr dirty="0" sz="1300" spc="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затем</a:t>
            </a:r>
            <a:r>
              <a:rPr dirty="0" sz="1300" spc="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информации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из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Inode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находит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сами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данные</a:t>
            </a:r>
            <a:r>
              <a:rPr dirty="0" sz="1300" spc="-40">
                <a:latin typeface="Roboto"/>
                <a:cs typeface="Roboto"/>
              </a:rPr>
              <a:t> файла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на </a:t>
            </a:r>
            <a:r>
              <a:rPr dirty="0" sz="1300" spc="-10">
                <a:latin typeface="Roboto"/>
                <a:cs typeface="Roboto"/>
              </a:rPr>
              <a:t>диске.</a:t>
            </a:r>
            <a:endParaRPr sz="1300">
              <a:latin typeface="Roboto"/>
              <a:cs typeface="Roboto"/>
            </a:endParaRPr>
          </a:p>
          <a:p>
            <a:pPr algn="just" marL="12700" marR="5080">
              <a:lnSpc>
                <a:spcPct val="114999"/>
              </a:lnSpc>
              <a:spcBef>
                <a:spcPts val="1300"/>
              </a:spcBef>
            </a:pPr>
            <a:r>
              <a:rPr dirty="0" sz="1300">
                <a:latin typeface="Roboto"/>
                <a:cs typeface="Roboto"/>
              </a:rPr>
              <a:t>Несколько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жестких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ссылок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могут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указывать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один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тот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же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Inode,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потому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что </a:t>
            </a:r>
            <a:r>
              <a:rPr dirty="0" sz="1300">
                <a:latin typeface="Roboto"/>
                <a:cs typeface="Roboto"/>
              </a:rPr>
              <a:t>они</a:t>
            </a:r>
            <a:r>
              <a:rPr dirty="0" sz="1300" spc="6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являются</a:t>
            </a:r>
            <a:r>
              <a:rPr dirty="0" sz="1300" spc="6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разными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именами, ссылающимися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одну и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ту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же </a:t>
            </a:r>
            <a:r>
              <a:rPr dirty="0" sz="1300" spc="-25">
                <a:latin typeface="Roboto"/>
                <a:cs typeface="Roboto"/>
              </a:rPr>
              <a:t>"карточку"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с </a:t>
            </a:r>
            <a:r>
              <a:rPr dirty="0" sz="1300" spc="-25">
                <a:latin typeface="Roboto"/>
                <a:cs typeface="Roboto"/>
              </a:rPr>
              <a:t>информацией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об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одних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тех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же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данных.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650">
                <a:latin typeface="Roboto"/>
                <a:cs typeface="Roboto"/>
              </a:rPr>
              <a:t>Управление</a:t>
            </a:r>
            <a:r>
              <a:rPr dirty="0" sz="1650" spc="-40">
                <a:latin typeface="Roboto"/>
                <a:cs typeface="Roboto"/>
              </a:rPr>
              <a:t> </a:t>
            </a:r>
            <a:r>
              <a:rPr dirty="0" sz="1650" spc="-30">
                <a:latin typeface="Roboto"/>
                <a:cs typeface="Roboto"/>
              </a:rPr>
              <a:t>файловыми</a:t>
            </a:r>
            <a:r>
              <a:rPr dirty="0" sz="1650" spc="-35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системами</a:t>
            </a:r>
            <a:r>
              <a:rPr dirty="0" sz="1650" spc="-40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на</a:t>
            </a:r>
            <a:r>
              <a:rPr dirty="0" sz="1650" spc="-3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уровне</a:t>
            </a:r>
            <a:r>
              <a:rPr dirty="0" sz="1650" spc="-35">
                <a:latin typeface="Roboto"/>
                <a:cs typeface="Roboto"/>
              </a:rPr>
              <a:t> </a:t>
            </a:r>
            <a:r>
              <a:rPr dirty="0" sz="1650" spc="-25">
                <a:latin typeface="Roboto"/>
                <a:cs typeface="Roboto"/>
              </a:rPr>
              <a:t>ОС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650">
              <a:latin typeface="Roboto"/>
              <a:cs typeface="Roboto"/>
            </a:endParaRPr>
          </a:p>
          <a:p>
            <a:pPr marL="765175" marR="13970" indent="-228600">
              <a:lnSpc>
                <a:spcPct val="114999"/>
              </a:lnSpc>
              <a:buFont typeface="Microsoft Sans Serif"/>
              <a:buChar char="●"/>
              <a:tabLst>
                <a:tab pos="765175" algn="l"/>
              </a:tabLst>
            </a:pPr>
            <a:r>
              <a:rPr dirty="0" sz="1300" spc="-10" b="1">
                <a:latin typeface="Roboto"/>
                <a:cs typeface="Roboto"/>
              </a:rPr>
              <a:t>/etc/fstab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Этот</a:t>
            </a:r>
            <a:r>
              <a:rPr dirty="0" sz="1300" spc="-25">
                <a:latin typeface="Roboto"/>
                <a:cs typeface="Roboto"/>
              </a:rPr>
              <a:t> конфигурационный </a:t>
            </a:r>
            <a:r>
              <a:rPr dirty="0" sz="1300" spc="-50">
                <a:latin typeface="Roboto"/>
                <a:cs typeface="Roboto"/>
              </a:rPr>
              <a:t>файл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содержит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информацию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о </a:t>
            </a:r>
            <a:r>
              <a:rPr dirty="0" sz="1300" spc="-30">
                <a:latin typeface="Roboto"/>
                <a:cs typeface="Roboto"/>
              </a:rPr>
              <a:t>файловых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системах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параметрах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их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автоматического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монтирования (подключения)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загрузке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системы. </a:t>
            </a:r>
            <a:r>
              <a:rPr dirty="0" sz="1300">
                <a:latin typeface="Roboto"/>
                <a:cs typeface="Roboto"/>
              </a:rPr>
              <a:t>Каждая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строка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описывает</a:t>
            </a:r>
            <a:r>
              <a:rPr dirty="0" sz="1300" spc="50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одну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файловую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систему,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указывая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устройство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(или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его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UUID),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точку монтирования,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тип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ФС,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опции</a:t>
            </a:r>
            <a:r>
              <a:rPr dirty="0" sz="1300" spc="-10">
                <a:latin typeface="Roboto"/>
                <a:cs typeface="Roboto"/>
              </a:rPr>
              <a:t> монтирования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(например,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defaults</a:t>
            </a:r>
            <a:r>
              <a:rPr dirty="0" sz="1300" spc="-10">
                <a:latin typeface="Roboto"/>
                <a:cs typeface="Roboto"/>
              </a:rPr>
              <a:t>,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auto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-6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noauto</a:t>
            </a:r>
            <a:r>
              <a:rPr dirty="0" sz="1300" spc="-10">
                <a:latin typeface="Roboto"/>
                <a:cs typeface="Roboto"/>
              </a:rPr>
              <a:t>,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ro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235">
                <a:latin typeface="Roboto"/>
                <a:cs typeface="Roboto"/>
              </a:rPr>
              <a:t>-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только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чтение,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rw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235">
                <a:latin typeface="Roboto"/>
                <a:cs typeface="Roboto"/>
              </a:rPr>
              <a:t>-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чтение-</a:t>
            </a:r>
            <a:r>
              <a:rPr dirty="0" sz="1300">
                <a:latin typeface="Roboto"/>
                <a:cs typeface="Roboto"/>
              </a:rPr>
              <a:t>запись)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параметры </a:t>
            </a:r>
            <a:r>
              <a:rPr dirty="0" sz="1300">
                <a:latin typeface="Roboto"/>
                <a:cs typeface="Roboto"/>
              </a:rPr>
              <a:t>проверки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резервного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копирования.</a:t>
            </a:r>
            <a:endParaRPr sz="1300">
              <a:latin typeface="Roboto"/>
              <a:cs typeface="Roboto"/>
            </a:endParaRPr>
          </a:p>
          <a:p>
            <a:pPr marL="765175" marR="12700" indent="-228600">
              <a:lnSpc>
                <a:spcPct val="114999"/>
              </a:lnSpc>
              <a:buFont typeface="Microsoft Sans Serif"/>
              <a:buChar char="●"/>
              <a:tabLst>
                <a:tab pos="765175" algn="l"/>
              </a:tabLst>
            </a:pPr>
            <a:r>
              <a:rPr dirty="0" sz="1300" b="1">
                <a:latin typeface="Roboto"/>
                <a:cs typeface="Roboto"/>
              </a:rPr>
              <a:t>fsck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Утилита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file</a:t>
            </a:r>
            <a:r>
              <a:rPr dirty="0" sz="1100" spc="-8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system</a:t>
            </a:r>
            <a:r>
              <a:rPr dirty="0" sz="1100" spc="-8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check</a:t>
            </a:r>
            <a:r>
              <a:rPr dirty="0" sz="1300">
                <a:latin typeface="Roboto"/>
                <a:cs typeface="Roboto"/>
              </a:rPr>
              <a:t>),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используемая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проверки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и </a:t>
            </a:r>
            <a:r>
              <a:rPr dirty="0" sz="1300" spc="-10">
                <a:latin typeface="Roboto"/>
                <a:cs typeface="Roboto"/>
              </a:rPr>
              <a:t>восстановления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целостности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файловых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систем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предмет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ошибок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и </a:t>
            </a:r>
            <a:r>
              <a:rPr dirty="0" sz="1300" spc="-10">
                <a:latin typeface="Roboto"/>
                <a:cs typeface="Roboto"/>
              </a:rPr>
              <a:t>несоответствий.</a:t>
            </a:r>
            <a:r>
              <a:rPr dirty="0" sz="1300" spc="-55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Важно:</a:t>
            </a:r>
            <a:r>
              <a:rPr dirty="0" sz="1300" spc="-25" b="1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Применять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fsck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latin typeface="Roboto"/>
                <a:cs typeface="Roboto"/>
              </a:rPr>
              <a:t>следует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только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к </a:t>
            </a:r>
            <a:r>
              <a:rPr dirty="0" sz="1300" spc="-20" b="1">
                <a:latin typeface="Roboto"/>
                <a:cs typeface="Roboto"/>
              </a:rPr>
              <a:t>размонтированным</a:t>
            </a:r>
            <a:r>
              <a:rPr dirty="0" sz="1300" spc="-10" b="1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файловым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системам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(за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исключением</a:t>
            </a:r>
            <a:r>
              <a:rPr dirty="0" sz="1300" spc="-10">
                <a:latin typeface="Roboto"/>
                <a:cs typeface="Roboto"/>
              </a:rPr>
              <a:t> корневой </a:t>
            </a:r>
            <a:r>
              <a:rPr dirty="0" sz="1300">
                <a:latin typeface="Roboto"/>
                <a:cs typeface="Roboto"/>
              </a:rPr>
              <a:t>ФС,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которую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можно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проверять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режиме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только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чтения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во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время загрузки).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  <a:buFont typeface="Microsoft Sans Serif"/>
              <a:buChar char="●"/>
            </a:pPr>
            <a:endParaRPr sz="13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650">
                <a:latin typeface="Roboto"/>
                <a:cs typeface="Roboto"/>
              </a:rPr>
              <a:t>Основные</a:t>
            </a:r>
            <a:r>
              <a:rPr dirty="0" sz="1650" spc="-55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команды</a:t>
            </a:r>
            <a:r>
              <a:rPr dirty="0" sz="1650" spc="-55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Linux</a:t>
            </a:r>
            <a:r>
              <a:rPr dirty="0" sz="1650" spc="-5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для</a:t>
            </a:r>
            <a:r>
              <a:rPr dirty="0" sz="1650" spc="-55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работы</a:t>
            </a:r>
            <a:r>
              <a:rPr dirty="0" sz="1650" spc="-5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с</a:t>
            </a:r>
            <a:r>
              <a:rPr dirty="0" sz="1650" spc="-55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файлами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650">
              <a:latin typeface="Roboto"/>
              <a:cs typeface="Roboto"/>
            </a:endParaRPr>
          </a:p>
          <a:p>
            <a:pPr marL="764540" indent="-227965">
              <a:lnSpc>
                <a:spcPct val="100000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4540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ls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Вывести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список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файлов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каталогов.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ls</a:t>
            </a:r>
            <a:r>
              <a:rPr dirty="0" sz="1100" spc="-2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-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l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235">
                <a:latin typeface="Roboto"/>
                <a:cs typeface="Roboto"/>
              </a:rPr>
              <a:t>-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подробный</a:t>
            </a:r>
            <a:r>
              <a:rPr dirty="0" sz="1300" spc="-10">
                <a:latin typeface="Roboto"/>
                <a:cs typeface="Roboto"/>
              </a:rPr>
              <a:t> список)</a:t>
            </a:r>
            <a:endParaRPr sz="1300">
              <a:latin typeface="Roboto"/>
              <a:cs typeface="Roboto"/>
            </a:endParaRPr>
          </a:p>
          <a:p>
            <a:pPr marL="764540" indent="-227965">
              <a:lnSpc>
                <a:spcPct val="100000"/>
              </a:lnSpc>
              <a:spcBef>
                <a:spcPts val="234"/>
              </a:spcBef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4540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cd</a:t>
            </a:r>
            <a:r>
              <a:rPr dirty="0" sz="1100" spc="-6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[каталог]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Сменить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текущий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каталог.</a:t>
            </a:r>
            <a:endParaRPr sz="1300">
              <a:latin typeface="Roboto"/>
              <a:cs typeface="Roboto"/>
            </a:endParaRPr>
          </a:p>
          <a:p>
            <a:pPr marL="764540" indent="-22796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4540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pwd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Показать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полный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путь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текущему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каталогу.</a:t>
            </a:r>
            <a:endParaRPr sz="1300">
              <a:latin typeface="Roboto"/>
              <a:cs typeface="Roboto"/>
            </a:endParaRPr>
          </a:p>
          <a:p>
            <a:pPr marL="764540" indent="-22796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4540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mkdir</a:t>
            </a:r>
            <a:r>
              <a:rPr dirty="0" sz="1100" spc="-5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[каталог]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Создать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новый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каталог.</a:t>
            </a:r>
            <a:endParaRPr sz="1300">
              <a:latin typeface="Roboto"/>
              <a:cs typeface="Roboto"/>
            </a:endParaRPr>
          </a:p>
          <a:p>
            <a:pPr marL="765175" marR="18415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rm</a:t>
            </a:r>
            <a:r>
              <a:rPr dirty="0" sz="1100" spc="-6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[файл/каталог]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Удалить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файл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пустой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каталог.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rm</a:t>
            </a:r>
            <a:r>
              <a:rPr dirty="0" sz="1100" spc="-2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-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r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235">
                <a:latin typeface="Roboto"/>
                <a:cs typeface="Roboto"/>
              </a:rPr>
              <a:t>-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удалить каталог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содержимым).</a:t>
            </a:r>
            <a:endParaRPr sz="1300">
              <a:latin typeface="Roboto"/>
              <a:cs typeface="Roboto"/>
            </a:endParaRPr>
          </a:p>
          <a:p>
            <a:pPr marL="765175" marR="596265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mv</a:t>
            </a:r>
            <a:r>
              <a:rPr dirty="0" sz="1100" spc="-4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[источник]</a:t>
            </a:r>
            <a:r>
              <a:rPr dirty="0" sz="1100" spc="-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[назначение]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Переместить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переименовать файл/каталог.</a:t>
            </a:r>
            <a:endParaRPr sz="1300">
              <a:latin typeface="Roboto"/>
              <a:cs typeface="Roboto"/>
            </a:endParaRPr>
          </a:p>
          <a:p>
            <a:pPr marL="764540" indent="-22796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4540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cp</a:t>
            </a:r>
            <a:r>
              <a:rPr dirty="0" sz="1100" spc="-6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[источник]</a:t>
            </a:r>
            <a:r>
              <a:rPr dirty="0" sz="1100" spc="-6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[назначение]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Скопировать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файл/каталог.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5575" y="863716"/>
            <a:ext cx="5702935" cy="184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233679" indent="-228600">
              <a:lnSpc>
                <a:spcPct val="114999"/>
              </a:lnSpc>
              <a:spcBef>
                <a:spcPts val="100"/>
              </a:spcBef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241300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cat</a:t>
            </a:r>
            <a:r>
              <a:rPr dirty="0" sz="1100" spc="-2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[файл]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Вывести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содержимое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файла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экран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(или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объединить </a:t>
            </a:r>
            <a:r>
              <a:rPr dirty="0" sz="1300">
                <a:latin typeface="Roboto"/>
                <a:cs typeface="Roboto"/>
              </a:rPr>
              <a:t>несколько</a:t>
            </a:r>
            <a:r>
              <a:rPr dirty="0" sz="1300" spc="-7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файлов).</a:t>
            </a:r>
            <a:endParaRPr sz="1300">
              <a:latin typeface="Roboto"/>
              <a:cs typeface="Roboto"/>
            </a:endParaRPr>
          </a:p>
          <a:p>
            <a:pPr marL="241300" marR="292735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241300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grep</a:t>
            </a:r>
            <a:r>
              <a:rPr dirty="0" sz="1100" spc="-5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[шаблон]</a:t>
            </a:r>
            <a:r>
              <a:rPr dirty="0" sz="1100" spc="-5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[файл]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Найти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строки,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соответствующие </a:t>
            </a:r>
            <a:r>
              <a:rPr dirty="0" sz="1300" spc="-10">
                <a:latin typeface="Roboto"/>
                <a:cs typeface="Roboto"/>
              </a:rPr>
              <a:t>шаблону,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в </a:t>
            </a:r>
            <a:r>
              <a:rPr dirty="0" sz="1300" spc="-30">
                <a:latin typeface="Roboto"/>
                <a:cs typeface="Roboto"/>
              </a:rPr>
              <a:t>файле.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grep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 -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i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235">
                <a:latin typeface="Roboto"/>
                <a:cs typeface="Roboto"/>
              </a:rPr>
              <a:t>-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игнорировать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регистр).</a:t>
            </a:r>
            <a:endParaRPr sz="1300">
              <a:latin typeface="Roboto"/>
              <a:cs typeface="Roboto"/>
            </a:endParaRPr>
          </a:p>
          <a:p>
            <a:pPr marL="240665" indent="-227965">
              <a:lnSpc>
                <a:spcPct val="100000"/>
              </a:lnSpc>
              <a:spcBef>
                <a:spcPts val="234"/>
              </a:spcBef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24066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ln</a:t>
            </a:r>
            <a:r>
              <a:rPr dirty="0" sz="1100" spc="-5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[цель]</a:t>
            </a:r>
            <a:r>
              <a:rPr dirty="0" sz="1100" spc="-4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[ссылка]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Создать </a:t>
            </a:r>
            <a:r>
              <a:rPr dirty="0" sz="1300">
                <a:latin typeface="Roboto"/>
                <a:cs typeface="Roboto"/>
              </a:rPr>
              <a:t>жесткую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ссылку.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ln</a:t>
            </a:r>
            <a:r>
              <a:rPr dirty="0" sz="1100" spc="-4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-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s</a:t>
            </a:r>
            <a:r>
              <a:rPr dirty="0" sz="1100" spc="-4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[цель]</a:t>
            </a:r>
            <a:r>
              <a:rPr dirty="0" sz="1100" spc="-5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[ссылка]</a:t>
            </a:r>
            <a:endParaRPr sz="11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234"/>
              </a:spcBef>
            </a:pPr>
            <a:r>
              <a:rPr dirty="0" sz="1300" spc="-235">
                <a:latin typeface="Roboto"/>
                <a:cs typeface="Roboto"/>
              </a:rPr>
              <a:t>-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создать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символическую ссылку).</a:t>
            </a:r>
            <a:endParaRPr sz="1300">
              <a:latin typeface="Roboto"/>
              <a:cs typeface="Roboto"/>
            </a:endParaRPr>
          </a:p>
          <a:p>
            <a:pPr marL="241300" marR="146685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241300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touch</a:t>
            </a:r>
            <a:r>
              <a:rPr dirty="0" sz="1100" spc="-5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[файл]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Создать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пустой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файл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обновить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время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последнего доступа/модификации.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3241333"/>
            <a:ext cx="512572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>
                <a:latin typeface="Roboto"/>
                <a:cs typeface="Roboto"/>
              </a:rPr>
              <a:t>Права</a:t>
            </a:r>
            <a:r>
              <a:rPr dirty="0" sz="2650" spc="-50">
                <a:latin typeface="Roboto"/>
                <a:cs typeface="Roboto"/>
              </a:rPr>
              <a:t> </a:t>
            </a:r>
            <a:r>
              <a:rPr dirty="0" sz="2650" spc="-30">
                <a:latin typeface="Roboto"/>
                <a:cs typeface="Roboto"/>
              </a:rPr>
              <a:t>доступа</a:t>
            </a:r>
            <a:r>
              <a:rPr dirty="0" sz="2650" spc="-50">
                <a:latin typeface="Roboto"/>
                <a:cs typeface="Roboto"/>
              </a:rPr>
              <a:t> </a:t>
            </a:r>
            <a:r>
              <a:rPr dirty="0" sz="2650">
                <a:latin typeface="Roboto"/>
                <a:cs typeface="Roboto"/>
              </a:rPr>
              <a:t>к</a:t>
            </a:r>
            <a:r>
              <a:rPr dirty="0" sz="2650" spc="-50">
                <a:latin typeface="Roboto"/>
                <a:cs typeface="Roboto"/>
              </a:rPr>
              <a:t> </a:t>
            </a:r>
            <a:r>
              <a:rPr dirty="0" sz="2650" spc="-70">
                <a:latin typeface="Roboto"/>
                <a:cs typeface="Roboto"/>
              </a:rPr>
              <a:t>файлам</a:t>
            </a:r>
            <a:r>
              <a:rPr dirty="0" sz="2650" spc="-50">
                <a:latin typeface="Roboto"/>
                <a:cs typeface="Roboto"/>
              </a:rPr>
              <a:t> </a:t>
            </a:r>
            <a:r>
              <a:rPr dirty="0" sz="2650">
                <a:latin typeface="Roboto"/>
                <a:cs typeface="Roboto"/>
              </a:rPr>
              <a:t>в</a:t>
            </a:r>
            <a:r>
              <a:rPr dirty="0" sz="2650" spc="-50">
                <a:latin typeface="Roboto"/>
                <a:cs typeface="Roboto"/>
              </a:rPr>
              <a:t> </a:t>
            </a:r>
            <a:r>
              <a:rPr dirty="0" sz="2650" spc="-10">
                <a:latin typeface="Roboto"/>
                <a:cs typeface="Roboto"/>
              </a:rPr>
              <a:t>Linux</a:t>
            </a:r>
            <a:endParaRPr sz="26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4001509"/>
            <a:ext cx="6232525" cy="38214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9525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Linux</a:t>
            </a:r>
            <a:r>
              <a:rPr dirty="0" sz="1300" spc="19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использует</a:t>
            </a:r>
            <a:r>
              <a:rPr dirty="0" sz="1300" spc="19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классическую</a:t>
            </a:r>
            <a:r>
              <a:rPr dirty="0" sz="1300" spc="19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систему</a:t>
            </a:r>
            <a:r>
              <a:rPr dirty="0" sz="1300" spc="19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прав</a:t>
            </a:r>
            <a:r>
              <a:rPr dirty="0" sz="1300" spc="19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доступа,</a:t>
            </a:r>
            <a:r>
              <a:rPr dirty="0" sz="1300" spc="19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основанную</a:t>
            </a:r>
            <a:r>
              <a:rPr dirty="0" sz="1300" spc="195">
                <a:latin typeface="Roboto"/>
                <a:cs typeface="Roboto"/>
              </a:rPr>
              <a:t>  </a:t>
            </a:r>
            <a:r>
              <a:rPr dirty="0" sz="1300" spc="-25">
                <a:latin typeface="Roboto"/>
                <a:cs typeface="Roboto"/>
              </a:rPr>
              <a:t>на </a:t>
            </a:r>
            <a:r>
              <a:rPr dirty="0" sz="1300">
                <a:latin typeface="Roboto"/>
                <a:cs typeface="Roboto"/>
              </a:rPr>
              <a:t>понятиях</a:t>
            </a:r>
            <a:r>
              <a:rPr dirty="0" sz="1300" spc="200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владельца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200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группы</a:t>
            </a:r>
            <a:r>
              <a:rPr dirty="0" sz="1300" spc="200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204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остальных</a:t>
            </a:r>
            <a:r>
              <a:rPr dirty="0" sz="1300" spc="135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пользователей.</a:t>
            </a:r>
            <a:r>
              <a:rPr dirty="0" sz="1300" spc="1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Права</a:t>
            </a:r>
            <a:r>
              <a:rPr dirty="0" sz="1300" spc="1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хранятся</a:t>
            </a:r>
            <a:r>
              <a:rPr dirty="0" sz="1300" spc="14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в </a:t>
            </a:r>
            <a:r>
              <a:rPr dirty="0" sz="1300">
                <a:latin typeface="Roboto"/>
                <a:cs typeface="Roboto"/>
              </a:rPr>
              <a:t>специальном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поле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атрибутов</a:t>
            </a:r>
            <a:r>
              <a:rPr dirty="0" sz="1300" spc="-10">
                <a:latin typeface="Roboto"/>
                <a:cs typeface="Roboto"/>
              </a:rPr>
              <a:t> файла.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650" spc="-25">
                <a:latin typeface="Roboto"/>
                <a:cs typeface="Roboto"/>
              </a:rPr>
              <a:t>Структура</a:t>
            </a:r>
            <a:r>
              <a:rPr dirty="0" sz="1650" spc="-4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поля</a:t>
            </a:r>
            <a:r>
              <a:rPr dirty="0" sz="1650" spc="-40">
                <a:latin typeface="Roboto"/>
                <a:cs typeface="Roboto"/>
              </a:rPr>
              <a:t> </a:t>
            </a:r>
            <a:r>
              <a:rPr dirty="0" sz="1650" spc="-20">
                <a:latin typeface="Roboto"/>
                <a:cs typeface="Roboto"/>
              </a:rPr>
              <a:t>атрибутов</a:t>
            </a:r>
            <a:r>
              <a:rPr dirty="0" sz="1650" spc="-40">
                <a:latin typeface="Roboto"/>
                <a:cs typeface="Roboto"/>
              </a:rPr>
              <a:t> </a:t>
            </a:r>
            <a:r>
              <a:rPr dirty="0" sz="1650" spc="-20">
                <a:latin typeface="Roboto"/>
                <a:cs typeface="Roboto"/>
              </a:rPr>
              <a:t>файла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650">
              <a:latin typeface="Roboto"/>
              <a:cs typeface="Roboto"/>
            </a:endParaRPr>
          </a:p>
          <a:p>
            <a:pPr algn="just" marL="12700" marR="5080">
              <a:lnSpc>
                <a:spcPct val="114999"/>
              </a:lnSpc>
            </a:pPr>
            <a:r>
              <a:rPr dirty="0" sz="1300">
                <a:latin typeface="Roboto"/>
                <a:cs typeface="Roboto"/>
              </a:rPr>
              <a:t>Поле</a:t>
            </a:r>
            <a:r>
              <a:rPr dirty="0" sz="1300" spc="20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атрибутов</a:t>
            </a:r>
            <a:r>
              <a:rPr dirty="0" sz="1300" spc="20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файла</a:t>
            </a:r>
            <a:r>
              <a:rPr dirty="0" sz="1300" spc="20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включает</a:t>
            </a:r>
            <a:r>
              <a:rPr dirty="0" sz="1300" spc="1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информацию</a:t>
            </a:r>
            <a:r>
              <a:rPr dirty="0" sz="1300" spc="1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</a:t>
            </a:r>
            <a:r>
              <a:rPr dirty="0" sz="1300" spc="1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его</a:t>
            </a:r>
            <a:r>
              <a:rPr dirty="0" sz="1300" spc="1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типе</a:t>
            </a:r>
            <a:r>
              <a:rPr dirty="0" sz="1300" spc="1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1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правах</a:t>
            </a:r>
            <a:r>
              <a:rPr dirty="0" sz="1300" spc="1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доступа. </a:t>
            </a:r>
            <a:r>
              <a:rPr dirty="0" sz="1300">
                <a:latin typeface="Roboto"/>
                <a:cs typeface="Roboto"/>
              </a:rPr>
              <a:t>Права</a:t>
            </a:r>
            <a:r>
              <a:rPr dirty="0" sz="1300" spc="2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доступа</a:t>
            </a:r>
            <a:r>
              <a:rPr dirty="0" sz="1300" spc="2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кодируются</a:t>
            </a:r>
            <a:r>
              <a:rPr dirty="0" sz="1300" spc="2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2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9</a:t>
            </a:r>
            <a:r>
              <a:rPr dirty="0" sz="1300" spc="2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битах,</a:t>
            </a:r>
            <a:r>
              <a:rPr dirty="0" sz="1300" spc="2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разбитых</a:t>
            </a:r>
            <a:r>
              <a:rPr dirty="0" sz="1300" spc="2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2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три</a:t>
            </a:r>
            <a:r>
              <a:rPr dirty="0" sz="1300" spc="2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группы</a:t>
            </a:r>
            <a:r>
              <a:rPr dirty="0" sz="1300" spc="2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</a:t>
            </a:r>
            <a:r>
              <a:rPr dirty="0" sz="1300" spc="2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3</a:t>
            </a:r>
            <a:r>
              <a:rPr dirty="0" sz="1300" spc="2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бита:</a:t>
            </a:r>
            <a:r>
              <a:rPr dirty="0" sz="1300" spc="15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* </a:t>
            </a:r>
            <a:r>
              <a:rPr dirty="0" sz="1300">
                <a:latin typeface="Roboto"/>
                <a:cs typeface="Roboto"/>
              </a:rPr>
              <a:t>Права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20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владельца</a:t>
            </a:r>
            <a:r>
              <a:rPr dirty="0" sz="1300" spc="20" b="1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файла</a:t>
            </a:r>
            <a:r>
              <a:rPr dirty="0" sz="1300" spc="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(User).</a:t>
            </a:r>
            <a:r>
              <a:rPr dirty="0" sz="1300" spc="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*</a:t>
            </a:r>
            <a:r>
              <a:rPr dirty="0" sz="1300" spc="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Права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20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группы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которой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принадлежит </a:t>
            </a:r>
            <a:r>
              <a:rPr dirty="0" sz="1300" spc="-50">
                <a:latin typeface="Roboto"/>
                <a:cs typeface="Roboto"/>
              </a:rPr>
              <a:t>файл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(Group).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*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Права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всех</a:t>
            </a:r>
            <a:r>
              <a:rPr dirty="0" sz="1300" spc="-25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остальных</a:t>
            </a:r>
            <a:r>
              <a:rPr dirty="0" sz="1300" spc="-25" b="1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пользователей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системы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(Other).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650">
                <a:latin typeface="Roboto"/>
                <a:cs typeface="Roboto"/>
              </a:rPr>
              <a:t>Виды</a:t>
            </a:r>
            <a:r>
              <a:rPr dirty="0" sz="1650" spc="-3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прав</a:t>
            </a:r>
            <a:r>
              <a:rPr dirty="0" sz="1650" spc="-3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и</a:t>
            </a:r>
            <a:r>
              <a:rPr dirty="0" sz="1650" spc="-3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их</a:t>
            </a:r>
            <a:r>
              <a:rPr dirty="0" sz="1650" spc="-30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значение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650">
              <a:latin typeface="Roboto"/>
              <a:cs typeface="Roboto"/>
            </a:endParaRPr>
          </a:p>
          <a:p>
            <a:pPr algn="just" marL="12700" marR="13335">
              <a:lnSpc>
                <a:spcPct val="114999"/>
              </a:lnSpc>
            </a:pP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каждой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из</a:t>
            </a:r>
            <a:r>
              <a:rPr dirty="0" sz="1300" spc="3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трех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групп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прав</a:t>
            </a:r>
            <a:r>
              <a:rPr dirty="0" sz="1300" spc="3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user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group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other</a:t>
            </a:r>
            <a:r>
              <a:rPr dirty="0" sz="1300">
                <a:latin typeface="Roboto"/>
                <a:cs typeface="Roboto"/>
              </a:rPr>
              <a:t>)</a:t>
            </a:r>
            <a:r>
              <a:rPr dirty="0" sz="1300" spc="3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могут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быть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установлены следующие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права: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4747882"/>
            <a:ext cx="6232525" cy="2720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Права</a:t>
            </a:r>
            <a:r>
              <a:rPr dirty="0" sz="1300" spc="1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могут</a:t>
            </a:r>
            <a:r>
              <a:rPr dirty="0" sz="1300" spc="1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быть</a:t>
            </a:r>
            <a:r>
              <a:rPr dirty="0" sz="1300" spc="1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представлены</a:t>
            </a:r>
            <a:r>
              <a:rPr dirty="0" sz="1300" spc="1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символьной</a:t>
            </a:r>
            <a:r>
              <a:rPr dirty="0" sz="1300" spc="8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форме</a:t>
            </a:r>
            <a:r>
              <a:rPr dirty="0" sz="1300" spc="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(например,</a:t>
            </a:r>
            <a:r>
              <a:rPr dirty="0" sz="1300" spc="75"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rwxr-xr--</a:t>
            </a:r>
            <a:r>
              <a:rPr dirty="0" sz="1300" spc="-50">
                <a:latin typeface="Roboto"/>
                <a:cs typeface="Roboto"/>
              </a:rPr>
              <a:t>)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числовой</a:t>
            </a:r>
            <a:r>
              <a:rPr dirty="0" sz="1300" spc="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(восьмеричной)</a:t>
            </a:r>
            <a:r>
              <a:rPr dirty="0" sz="1300" spc="45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форме,</a:t>
            </a:r>
            <a:r>
              <a:rPr dirty="0" sz="1300" spc="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где</a:t>
            </a:r>
            <a:r>
              <a:rPr dirty="0" sz="1300" spc="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каждое</a:t>
            </a:r>
            <a:r>
              <a:rPr dirty="0" sz="1300" spc="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число</a:t>
            </a:r>
            <a:r>
              <a:rPr dirty="0" sz="1300" spc="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(от</a:t>
            </a:r>
            <a:r>
              <a:rPr dirty="0" sz="1300" spc="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0</a:t>
            </a:r>
            <a:r>
              <a:rPr dirty="0" sz="1300" spc="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до</a:t>
            </a:r>
            <a:r>
              <a:rPr dirty="0" sz="1300" spc="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7)</a:t>
            </a:r>
            <a:r>
              <a:rPr dirty="0" sz="1300" spc="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является </a:t>
            </a:r>
            <a:r>
              <a:rPr dirty="0" sz="1300">
                <a:latin typeface="Roboto"/>
                <a:cs typeface="Roboto"/>
              </a:rPr>
              <a:t>суммой</a:t>
            </a:r>
            <a:r>
              <a:rPr dirty="0" sz="1300" spc="1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значений</a:t>
            </a:r>
            <a:r>
              <a:rPr dirty="0" sz="1300" spc="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установленных</a:t>
            </a:r>
            <a:r>
              <a:rPr dirty="0" sz="1300" spc="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прав</a:t>
            </a:r>
            <a:r>
              <a:rPr dirty="0" sz="1300" spc="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7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соответствующей</a:t>
            </a:r>
            <a:r>
              <a:rPr dirty="0" sz="1300" spc="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группе</a:t>
            </a:r>
            <a:r>
              <a:rPr dirty="0" sz="1300" spc="7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(например,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rwx</a:t>
            </a:r>
            <a:r>
              <a:rPr dirty="0" sz="1100" spc="-1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=</a:t>
            </a:r>
            <a:r>
              <a:rPr dirty="0" sz="1300" spc="3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4+2+1=7,</a:t>
            </a:r>
            <a:r>
              <a:rPr dirty="0" sz="1300" spc="330"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r-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x</a:t>
            </a:r>
            <a:r>
              <a:rPr dirty="0" sz="1100" spc="-1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=</a:t>
            </a:r>
            <a:r>
              <a:rPr dirty="0" sz="1300" spc="3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4+0+1=5).</a:t>
            </a:r>
            <a:r>
              <a:rPr dirty="0" sz="1300" spc="3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Права</a:t>
            </a:r>
            <a:r>
              <a:rPr dirty="0" sz="1300" spc="3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3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владельца,</a:t>
            </a:r>
            <a:r>
              <a:rPr dirty="0" sz="1300" spc="3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группы</a:t>
            </a:r>
            <a:r>
              <a:rPr dirty="0" sz="1300" spc="25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26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остальных </a:t>
            </a:r>
            <a:r>
              <a:rPr dirty="0" sz="1300" spc="-20">
                <a:latin typeface="Roboto"/>
                <a:cs typeface="Roboto"/>
              </a:rPr>
              <a:t>записываются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последовательно</a:t>
            </a:r>
            <a:r>
              <a:rPr dirty="0" sz="1300">
                <a:latin typeface="Roboto"/>
                <a:cs typeface="Roboto"/>
              </a:rPr>
              <a:t> (например,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755</a:t>
            </a:r>
            <a:r>
              <a:rPr dirty="0" sz="1100" spc="-33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25">
                <a:latin typeface="Roboto"/>
                <a:cs typeface="Roboto"/>
              </a:rPr>
              <a:t>соответствует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rwxr-xr-</a:t>
            </a:r>
            <a:r>
              <a:rPr dirty="0" sz="1100" spc="-25">
                <a:solidFill>
                  <a:srgbClr val="178037"/>
                </a:solidFill>
                <a:latin typeface="Courier New"/>
                <a:cs typeface="Courier New"/>
              </a:rPr>
              <a:t>x</a:t>
            </a:r>
            <a:r>
              <a:rPr dirty="0" sz="1300" spc="-25">
                <a:latin typeface="Roboto"/>
                <a:cs typeface="Roboto"/>
              </a:rPr>
              <a:t>).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650">
                <a:latin typeface="Roboto"/>
                <a:cs typeface="Roboto"/>
              </a:rPr>
              <a:t>Особые</a:t>
            </a:r>
            <a:r>
              <a:rPr dirty="0" sz="1650" spc="-4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признаки</a:t>
            </a:r>
            <a:r>
              <a:rPr dirty="0" sz="1650" spc="-40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прав</a:t>
            </a:r>
            <a:r>
              <a:rPr dirty="0" sz="1650" spc="-45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доступа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650">
              <a:latin typeface="Roboto"/>
              <a:cs typeface="Roboto"/>
            </a:endParaRPr>
          </a:p>
          <a:p>
            <a:pPr algn="just" marL="12700" marR="9525">
              <a:lnSpc>
                <a:spcPct val="114999"/>
              </a:lnSpc>
            </a:pPr>
            <a:r>
              <a:rPr dirty="0" sz="1300">
                <a:latin typeface="Roboto"/>
                <a:cs typeface="Roboto"/>
              </a:rPr>
              <a:t>Существуют</a:t>
            </a:r>
            <a:r>
              <a:rPr dirty="0" sz="1300" spc="40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три</a:t>
            </a:r>
            <a:r>
              <a:rPr dirty="0" sz="1300" spc="40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особых</a:t>
            </a:r>
            <a:r>
              <a:rPr dirty="0" sz="1300" spc="409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признака,</a:t>
            </a:r>
            <a:r>
              <a:rPr dirty="0" sz="1300" spc="40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которые</a:t>
            </a:r>
            <a:r>
              <a:rPr dirty="0" sz="1300" spc="40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могут</a:t>
            </a:r>
            <a:r>
              <a:rPr dirty="0" sz="1300" spc="3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быть</a:t>
            </a:r>
            <a:r>
              <a:rPr dirty="0" sz="1300" spc="3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установлены</a:t>
            </a:r>
            <a:r>
              <a:rPr dirty="0" sz="1300" spc="34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для </a:t>
            </a:r>
            <a:r>
              <a:rPr dirty="0" sz="1300" spc="-20">
                <a:latin typeface="Roboto"/>
                <a:cs typeface="Roboto"/>
              </a:rPr>
              <a:t>файлов</a:t>
            </a:r>
            <a:r>
              <a:rPr dirty="0" sz="1300" spc="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каталогов,</a:t>
            </a:r>
            <a:r>
              <a:rPr dirty="0" sz="1300" spc="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влияющие</a:t>
            </a:r>
            <a:r>
              <a:rPr dirty="0" sz="1300" spc="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поведение</a:t>
            </a:r>
            <a:r>
              <a:rPr dirty="0" sz="1300" spc="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</a:t>
            </a:r>
            <a:r>
              <a:rPr dirty="0" sz="1300" spc="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выполнении</a:t>
            </a:r>
            <a:r>
              <a:rPr dirty="0" sz="1300" spc="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доступе. </a:t>
            </a:r>
            <a:r>
              <a:rPr dirty="0" sz="1300">
                <a:latin typeface="Roboto"/>
                <a:cs typeface="Roboto"/>
              </a:rPr>
              <a:t>Они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также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кодируются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поле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атрибутов.</a:t>
            </a:r>
            <a:endParaRPr sz="1300">
              <a:latin typeface="Roboto"/>
              <a:cs typeface="Robo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054" y="949614"/>
            <a:ext cx="6121350" cy="36128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6805282"/>
            <a:ext cx="6230620" cy="1393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При</a:t>
            </a:r>
            <a:r>
              <a:rPr dirty="0" sz="1300" spc="4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установке</a:t>
            </a:r>
            <a:r>
              <a:rPr dirty="0" sz="1300" spc="4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SUID</a:t>
            </a:r>
            <a:r>
              <a:rPr dirty="0" sz="1300" spc="4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4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SGID</a:t>
            </a:r>
            <a:r>
              <a:rPr dirty="0" sz="1300" spc="4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символ</a:t>
            </a:r>
            <a:r>
              <a:rPr dirty="0" sz="1300" spc="450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x</a:t>
            </a:r>
            <a:r>
              <a:rPr dirty="0" sz="1100" spc="114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38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соответствующей</a:t>
            </a:r>
            <a:r>
              <a:rPr dirty="0" sz="1300" spc="38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группе</a:t>
            </a:r>
            <a:r>
              <a:rPr dirty="0" sz="1300" spc="38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прав </a:t>
            </a:r>
            <a:r>
              <a:rPr dirty="0" sz="1300">
                <a:latin typeface="Roboto"/>
                <a:cs typeface="Roboto"/>
              </a:rPr>
              <a:t>заменяется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s</a:t>
            </a:r>
            <a:r>
              <a:rPr dirty="0" sz="1300">
                <a:latin typeface="Roboto"/>
                <a:cs typeface="Roboto"/>
              </a:rPr>
              <a:t>.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Если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исполняемое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право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не</a:t>
            </a:r>
            <a:r>
              <a:rPr dirty="0" sz="1300" spc="2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было</a:t>
            </a:r>
            <a:r>
              <a:rPr dirty="0" sz="1300" spc="25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установлено,</a:t>
            </a:r>
            <a:r>
              <a:rPr dirty="0" sz="1300" spc="2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вместо</a:t>
            </a:r>
            <a:r>
              <a:rPr dirty="0" sz="1300" spc="250"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178037"/>
                </a:solidFill>
                <a:latin typeface="Courier New"/>
                <a:cs typeface="Courier New"/>
              </a:rPr>
              <a:t>s </a:t>
            </a:r>
            <a:r>
              <a:rPr dirty="0" sz="1300">
                <a:latin typeface="Roboto"/>
                <a:cs typeface="Roboto"/>
              </a:rPr>
              <a:t>будет</a:t>
            </a:r>
            <a:r>
              <a:rPr dirty="0" sz="1300" spc="225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S</a:t>
            </a:r>
            <a:r>
              <a:rPr dirty="0" sz="1300">
                <a:latin typeface="Roboto"/>
                <a:cs typeface="Roboto"/>
              </a:rPr>
              <a:t>.</a:t>
            </a:r>
            <a:r>
              <a:rPr dirty="0" sz="1300" spc="240">
                <a:latin typeface="Roboto"/>
                <a:cs typeface="Roboto"/>
              </a:rPr>
              <a:t> </a:t>
            </a:r>
            <a:r>
              <a:rPr dirty="0" sz="1300" spc="-60">
                <a:latin typeface="Roboto"/>
                <a:cs typeface="Roboto"/>
              </a:rPr>
              <a:t>Sticky-</a:t>
            </a:r>
            <a:r>
              <a:rPr dirty="0" sz="1300">
                <a:latin typeface="Roboto"/>
                <a:cs typeface="Roboto"/>
              </a:rPr>
              <a:t>бит</a:t>
            </a:r>
            <a:r>
              <a:rPr dirty="0" sz="1300" spc="2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заменяет</a:t>
            </a:r>
            <a:r>
              <a:rPr dirty="0" sz="1300" spc="170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x</a:t>
            </a:r>
            <a:r>
              <a:rPr dirty="0" sz="1100" spc="-16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170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t</a:t>
            </a:r>
            <a:r>
              <a:rPr dirty="0" sz="1100" spc="-16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17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группе</a:t>
            </a:r>
            <a:r>
              <a:rPr dirty="0" sz="1300" spc="17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"остальные".</a:t>
            </a:r>
            <a:r>
              <a:rPr dirty="0" sz="1300" spc="17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Если</a:t>
            </a:r>
            <a:r>
              <a:rPr dirty="0" sz="1300" spc="17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исполняемое </a:t>
            </a:r>
            <a:r>
              <a:rPr dirty="0" sz="1300">
                <a:latin typeface="Roboto"/>
                <a:cs typeface="Roboto"/>
              </a:rPr>
              <a:t>право</a:t>
            </a:r>
            <a:r>
              <a:rPr dirty="0" sz="1300" spc="11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не</a:t>
            </a:r>
            <a:r>
              <a:rPr dirty="0" sz="1300" spc="4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было</a:t>
            </a:r>
            <a:r>
              <a:rPr dirty="0" sz="1300" spc="4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установлено,</a:t>
            </a:r>
            <a:r>
              <a:rPr dirty="0" sz="1300" spc="4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вместо</a:t>
            </a:r>
            <a:r>
              <a:rPr dirty="0" sz="1300" spc="475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t</a:t>
            </a:r>
            <a:r>
              <a:rPr dirty="0" sz="1100" spc="13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будет</a:t>
            </a:r>
            <a:r>
              <a:rPr dirty="0" sz="1300" spc="475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T</a:t>
            </a:r>
            <a:r>
              <a:rPr dirty="0" sz="1300">
                <a:latin typeface="Roboto"/>
                <a:cs typeface="Roboto"/>
              </a:rPr>
              <a:t>.</a:t>
            </a:r>
            <a:r>
              <a:rPr dirty="0" sz="1300" spc="4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Числовое</a:t>
            </a:r>
            <a:r>
              <a:rPr dirty="0" sz="1300" spc="48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представление </a:t>
            </a:r>
            <a:r>
              <a:rPr dirty="0" sz="1300">
                <a:latin typeface="Roboto"/>
                <a:cs typeface="Roboto"/>
              </a:rPr>
              <a:t>особых</a:t>
            </a:r>
            <a:r>
              <a:rPr dirty="0" sz="1300" spc="29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признаков</a:t>
            </a:r>
            <a:r>
              <a:rPr dirty="0" sz="1300" spc="30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ставится</a:t>
            </a:r>
            <a:r>
              <a:rPr dirty="0" sz="1300" spc="30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перед</a:t>
            </a:r>
            <a:r>
              <a:rPr dirty="0" sz="1300" spc="2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основными</a:t>
            </a:r>
            <a:r>
              <a:rPr dirty="0" sz="1300" spc="2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тремя</a:t>
            </a:r>
            <a:r>
              <a:rPr dirty="0" sz="1300" spc="2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цифрами</a:t>
            </a:r>
            <a:r>
              <a:rPr dirty="0" sz="1300" spc="265">
                <a:latin typeface="Roboto"/>
                <a:cs typeface="Roboto"/>
              </a:rPr>
              <a:t>  </a:t>
            </a:r>
            <a:r>
              <a:rPr dirty="0" sz="1300" spc="-20">
                <a:latin typeface="Roboto"/>
                <a:cs typeface="Roboto"/>
              </a:rPr>
              <a:t>прав </a:t>
            </a:r>
            <a:r>
              <a:rPr dirty="0" sz="1300">
                <a:latin typeface="Roboto"/>
                <a:cs typeface="Roboto"/>
              </a:rPr>
              <a:t>(например,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4755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latin typeface="Roboto"/>
                <a:cs typeface="Roboto"/>
              </a:rPr>
              <a:t>означает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установленный</a:t>
            </a:r>
            <a:r>
              <a:rPr dirty="0" sz="1300" spc="-20">
                <a:latin typeface="Roboto"/>
                <a:cs typeface="Roboto"/>
              </a:rPr>
              <a:t> SUID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права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755</a:t>
            </a:r>
            <a:r>
              <a:rPr dirty="0" sz="1300" spc="-10">
                <a:latin typeface="Roboto"/>
                <a:cs typeface="Roboto"/>
              </a:rPr>
              <a:t>).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8727163"/>
            <a:ext cx="475234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20">
                <a:latin typeface="Roboto"/>
                <a:cs typeface="Roboto"/>
              </a:rPr>
              <a:t>Работа</a:t>
            </a:r>
            <a:r>
              <a:rPr dirty="0" sz="2650" spc="-65">
                <a:latin typeface="Roboto"/>
                <a:cs typeface="Roboto"/>
              </a:rPr>
              <a:t> </a:t>
            </a:r>
            <a:r>
              <a:rPr dirty="0" sz="2650">
                <a:latin typeface="Roboto"/>
                <a:cs typeface="Roboto"/>
              </a:rPr>
              <a:t>с</a:t>
            </a:r>
            <a:r>
              <a:rPr dirty="0" sz="2650" spc="-60">
                <a:latin typeface="Roboto"/>
                <a:cs typeface="Roboto"/>
              </a:rPr>
              <a:t> файлами </a:t>
            </a:r>
            <a:r>
              <a:rPr dirty="0" sz="2650">
                <a:latin typeface="Roboto"/>
                <a:cs typeface="Roboto"/>
              </a:rPr>
              <a:t>в</a:t>
            </a:r>
            <a:r>
              <a:rPr dirty="0" sz="2650" spc="-60">
                <a:latin typeface="Roboto"/>
                <a:cs typeface="Roboto"/>
              </a:rPr>
              <a:t> </a:t>
            </a:r>
            <a:r>
              <a:rPr dirty="0" sz="2650" spc="-25">
                <a:latin typeface="Roboto"/>
                <a:cs typeface="Roboto"/>
              </a:rPr>
              <a:t>языке</a:t>
            </a:r>
            <a:r>
              <a:rPr dirty="0" sz="2650" spc="-65">
                <a:latin typeface="Roboto"/>
                <a:cs typeface="Roboto"/>
              </a:rPr>
              <a:t> </a:t>
            </a:r>
            <a:r>
              <a:rPr dirty="0" sz="2650" spc="-25">
                <a:latin typeface="Roboto"/>
                <a:cs typeface="Roboto"/>
              </a:rPr>
              <a:t>Си</a:t>
            </a:r>
            <a:endParaRPr sz="265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934" y="965805"/>
            <a:ext cx="6129330" cy="56298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4658084"/>
            <a:ext cx="79375" cy="984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9750" y="863716"/>
            <a:ext cx="6594475" cy="5090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74650" marR="6985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9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языке</a:t>
            </a:r>
            <a:r>
              <a:rPr dirty="0" sz="1300" spc="10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программирования</a:t>
            </a:r>
            <a:r>
              <a:rPr dirty="0" sz="1300" spc="9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Си</a:t>
            </a:r>
            <a:r>
              <a:rPr dirty="0" sz="1300" spc="10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9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работы</a:t>
            </a:r>
            <a:r>
              <a:rPr dirty="0" sz="1300" spc="10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10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файлами</a:t>
            </a:r>
            <a:r>
              <a:rPr dirty="0" sz="1300" spc="9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100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устройствами </a:t>
            </a:r>
            <a:r>
              <a:rPr dirty="0" sz="1300" spc="-20">
                <a:latin typeface="Roboto"/>
                <a:cs typeface="Roboto"/>
              </a:rPr>
              <a:t>ввода/вывода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используется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абстракция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 spc="-20" b="1">
                <a:latin typeface="Roboto"/>
                <a:cs typeface="Roboto"/>
              </a:rPr>
              <a:t>потоков</a:t>
            </a:r>
            <a:r>
              <a:rPr dirty="0" sz="1300" spc="-50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данных</a:t>
            </a:r>
            <a:r>
              <a:rPr dirty="0" sz="1300" spc="-50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(stream)</a:t>
            </a:r>
            <a:r>
              <a:rPr dirty="0" sz="1300">
                <a:latin typeface="Roboto"/>
                <a:cs typeface="Roboto"/>
              </a:rPr>
              <a:t>.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Поток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это </a:t>
            </a:r>
            <a:r>
              <a:rPr dirty="0" sz="1300">
                <a:latin typeface="Roboto"/>
                <a:cs typeface="Roboto"/>
              </a:rPr>
              <a:t>последовательность</a:t>
            </a:r>
            <a:r>
              <a:rPr dirty="0" sz="1300" spc="15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байтов,</a:t>
            </a:r>
            <a:r>
              <a:rPr dirty="0" sz="1300" spc="15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которая</a:t>
            </a:r>
            <a:r>
              <a:rPr dirty="0" sz="1300" spc="15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течет</a:t>
            </a:r>
            <a:r>
              <a:rPr dirty="0" sz="1300" spc="12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от</a:t>
            </a:r>
            <a:r>
              <a:rPr dirty="0" sz="1300" spc="12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источника</a:t>
            </a:r>
            <a:r>
              <a:rPr dirty="0" sz="1300" spc="12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114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получателю. </a:t>
            </a:r>
            <a:r>
              <a:rPr dirty="0" sz="1300">
                <a:latin typeface="Roboto"/>
                <a:cs typeface="Roboto"/>
              </a:rPr>
              <a:t>Внешние</a:t>
            </a:r>
            <a:r>
              <a:rPr dirty="0" sz="1300" spc="2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устройства</a:t>
            </a:r>
            <a:r>
              <a:rPr dirty="0" sz="1300" spc="23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(клавиатура,</a:t>
            </a:r>
            <a:r>
              <a:rPr dirty="0" sz="1300" spc="2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экран,</a:t>
            </a:r>
            <a:r>
              <a:rPr dirty="0" sz="1300" spc="2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принтер)</a:t>
            </a:r>
            <a:r>
              <a:rPr dirty="0" sz="1300" spc="21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204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файлы</a:t>
            </a:r>
            <a:r>
              <a:rPr dirty="0" sz="1300" spc="204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204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диске </a:t>
            </a:r>
            <a:r>
              <a:rPr dirty="0" sz="1300" spc="-25">
                <a:latin typeface="Roboto"/>
                <a:cs typeface="Roboto"/>
              </a:rPr>
              <a:t>рассматриваются</a:t>
            </a:r>
            <a:r>
              <a:rPr dirty="0" sz="1300">
                <a:latin typeface="Roboto"/>
                <a:cs typeface="Roboto"/>
              </a:rPr>
              <a:t> как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потоки.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algn="just" marL="374650">
              <a:lnSpc>
                <a:spcPct val="100000"/>
              </a:lnSpc>
            </a:pPr>
            <a:r>
              <a:rPr dirty="0" sz="1650" spc="-10">
                <a:latin typeface="Roboto"/>
                <a:cs typeface="Roboto"/>
              </a:rPr>
              <a:t>Потоки</a:t>
            </a:r>
            <a:r>
              <a:rPr dirty="0" sz="1650" spc="-65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данных:</a:t>
            </a:r>
            <a:r>
              <a:rPr dirty="0" sz="1650" spc="-60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Концепция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650">
              <a:latin typeface="Roboto"/>
              <a:cs typeface="Roboto"/>
            </a:endParaRPr>
          </a:p>
          <a:p>
            <a:pPr algn="just" marL="374650" marR="5080">
              <a:lnSpc>
                <a:spcPct val="114999"/>
              </a:lnSpc>
            </a:pPr>
            <a:r>
              <a:rPr dirty="0" sz="1300">
                <a:latin typeface="Roboto"/>
                <a:cs typeface="Roboto"/>
              </a:rPr>
              <a:t>Поток</a:t>
            </a:r>
            <a:r>
              <a:rPr dirty="0" sz="1300" spc="1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данных</a:t>
            </a:r>
            <a:r>
              <a:rPr dirty="0" sz="1300" spc="1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1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Си</a:t>
            </a:r>
            <a:r>
              <a:rPr dirty="0" sz="1300" spc="1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1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это</a:t>
            </a:r>
            <a:r>
              <a:rPr dirty="0" sz="1300" spc="1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абстракция,</a:t>
            </a:r>
            <a:r>
              <a:rPr dirty="0" sz="1300" spc="6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позволяющая</a:t>
            </a:r>
            <a:r>
              <a:rPr dirty="0" sz="1300" spc="6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работать</a:t>
            </a:r>
            <a:r>
              <a:rPr dirty="0" sz="1300" spc="6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6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различными </a:t>
            </a:r>
            <a:r>
              <a:rPr dirty="0" sz="1300">
                <a:latin typeface="Roboto"/>
                <a:cs typeface="Roboto"/>
              </a:rPr>
              <a:t>источниками/приемниками</a:t>
            </a:r>
            <a:r>
              <a:rPr dirty="0" sz="1300" spc="3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данных</a:t>
            </a:r>
            <a:r>
              <a:rPr dirty="0" sz="1300" spc="27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(файлы,</a:t>
            </a:r>
            <a:r>
              <a:rPr dirty="0" sz="1300" spc="2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устройства)</a:t>
            </a:r>
            <a:r>
              <a:rPr dirty="0" sz="1300" spc="27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унифицированным </a:t>
            </a:r>
            <a:r>
              <a:rPr dirty="0" sz="1300">
                <a:latin typeface="Roboto"/>
                <a:cs typeface="Roboto"/>
              </a:rPr>
              <a:t>способом.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Библиотека</a:t>
            </a:r>
            <a:r>
              <a:rPr dirty="0" sz="1300" spc="3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стандартного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 spc="-65">
                <a:latin typeface="Roboto"/>
                <a:cs typeface="Roboto"/>
              </a:rPr>
              <a:t>ввода-</a:t>
            </a:r>
            <a:r>
              <a:rPr dirty="0" sz="1300">
                <a:latin typeface="Roboto"/>
                <a:cs typeface="Roboto"/>
              </a:rPr>
              <a:t>вывода</a:t>
            </a:r>
            <a:r>
              <a:rPr dirty="0" sz="1300" spc="2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(stdio)</a:t>
            </a:r>
            <a:r>
              <a:rPr dirty="0" sz="1300" spc="2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управляет</a:t>
            </a:r>
            <a:r>
              <a:rPr dirty="0" sz="1300" spc="26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этими </a:t>
            </a:r>
            <a:r>
              <a:rPr dirty="0" sz="1300">
                <a:latin typeface="Roboto"/>
                <a:cs typeface="Roboto"/>
              </a:rPr>
              <a:t>потоками,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предоставляя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буферизацию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преобразования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данных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удобства программиста.</a:t>
            </a:r>
            <a:endParaRPr sz="1300">
              <a:latin typeface="Roboto"/>
              <a:cs typeface="Roboto"/>
            </a:endParaRPr>
          </a:p>
          <a:p>
            <a:pPr algn="just" marL="374650">
              <a:lnSpc>
                <a:spcPct val="100000"/>
              </a:lnSpc>
              <a:spcBef>
                <a:spcPts val="1535"/>
              </a:spcBef>
            </a:pPr>
            <a:r>
              <a:rPr dirty="0" sz="1300" b="1">
                <a:latin typeface="Roboto"/>
                <a:cs typeface="Roboto"/>
              </a:rPr>
              <a:t>Пример</a:t>
            </a:r>
            <a:r>
              <a:rPr dirty="0" sz="1300" spc="-35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(концептуальный):</a:t>
            </a:r>
            <a:endParaRPr sz="1300">
              <a:latin typeface="Roboto"/>
              <a:cs typeface="Roboto"/>
            </a:endParaRPr>
          </a:p>
          <a:p>
            <a:pPr marL="12700" marR="5437505" indent="85725">
              <a:lnSpc>
                <a:spcPts val="3040"/>
              </a:lnSpc>
              <a:spcBef>
                <a:spcPts val="210"/>
              </a:spcBef>
            </a:pPr>
            <a:r>
              <a:rPr dirty="0" sz="1100" spc="-10">
                <a:latin typeface="Roboto"/>
                <a:cs typeface="Roboto"/>
              </a:rPr>
              <a:t>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&lt;stdio.h&gt; </a:t>
            </a: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main()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ts val="1125"/>
              </a:lnSpc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6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character;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Roboto"/>
              <a:cs typeface="Roboto"/>
            </a:endParaRPr>
          </a:p>
          <a:p>
            <a:pPr marL="151130" marR="3184525">
              <a:lnSpc>
                <a:spcPct val="114999"/>
              </a:lnSpc>
              <a:tabLst>
                <a:tab pos="1687830" algn="l"/>
              </a:tabLst>
            </a:pPr>
            <a:r>
              <a:rPr dirty="0" sz="1100" spc="-20">
                <a:latin typeface="Roboto"/>
                <a:cs typeface="Roboto"/>
              </a:rPr>
              <a:t>printf("Введите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символ:</a:t>
            </a:r>
            <a:r>
              <a:rPr dirty="0" sz="1100" spc="-20">
                <a:latin typeface="Roboto"/>
                <a:cs typeface="Roboto"/>
              </a:rPr>
              <a:t> ");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Вывод </a:t>
            </a:r>
            <a:r>
              <a:rPr dirty="0" sz="1100">
                <a:latin typeface="Roboto"/>
                <a:cs typeface="Roboto"/>
              </a:rPr>
              <a:t>в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поток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stdout character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getchar();</a:t>
            </a:r>
            <a:r>
              <a:rPr dirty="0" sz="1100">
                <a:latin typeface="Roboto"/>
                <a:cs typeface="Roboto"/>
              </a:rPr>
              <a:t>	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Чтение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из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потока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stdin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260" y="6121496"/>
            <a:ext cx="1265555" cy="603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 spc="-20">
                <a:latin typeface="Roboto"/>
                <a:cs typeface="Roboto"/>
              </a:rPr>
              <a:t>printf("Вы</a:t>
            </a:r>
            <a:r>
              <a:rPr dirty="0" sz="1100" spc="1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ввели:</a:t>
            </a:r>
            <a:r>
              <a:rPr dirty="0" sz="1100" spc="1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"); </a:t>
            </a:r>
            <a:r>
              <a:rPr dirty="0" sz="1100" spc="-10">
                <a:latin typeface="Roboto"/>
                <a:cs typeface="Roboto"/>
              </a:rPr>
              <a:t>putchar(character); printf("\n");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60291" y="6121496"/>
            <a:ext cx="2178050" cy="41148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Вывод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в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поток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stdout</a:t>
            </a:r>
            <a:endParaRPr sz="1100">
              <a:latin typeface="Roboto"/>
              <a:cs typeface="Roboto"/>
            </a:endParaRPr>
          </a:p>
          <a:p>
            <a:pPr marL="28575">
              <a:lnSpc>
                <a:spcPct val="100000"/>
              </a:lnSpc>
              <a:spcBef>
                <a:spcPts val="200"/>
              </a:spcBef>
            </a:pP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Вывод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символа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в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поток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stdout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9750" y="6892724"/>
            <a:ext cx="673735" cy="41148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51130">
              <a:lnSpc>
                <a:spcPct val="100000"/>
              </a:lnSpc>
              <a:spcBef>
                <a:spcPts val="295"/>
              </a:spcBef>
            </a:pP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0;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750" y="7837454"/>
            <a:ext cx="7070725" cy="1546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88925" marR="5080" indent="-276225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20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этом</a:t>
            </a:r>
            <a:r>
              <a:rPr dirty="0" sz="1300" spc="20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простом</a:t>
            </a:r>
            <a:r>
              <a:rPr dirty="0" sz="1300" spc="20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примере</a:t>
            </a:r>
            <a:r>
              <a:rPr dirty="0" sz="1300" spc="204">
                <a:latin typeface="Roboto"/>
                <a:cs typeface="Roboto"/>
              </a:rPr>
              <a:t> </a:t>
            </a:r>
            <a:r>
              <a:rPr dirty="0" sz="950">
                <a:solidFill>
                  <a:srgbClr val="178037"/>
                </a:solidFill>
                <a:latin typeface="Courier New"/>
                <a:cs typeface="Courier New"/>
              </a:rPr>
              <a:t>getchar()</a:t>
            </a:r>
            <a:r>
              <a:rPr dirty="0" sz="950" spc="-5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читает</a:t>
            </a:r>
            <a:r>
              <a:rPr dirty="0" sz="1300" spc="20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один</a:t>
            </a:r>
            <a:r>
              <a:rPr dirty="0" sz="1300" spc="20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символ</a:t>
            </a:r>
            <a:r>
              <a:rPr dirty="0" sz="1300" spc="20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из</a:t>
            </a:r>
            <a:r>
              <a:rPr dirty="0" sz="1300" spc="20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стандартного</a:t>
            </a:r>
            <a:r>
              <a:rPr dirty="0" sz="1300" spc="20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потока</a:t>
            </a:r>
            <a:r>
              <a:rPr dirty="0" sz="1300" spc="1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ввода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950">
                <a:solidFill>
                  <a:srgbClr val="178037"/>
                </a:solidFill>
                <a:latin typeface="Courier New"/>
                <a:cs typeface="Courier New"/>
              </a:rPr>
              <a:t>stdin</a:t>
            </a:r>
            <a:r>
              <a:rPr dirty="0" sz="1300">
                <a:latin typeface="Roboto"/>
                <a:cs typeface="Roboto"/>
              </a:rPr>
              <a:t>),</a:t>
            </a:r>
            <a:r>
              <a:rPr dirty="0" sz="1300" spc="4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а</a:t>
            </a:r>
            <a:r>
              <a:rPr dirty="0" sz="1300" spc="370">
                <a:latin typeface="Roboto"/>
                <a:cs typeface="Roboto"/>
              </a:rPr>
              <a:t> </a:t>
            </a:r>
            <a:r>
              <a:rPr dirty="0" sz="950">
                <a:solidFill>
                  <a:srgbClr val="178037"/>
                </a:solidFill>
                <a:latin typeface="Courier New"/>
                <a:cs typeface="Courier New"/>
              </a:rPr>
              <a:t>printf()</a:t>
            </a:r>
            <a:r>
              <a:rPr dirty="0" sz="950" spc="12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370">
                <a:latin typeface="Roboto"/>
                <a:cs typeface="Roboto"/>
              </a:rPr>
              <a:t> </a:t>
            </a:r>
            <a:r>
              <a:rPr dirty="0" sz="950">
                <a:solidFill>
                  <a:srgbClr val="178037"/>
                </a:solidFill>
                <a:latin typeface="Courier New"/>
                <a:cs typeface="Courier New"/>
              </a:rPr>
              <a:t>putchar()</a:t>
            </a:r>
            <a:r>
              <a:rPr dirty="0" sz="950" spc="12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записывают</a:t>
            </a:r>
            <a:r>
              <a:rPr dirty="0" sz="1300" spc="37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символы</a:t>
            </a:r>
            <a:r>
              <a:rPr dirty="0" sz="1300" spc="3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37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стандартный</a:t>
            </a:r>
            <a:r>
              <a:rPr dirty="0" sz="1300" spc="37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поток</a:t>
            </a:r>
            <a:r>
              <a:rPr dirty="0" sz="1300" spc="37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вывода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950">
                <a:solidFill>
                  <a:srgbClr val="178037"/>
                </a:solidFill>
                <a:latin typeface="Courier New"/>
                <a:cs typeface="Courier New"/>
              </a:rPr>
              <a:t>stdout</a:t>
            </a:r>
            <a:r>
              <a:rPr dirty="0" sz="1300">
                <a:latin typeface="Roboto"/>
                <a:cs typeface="Roboto"/>
              </a:rPr>
              <a:t>).</a:t>
            </a:r>
            <a:r>
              <a:rPr dirty="0" sz="1300" spc="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точки</a:t>
            </a:r>
            <a:r>
              <a:rPr dirty="0" sz="1300" spc="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зрения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программы,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она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просто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работает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потоками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байтов,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не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"зная" что</a:t>
            </a:r>
            <a:r>
              <a:rPr dirty="0" sz="1300" spc="-75">
                <a:latin typeface="Roboto"/>
                <a:cs typeface="Roboto"/>
              </a:rPr>
              <a:t> </a:t>
            </a:r>
            <a:r>
              <a:rPr dirty="0" sz="950" spc="-10">
                <a:solidFill>
                  <a:srgbClr val="178037"/>
                </a:solidFill>
                <a:latin typeface="Courier New"/>
                <a:cs typeface="Courier New"/>
              </a:rPr>
              <a:t>stdin</a:t>
            </a:r>
            <a:r>
              <a:rPr dirty="0" sz="950" spc="-25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обычно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привязан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клавиатуре,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а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950" spc="-10">
                <a:solidFill>
                  <a:srgbClr val="178037"/>
                </a:solidFill>
                <a:latin typeface="Courier New"/>
                <a:cs typeface="Courier New"/>
              </a:rPr>
              <a:t>stdout</a:t>
            </a:r>
            <a:r>
              <a:rPr dirty="0" sz="950" spc="-25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экрану.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</a:pPr>
            <a:r>
              <a:rPr dirty="0" sz="1650" spc="-25">
                <a:latin typeface="Roboto"/>
                <a:cs typeface="Roboto"/>
              </a:rPr>
              <a:t>Стандартные </a:t>
            </a:r>
            <a:r>
              <a:rPr dirty="0" sz="1650" spc="-10">
                <a:latin typeface="Roboto"/>
                <a:cs typeface="Roboto"/>
              </a:rPr>
              <a:t>потоки</a:t>
            </a:r>
            <a:endParaRPr sz="16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63716"/>
            <a:ext cx="6224905" cy="2178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При</a:t>
            </a:r>
            <a:r>
              <a:rPr dirty="0" sz="1300" spc="12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запуске</a:t>
            </a:r>
            <a:r>
              <a:rPr dirty="0" sz="1300" spc="12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любой</a:t>
            </a:r>
            <a:r>
              <a:rPr dirty="0" sz="1300" spc="12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программы</a:t>
            </a:r>
            <a:r>
              <a:rPr dirty="0" sz="1300" spc="13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9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Си</a:t>
            </a:r>
            <a:r>
              <a:rPr dirty="0" sz="1300" spc="9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автоматически</a:t>
            </a:r>
            <a:r>
              <a:rPr dirty="0" sz="1300" spc="9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открываются</a:t>
            </a:r>
            <a:r>
              <a:rPr dirty="0" sz="1300" spc="95">
                <a:latin typeface="Roboto"/>
                <a:cs typeface="Roboto"/>
              </a:rPr>
              <a:t>  </a:t>
            </a:r>
            <a:r>
              <a:rPr dirty="0" sz="1300" spc="-25">
                <a:latin typeface="Roboto"/>
                <a:cs typeface="Roboto"/>
              </a:rPr>
              <a:t>три стандартных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потока,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связанных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консолью:</a:t>
            </a:r>
            <a:endParaRPr sz="1300">
              <a:latin typeface="Roboto"/>
              <a:cs typeface="Roboto"/>
            </a:endParaRPr>
          </a:p>
          <a:p>
            <a:pPr marL="764540" indent="-227965">
              <a:lnSpc>
                <a:spcPct val="100000"/>
              </a:lnSpc>
              <a:spcBef>
                <a:spcPts val="1535"/>
              </a:spcBef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4540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stdin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Стандартный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поток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ввода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(обычно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связан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клавиатурой).</a:t>
            </a:r>
            <a:endParaRPr sz="1300">
              <a:latin typeface="Roboto"/>
              <a:cs typeface="Roboto"/>
            </a:endParaRPr>
          </a:p>
          <a:p>
            <a:pPr marL="765175" marR="261620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stdout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25">
                <a:latin typeface="Roboto"/>
                <a:cs typeface="Roboto"/>
              </a:rPr>
              <a:t> Стандартный </a:t>
            </a:r>
            <a:r>
              <a:rPr dirty="0" sz="1300" spc="-10">
                <a:latin typeface="Roboto"/>
                <a:cs typeface="Roboto"/>
              </a:rPr>
              <a:t>поток</a:t>
            </a:r>
            <a:r>
              <a:rPr dirty="0" sz="1300" spc="-20">
                <a:latin typeface="Roboto"/>
                <a:cs typeface="Roboto"/>
              </a:rPr>
              <a:t> вывода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(обычно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связан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экраном</a:t>
            </a:r>
            <a:r>
              <a:rPr dirty="0" sz="1300" spc="-25">
                <a:latin typeface="Roboto"/>
                <a:cs typeface="Roboto"/>
              </a:rPr>
              <a:t> для </a:t>
            </a:r>
            <a:r>
              <a:rPr dirty="0" sz="1300">
                <a:latin typeface="Roboto"/>
                <a:cs typeface="Roboto"/>
              </a:rPr>
              <a:t>обычного</a:t>
            </a:r>
            <a:r>
              <a:rPr dirty="0" sz="1300" spc="-7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вывода).</a:t>
            </a:r>
            <a:endParaRPr sz="1300">
              <a:latin typeface="Roboto"/>
              <a:cs typeface="Roboto"/>
            </a:endParaRPr>
          </a:p>
          <a:p>
            <a:pPr marL="765175" marR="259079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765175" algn="l"/>
              </a:tabLst>
            </a:pP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stderr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Стандартный </a:t>
            </a:r>
            <a:r>
              <a:rPr dirty="0" sz="1300" spc="-10">
                <a:latin typeface="Roboto"/>
                <a:cs typeface="Roboto"/>
              </a:rPr>
              <a:t>поток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ошибок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(обычно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связан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экраном</a:t>
            </a:r>
            <a:r>
              <a:rPr dirty="0" sz="1300" spc="-25">
                <a:latin typeface="Roboto"/>
                <a:cs typeface="Roboto"/>
              </a:rPr>
              <a:t> для </a:t>
            </a:r>
            <a:r>
              <a:rPr dirty="0" sz="1300" spc="-20">
                <a:latin typeface="Roboto"/>
                <a:cs typeface="Roboto"/>
              </a:rPr>
              <a:t>вывода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сообщений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об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ошибках).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dirty="0" sz="1300">
                <a:latin typeface="Roboto"/>
                <a:cs typeface="Roboto"/>
              </a:rPr>
              <a:t>Поток</a:t>
            </a:r>
            <a:r>
              <a:rPr dirty="0" sz="1300" spc="195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stderr</a:t>
            </a:r>
            <a:r>
              <a:rPr dirty="0" sz="1100" spc="-14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часто</a:t>
            </a:r>
            <a:r>
              <a:rPr dirty="0" sz="1300" spc="135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небуферизован</a:t>
            </a:r>
            <a:r>
              <a:rPr dirty="0" sz="1300" spc="130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1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немедленного</a:t>
            </a:r>
            <a:r>
              <a:rPr dirty="0" sz="1300" spc="1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отображения</a:t>
            </a:r>
            <a:r>
              <a:rPr dirty="0" sz="1300" spc="1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ошибок.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3046672"/>
            <a:ext cx="4043679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1965" algn="l"/>
                <a:tab pos="1198880" algn="l"/>
                <a:tab pos="2502535" algn="l"/>
                <a:tab pos="3670935" algn="l"/>
              </a:tabLst>
            </a:pPr>
            <a:r>
              <a:rPr dirty="0" sz="1300" spc="-25">
                <a:latin typeface="Roboto"/>
                <a:cs typeface="Roboto"/>
              </a:rPr>
              <a:t>Эти</a:t>
            </a:r>
            <a:r>
              <a:rPr dirty="0" sz="1300">
                <a:latin typeface="Roboto"/>
                <a:cs typeface="Roboto"/>
              </a:rPr>
              <a:t>	</a:t>
            </a:r>
            <a:r>
              <a:rPr dirty="0" sz="1300" spc="-10">
                <a:latin typeface="Roboto"/>
                <a:cs typeface="Roboto"/>
              </a:rPr>
              <a:t>потоки</a:t>
            </a:r>
            <a:r>
              <a:rPr dirty="0" sz="1300">
                <a:latin typeface="Roboto"/>
                <a:cs typeface="Roboto"/>
              </a:rPr>
              <a:t>	</a:t>
            </a:r>
            <a:r>
              <a:rPr dirty="0" sz="1300" spc="-10">
                <a:latin typeface="Roboto"/>
                <a:cs typeface="Roboto"/>
              </a:rPr>
              <a:t>представлены</a:t>
            </a:r>
            <a:r>
              <a:rPr dirty="0" sz="1300">
                <a:latin typeface="Roboto"/>
                <a:cs typeface="Roboto"/>
              </a:rPr>
              <a:t>	</a:t>
            </a:r>
            <a:r>
              <a:rPr dirty="0" sz="1300" spc="-10">
                <a:latin typeface="Roboto"/>
                <a:cs typeface="Roboto"/>
              </a:rPr>
              <a:t>указателями</a:t>
            </a:r>
            <a:r>
              <a:rPr dirty="0" sz="1300">
                <a:latin typeface="Roboto"/>
                <a:cs typeface="Roboto"/>
              </a:rPr>
              <a:t>	</a:t>
            </a:r>
            <a:r>
              <a:rPr dirty="0" sz="1300" spc="-20">
                <a:latin typeface="Roboto"/>
                <a:cs typeface="Roboto"/>
              </a:rPr>
              <a:t>типа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3996" y="3046672"/>
            <a:ext cx="203644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5030" algn="l"/>
                <a:tab pos="192849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FILE*</a:t>
            </a:r>
            <a:r>
              <a:rPr dirty="0" sz="1100" spc="-5">
                <a:solidFill>
                  <a:srgbClr val="178037"/>
                </a:solidFill>
                <a:latin typeface="Courier New"/>
                <a:cs typeface="Courier New"/>
              </a:rPr>
              <a:t>  </a:t>
            </a:r>
            <a:r>
              <a:rPr dirty="0" sz="1300" spc="-50">
                <a:latin typeface="Roboto"/>
                <a:cs typeface="Roboto"/>
              </a:rPr>
              <a:t>и</a:t>
            </a:r>
            <a:r>
              <a:rPr dirty="0" sz="1300">
                <a:latin typeface="Roboto"/>
                <a:cs typeface="Roboto"/>
              </a:rPr>
              <a:t>	</a:t>
            </a:r>
            <a:r>
              <a:rPr dirty="0" sz="1300" spc="-10">
                <a:latin typeface="Roboto"/>
                <a:cs typeface="Roboto"/>
              </a:rPr>
              <a:t>объявлены</a:t>
            </a:r>
            <a:r>
              <a:rPr dirty="0" sz="1300">
                <a:latin typeface="Roboto"/>
                <a:cs typeface="Roboto"/>
              </a:rPr>
              <a:t>	</a:t>
            </a:r>
            <a:r>
              <a:rPr dirty="0" sz="1300" spc="-50">
                <a:latin typeface="Roboto"/>
                <a:cs typeface="Roboto"/>
              </a:rPr>
              <a:t>в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3244793"/>
            <a:ext cx="6233160" cy="620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заголовочном</a:t>
            </a:r>
            <a:r>
              <a:rPr dirty="0" sz="1300" spc="1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файле</a:t>
            </a:r>
            <a:r>
              <a:rPr dirty="0" sz="1300" spc="125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stdio.h</a:t>
            </a:r>
            <a:r>
              <a:rPr dirty="0" sz="1300">
                <a:latin typeface="Roboto"/>
                <a:cs typeface="Roboto"/>
              </a:rPr>
              <a:t>.</a:t>
            </a:r>
            <a:r>
              <a:rPr dirty="0" sz="1300" spc="1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Функции</a:t>
            </a:r>
            <a:r>
              <a:rPr dirty="0" sz="1300" spc="1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консольного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 spc="-65">
                <a:latin typeface="Roboto"/>
                <a:cs typeface="Roboto"/>
              </a:rPr>
              <a:t>ввода-</a:t>
            </a:r>
            <a:r>
              <a:rPr dirty="0" sz="1300">
                <a:latin typeface="Roboto"/>
                <a:cs typeface="Roboto"/>
              </a:rPr>
              <a:t>вывода,</a:t>
            </a:r>
            <a:r>
              <a:rPr dirty="0" sz="1300" spc="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такие</a:t>
            </a:r>
            <a:r>
              <a:rPr dirty="0" sz="1300" spc="6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как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scanf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110">
                <a:latin typeface="Roboto"/>
                <a:cs typeface="Roboto"/>
              </a:rPr>
              <a:t> 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printf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114">
                <a:latin typeface="Roboto"/>
                <a:cs typeface="Roboto"/>
              </a:rPr>
              <a:t> 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getchar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114">
                <a:latin typeface="Roboto"/>
                <a:cs typeface="Roboto"/>
              </a:rPr>
              <a:t> 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putchar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114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являются</a:t>
            </a:r>
            <a:r>
              <a:rPr dirty="0" sz="1300" spc="48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высокоуровневыми</a:t>
            </a:r>
            <a:r>
              <a:rPr dirty="0" sz="1300" spc="49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функциями, </a:t>
            </a:r>
            <a:r>
              <a:rPr dirty="0" sz="1300" spc="-20">
                <a:latin typeface="Roboto"/>
                <a:cs typeface="Roboto"/>
              </a:rPr>
              <a:t>работающими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со</a:t>
            </a:r>
            <a:r>
              <a:rPr dirty="0" sz="1300" spc="15"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stdin</a:t>
            </a:r>
            <a:r>
              <a:rPr dirty="0" sz="1100" spc="-32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stdout</a:t>
            </a:r>
            <a:r>
              <a:rPr dirty="0" sz="1300" spc="-10">
                <a:latin typeface="Roboto"/>
                <a:cs typeface="Roboto"/>
              </a:rPr>
              <a:t>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650" spc="-25">
                <a:latin typeface="Roboto"/>
                <a:cs typeface="Roboto"/>
              </a:rPr>
              <a:t>Структура</a:t>
            </a:r>
            <a:r>
              <a:rPr dirty="0" sz="1650" spc="-55"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178037"/>
                </a:solidFill>
                <a:latin typeface="Courier New"/>
                <a:cs typeface="Courier New"/>
              </a:rPr>
              <a:t>FILE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650">
              <a:latin typeface="Courier New"/>
              <a:cs typeface="Courier New"/>
            </a:endParaRPr>
          </a:p>
          <a:p>
            <a:pPr algn="just" marL="12700" marR="8255">
              <a:lnSpc>
                <a:spcPct val="114999"/>
              </a:lnSpc>
            </a:pP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39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управления</a:t>
            </a:r>
            <a:r>
              <a:rPr dirty="0" sz="1300" spc="39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потоками</a:t>
            </a:r>
            <a:r>
              <a:rPr dirty="0" sz="1300" spc="39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библиотека</a:t>
            </a:r>
            <a:r>
              <a:rPr dirty="0" sz="1300" spc="395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stdio.h</a:t>
            </a:r>
            <a:r>
              <a:rPr dirty="0" sz="1100" spc="-1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использует</a:t>
            </a:r>
            <a:r>
              <a:rPr dirty="0" sz="1300" spc="3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структуру</a:t>
            </a:r>
            <a:r>
              <a:rPr dirty="0" sz="1300" spc="33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FILE</a:t>
            </a:r>
            <a:r>
              <a:rPr dirty="0" sz="1300" spc="-10">
                <a:latin typeface="Roboto"/>
                <a:cs typeface="Roboto"/>
              </a:rPr>
              <a:t>. </a:t>
            </a:r>
            <a:r>
              <a:rPr dirty="0" sz="1300">
                <a:latin typeface="Roboto"/>
                <a:cs typeface="Roboto"/>
              </a:rPr>
              <a:t>Указатель</a:t>
            </a:r>
            <a:r>
              <a:rPr dirty="0" sz="1300" spc="1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1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эту</a:t>
            </a:r>
            <a:r>
              <a:rPr dirty="0" sz="1300" spc="1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структуру</a:t>
            </a:r>
            <a:r>
              <a:rPr dirty="0" sz="1300" spc="1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FILE</a:t>
            </a:r>
            <a:r>
              <a:rPr dirty="0" sz="1100" spc="8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*</a:t>
            </a:r>
            <a:r>
              <a:rPr dirty="0" sz="1300">
                <a:latin typeface="Roboto"/>
                <a:cs typeface="Roboto"/>
              </a:rPr>
              <a:t>)</a:t>
            </a:r>
            <a:r>
              <a:rPr dirty="0" sz="1300" spc="1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используется</a:t>
            </a:r>
            <a:r>
              <a:rPr dirty="0" sz="1300" spc="1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функциями</a:t>
            </a:r>
            <a:r>
              <a:rPr dirty="0" sz="1300" spc="1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10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работы</a:t>
            </a:r>
            <a:r>
              <a:rPr dirty="0" sz="1300" spc="10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с </a:t>
            </a:r>
            <a:r>
              <a:rPr dirty="0" sz="1300" spc="-30">
                <a:latin typeface="Roboto"/>
                <a:cs typeface="Roboto"/>
              </a:rPr>
              <a:t>файлами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потоками.</a:t>
            </a:r>
            <a:endParaRPr sz="1300">
              <a:latin typeface="Roboto"/>
              <a:cs typeface="Roboto"/>
            </a:endParaRPr>
          </a:p>
          <a:p>
            <a:pPr algn="just" marL="12700" marR="8890">
              <a:lnSpc>
                <a:spcPct val="114999"/>
              </a:lnSpc>
              <a:spcBef>
                <a:spcPts val="1300"/>
              </a:spcBef>
            </a:pPr>
            <a:r>
              <a:rPr dirty="0" sz="1300">
                <a:latin typeface="Roboto"/>
                <a:cs typeface="Roboto"/>
              </a:rPr>
              <a:t>Структура</a:t>
            </a:r>
            <a:r>
              <a:rPr dirty="0" sz="1300" spc="120">
                <a:latin typeface="Roboto"/>
                <a:cs typeface="Roboto"/>
              </a:rPr>
              <a:t> 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FILE</a:t>
            </a:r>
            <a:r>
              <a:rPr dirty="0" sz="1100" spc="2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(часто</a:t>
            </a:r>
            <a:r>
              <a:rPr dirty="0" sz="1300" spc="12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реализуемая</a:t>
            </a:r>
            <a:r>
              <a:rPr dirty="0" sz="1300" spc="9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как</a:t>
            </a:r>
            <a:r>
              <a:rPr dirty="0" sz="1300" spc="90">
                <a:latin typeface="Roboto"/>
                <a:cs typeface="Roboto"/>
              </a:rPr>
              <a:t> 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struct</a:t>
            </a:r>
            <a:r>
              <a:rPr dirty="0" sz="1100" spc="47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_IO_FILE</a:t>
            </a:r>
            <a:r>
              <a:rPr dirty="0" sz="1300">
                <a:latin typeface="Roboto"/>
                <a:cs typeface="Roboto"/>
              </a:rPr>
              <a:t>)</a:t>
            </a:r>
            <a:r>
              <a:rPr dirty="0" sz="1300" spc="9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содержит</a:t>
            </a:r>
            <a:r>
              <a:rPr dirty="0" sz="1300" spc="90">
                <a:latin typeface="Roboto"/>
                <a:cs typeface="Roboto"/>
              </a:rPr>
              <a:t>  </a:t>
            </a:r>
            <a:r>
              <a:rPr dirty="0" sz="1300" spc="-25">
                <a:latin typeface="Roboto"/>
                <a:cs typeface="Roboto"/>
              </a:rPr>
              <a:t>всю </a:t>
            </a:r>
            <a:r>
              <a:rPr dirty="0" sz="1300">
                <a:latin typeface="Roboto"/>
                <a:cs typeface="Roboto"/>
              </a:rPr>
              <a:t>необходимую</a:t>
            </a:r>
            <a:r>
              <a:rPr dirty="0" sz="1300" spc="47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информацию</a:t>
            </a:r>
            <a:r>
              <a:rPr dirty="0" sz="1300" spc="434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</a:t>
            </a:r>
            <a:r>
              <a:rPr dirty="0" sz="1300" spc="434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потоке:</a:t>
            </a:r>
            <a:r>
              <a:rPr dirty="0" sz="1300" spc="4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текущую</a:t>
            </a:r>
            <a:r>
              <a:rPr dirty="0" sz="1300" spc="434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позицию</a:t>
            </a:r>
            <a:r>
              <a:rPr dirty="0" sz="1300" spc="434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указателя </a:t>
            </a:r>
            <a:r>
              <a:rPr dirty="0" sz="1300">
                <a:latin typeface="Roboto"/>
                <a:cs typeface="Roboto"/>
              </a:rPr>
              <a:t>чтения/записи,</a:t>
            </a:r>
            <a:r>
              <a:rPr dirty="0" sz="1300" spc="44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состояние</a:t>
            </a:r>
            <a:r>
              <a:rPr dirty="0" sz="1300" spc="45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буфера,</a:t>
            </a:r>
            <a:r>
              <a:rPr dirty="0" sz="1300" spc="44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флаги</a:t>
            </a:r>
            <a:r>
              <a:rPr dirty="0" sz="1300" spc="45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ошибок</a:t>
            </a:r>
            <a:r>
              <a:rPr dirty="0" sz="1300" spc="44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41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конца</a:t>
            </a:r>
            <a:r>
              <a:rPr dirty="0" sz="1300" spc="415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файла. </a:t>
            </a:r>
            <a:r>
              <a:rPr dirty="0" sz="1300">
                <a:latin typeface="Roboto"/>
                <a:cs typeface="Roboto"/>
              </a:rPr>
              <a:t>Программисты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работают</a:t>
            </a:r>
            <a:r>
              <a:rPr dirty="0" sz="1300" spc="1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114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файлами</a:t>
            </a:r>
            <a:r>
              <a:rPr dirty="0" sz="1300" spc="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исключительно</a:t>
            </a:r>
            <a:r>
              <a:rPr dirty="0" sz="1300" spc="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через</a:t>
            </a:r>
            <a:r>
              <a:rPr dirty="0" sz="1300" spc="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указатели</a:t>
            </a:r>
            <a:r>
              <a:rPr dirty="0" sz="1300" spc="50"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178037"/>
                </a:solidFill>
                <a:latin typeface="Courier New"/>
                <a:cs typeface="Courier New"/>
              </a:rPr>
              <a:t>FILE*</a:t>
            </a:r>
            <a:r>
              <a:rPr dirty="0" sz="1100" spc="-1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50">
                <a:latin typeface="Roboto"/>
                <a:cs typeface="Roboto"/>
              </a:rPr>
              <a:t>и </a:t>
            </a:r>
            <a:r>
              <a:rPr dirty="0" sz="1300" spc="-30">
                <a:latin typeface="Roboto"/>
                <a:cs typeface="Roboto"/>
              </a:rPr>
              <a:t>функции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стандартной</a:t>
            </a:r>
            <a:r>
              <a:rPr dirty="0" sz="1300">
                <a:latin typeface="Roboto"/>
                <a:cs typeface="Roboto"/>
              </a:rPr>
              <a:t> библиотеки, не </a:t>
            </a:r>
            <a:r>
              <a:rPr dirty="0" sz="1300" spc="-10">
                <a:latin typeface="Roboto"/>
                <a:cs typeface="Roboto"/>
              </a:rPr>
              <a:t>обращаясь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напрямую</a:t>
            </a:r>
            <a:r>
              <a:rPr dirty="0" sz="1300" spc="-6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-6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полям</a:t>
            </a:r>
            <a:r>
              <a:rPr dirty="0" sz="1300" spc="-6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структуры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FILE</a:t>
            </a:r>
            <a:r>
              <a:rPr dirty="0" sz="1300" spc="-10">
                <a:latin typeface="Roboto"/>
                <a:cs typeface="Roboto"/>
              </a:rPr>
              <a:t>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650">
                <a:latin typeface="Roboto"/>
                <a:cs typeface="Roboto"/>
              </a:rPr>
              <a:t>Общий</a:t>
            </a:r>
            <a:r>
              <a:rPr dirty="0" sz="1650" spc="-6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алгоритм</a:t>
            </a:r>
            <a:r>
              <a:rPr dirty="0" sz="1650" spc="-60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работы</a:t>
            </a:r>
            <a:r>
              <a:rPr dirty="0" sz="1650" spc="-60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с</a:t>
            </a:r>
            <a:r>
              <a:rPr dirty="0" sz="1650" spc="-60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файлом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65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300" spc="-10">
                <a:latin typeface="Roboto"/>
                <a:cs typeface="Roboto"/>
              </a:rPr>
              <a:t>Типичный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цикл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работы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файлом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выглядит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так:</a:t>
            </a:r>
            <a:endParaRPr sz="1300">
              <a:latin typeface="Roboto"/>
              <a:cs typeface="Roboto"/>
            </a:endParaRPr>
          </a:p>
          <a:p>
            <a:pPr marL="764540" indent="-227965">
              <a:lnSpc>
                <a:spcPct val="100000"/>
              </a:lnSpc>
              <a:spcBef>
                <a:spcPts val="1535"/>
              </a:spcBef>
              <a:buFont typeface="Roboto"/>
              <a:buAutoNum type="arabicPeriod"/>
              <a:tabLst>
                <a:tab pos="764540" algn="l"/>
              </a:tabLst>
            </a:pPr>
            <a:r>
              <a:rPr dirty="0" sz="1300" spc="-10" b="1">
                <a:latin typeface="Roboto"/>
                <a:cs typeface="Roboto"/>
              </a:rPr>
              <a:t>Открыть</a:t>
            </a:r>
            <a:r>
              <a:rPr dirty="0" sz="1300" spc="-35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поток</a:t>
            </a:r>
            <a:r>
              <a:rPr dirty="0" sz="1300" spc="-35" b="1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(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fopen</a:t>
            </a:r>
            <a:r>
              <a:rPr dirty="0" sz="1300" spc="-10">
                <a:latin typeface="Roboto"/>
                <a:cs typeface="Roboto"/>
              </a:rPr>
              <a:t>).</a:t>
            </a:r>
            <a:endParaRPr sz="1300">
              <a:latin typeface="Roboto"/>
              <a:cs typeface="Roboto"/>
            </a:endParaRPr>
          </a:p>
          <a:p>
            <a:pPr marL="765175" marR="287655" indent="-228600">
              <a:lnSpc>
                <a:spcPct val="114999"/>
              </a:lnSpc>
              <a:buFont typeface="Roboto"/>
              <a:buAutoNum type="arabicPeriod"/>
              <a:tabLst>
                <a:tab pos="765175" algn="l"/>
              </a:tabLst>
            </a:pPr>
            <a:r>
              <a:rPr dirty="0" sz="1300" spc="-10" b="1">
                <a:latin typeface="Roboto"/>
                <a:cs typeface="Roboto"/>
              </a:rPr>
              <a:t>Выполнить</a:t>
            </a:r>
            <a:r>
              <a:rPr dirty="0" sz="1300" spc="-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операции</a:t>
            </a:r>
            <a:r>
              <a:rPr dirty="0" sz="1300" spc="-5" b="1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(чтение/запись).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необходимости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можно изменять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текущую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позицию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потоке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fseek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rewind</a:t>
            </a:r>
            <a:r>
              <a:rPr dirty="0" sz="1300" spc="-10">
                <a:latin typeface="Roboto"/>
                <a:cs typeface="Roboto"/>
              </a:rPr>
              <a:t>).</a:t>
            </a:r>
            <a:endParaRPr sz="1300">
              <a:latin typeface="Roboto"/>
              <a:cs typeface="Roboto"/>
            </a:endParaRPr>
          </a:p>
          <a:p>
            <a:pPr marL="765175" marR="61594" indent="-228600">
              <a:lnSpc>
                <a:spcPct val="114999"/>
              </a:lnSpc>
              <a:buFont typeface="Roboto"/>
              <a:buAutoNum type="arabicPeriod"/>
              <a:tabLst>
                <a:tab pos="765175" algn="l"/>
              </a:tabLst>
            </a:pPr>
            <a:r>
              <a:rPr dirty="0" sz="1300" spc="-10" b="1">
                <a:latin typeface="Roboto"/>
                <a:cs typeface="Roboto"/>
              </a:rPr>
              <a:t>Закрыть</a:t>
            </a:r>
            <a:r>
              <a:rPr dirty="0" sz="1300" spc="-55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поток</a:t>
            </a:r>
            <a:r>
              <a:rPr dirty="0" sz="1300" spc="-45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fclose</a:t>
            </a:r>
            <a:r>
              <a:rPr dirty="0" sz="1300">
                <a:latin typeface="Roboto"/>
                <a:cs typeface="Roboto"/>
              </a:rPr>
              <a:t>).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Обязательно!</a:t>
            </a:r>
            <a:r>
              <a:rPr dirty="0" sz="1300" spc="-50" b="1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Закрытие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файла </a:t>
            </a:r>
            <a:r>
              <a:rPr dirty="0" sz="1300" spc="-10">
                <a:latin typeface="Roboto"/>
                <a:cs typeface="Roboto"/>
              </a:rPr>
              <a:t>освобождает системные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ресурсы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гарантирует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сброс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данных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из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буферов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диск.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1263"/>
            <a:ext cx="6232525" cy="5872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0">
                <a:latin typeface="Roboto"/>
                <a:cs typeface="Roboto"/>
              </a:rPr>
              <a:t>Буферизация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650">
              <a:latin typeface="Roboto"/>
              <a:cs typeface="Roboto"/>
            </a:endParaRPr>
          </a:p>
          <a:p>
            <a:pPr algn="just" marL="12700" marR="5080">
              <a:lnSpc>
                <a:spcPct val="114999"/>
              </a:lnSpc>
            </a:pPr>
            <a:r>
              <a:rPr dirty="0" sz="1300" spc="-80">
                <a:latin typeface="Roboto"/>
                <a:cs typeface="Roboto"/>
              </a:rPr>
              <a:t>Ввод-</a:t>
            </a:r>
            <a:r>
              <a:rPr dirty="0" sz="1300">
                <a:latin typeface="Roboto"/>
                <a:cs typeface="Roboto"/>
              </a:rPr>
              <a:t>вывод</a:t>
            </a:r>
            <a:r>
              <a:rPr dirty="0" sz="1300" spc="20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20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Си</a:t>
            </a:r>
            <a:r>
              <a:rPr dirty="0" sz="1300" spc="20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обычно</a:t>
            </a:r>
            <a:r>
              <a:rPr dirty="0" sz="1300" spc="1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буферизован.</a:t>
            </a:r>
            <a:r>
              <a:rPr dirty="0" sz="1300" spc="17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Это</a:t>
            </a:r>
            <a:r>
              <a:rPr dirty="0" sz="1300" spc="1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означает,</a:t>
            </a:r>
            <a:r>
              <a:rPr dirty="0" sz="1300" spc="1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что</a:t>
            </a:r>
            <a:r>
              <a:rPr dirty="0" sz="1300" spc="16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данные</a:t>
            </a:r>
            <a:r>
              <a:rPr dirty="0" sz="1300" spc="170">
                <a:latin typeface="Roboto"/>
                <a:cs typeface="Roboto"/>
              </a:rPr>
              <a:t>  </a:t>
            </a:r>
            <a:r>
              <a:rPr dirty="0" sz="1300" spc="-25">
                <a:latin typeface="Roboto"/>
                <a:cs typeface="Roboto"/>
              </a:rPr>
              <a:t>не </a:t>
            </a:r>
            <a:r>
              <a:rPr dirty="0" sz="1300" spc="-10">
                <a:latin typeface="Roboto"/>
                <a:cs typeface="Roboto"/>
              </a:rPr>
              <a:t>передаются</a:t>
            </a:r>
            <a:r>
              <a:rPr dirty="0" sz="1300">
                <a:latin typeface="Roboto"/>
                <a:cs typeface="Roboto"/>
              </a:rPr>
              <a:t> между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программой и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устройством</a:t>
            </a:r>
            <a:r>
              <a:rPr dirty="0" sz="1300">
                <a:latin typeface="Roboto"/>
                <a:cs typeface="Roboto"/>
              </a:rPr>
              <a:t> напрямую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 каждом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вызове </a:t>
            </a:r>
            <a:r>
              <a:rPr dirty="0" sz="1300">
                <a:latin typeface="Roboto"/>
                <a:cs typeface="Roboto"/>
              </a:rPr>
              <a:t>функции</a:t>
            </a:r>
            <a:r>
              <a:rPr dirty="0" sz="1300" spc="4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чтения/записи.</a:t>
            </a:r>
            <a:r>
              <a:rPr dirty="0" sz="1300" spc="4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Вместо</a:t>
            </a:r>
            <a:r>
              <a:rPr dirty="0" sz="1300" spc="4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этого</a:t>
            </a:r>
            <a:r>
              <a:rPr dirty="0" sz="1300" spc="4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данные</a:t>
            </a:r>
            <a:r>
              <a:rPr dirty="0" sz="1300" spc="4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сначала</a:t>
            </a:r>
            <a:r>
              <a:rPr dirty="0" sz="1300" spc="4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накапливаются</a:t>
            </a:r>
            <a:r>
              <a:rPr dirty="0" sz="1300" spc="45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в </a:t>
            </a:r>
            <a:r>
              <a:rPr dirty="0" sz="1300">
                <a:latin typeface="Roboto"/>
                <a:cs typeface="Roboto"/>
              </a:rPr>
              <a:t>специальной</a:t>
            </a:r>
            <a:r>
              <a:rPr dirty="0" sz="1300" spc="3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области</a:t>
            </a:r>
            <a:r>
              <a:rPr dirty="0" sz="1300" spc="3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памяти</a:t>
            </a:r>
            <a:r>
              <a:rPr dirty="0" sz="1300" spc="3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355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буфере</a:t>
            </a:r>
            <a:r>
              <a:rPr dirty="0" sz="1300" spc="350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3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29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только</a:t>
            </a:r>
            <a:r>
              <a:rPr dirty="0" sz="1300" spc="29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затем</a:t>
            </a:r>
            <a:r>
              <a:rPr dirty="0" sz="1300" spc="29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передаются</a:t>
            </a:r>
            <a:r>
              <a:rPr dirty="0" sz="1300" spc="29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на </a:t>
            </a:r>
            <a:r>
              <a:rPr dirty="0" sz="1300" spc="-20">
                <a:latin typeface="Roboto"/>
                <a:cs typeface="Roboto"/>
              </a:rPr>
              <a:t>устройство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считываются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него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блоками.</a:t>
            </a:r>
            <a:endParaRPr sz="1300">
              <a:latin typeface="Roboto"/>
              <a:cs typeface="Roboto"/>
            </a:endParaRPr>
          </a:p>
          <a:p>
            <a:pPr marL="765175" marR="31750" indent="-228600">
              <a:lnSpc>
                <a:spcPct val="114999"/>
              </a:lnSpc>
              <a:spcBef>
                <a:spcPts val="1300"/>
              </a:spcBef>
              <a:buFont typeface="Microsoft Sans Serif"/>
              <a:buChar char="●"/>
              <a:tabLst>
                <a:tab pos="765175" algn="l"/>
              </a:tabLst>
            </a:pPr>
            <a:r>
              <a:rPr dirty="0" sz="1300" b="1">
                <a:latin typeface="Roboto"/>
                <a:cs typeface="Roboto"/>
              </a:rPr>
              <a:t>Как</a:t>
            </a:r>
            <a:r>
              <a:rPr dirty="0" sz="1300" spc="-35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работает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записи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данные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сначала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попадают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буфер</a:t>
            </a:r>
            <a:r>
              <a:rPr dirty="0" sz="1300" spc="50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вывода.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Когда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60">
                <a:latin typeface="Roboto"/>
                <a:cs typeface="Roboto"/>
              </a:rPr>
              <a:t>буфер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заполняется,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 </a:t>
            </a:r>
            <a:r>
              <a:rPr dirty="0" sz="1300" spc="-20">
                <a:latin typeface="Roboto"/>
                <a:cs typeface="Roboto"/>
              </a:rPr>
              <a:t>принудительно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(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fflush()</a:t>
            </a:r>
            <a:r>
              <a:rPr dirty="0" sz="1300" spc="-10">
                <a:latin typeface="Roboto"/>
                <a:cs typeface="Roboto"/>
              </a:rPr>
              <a:t>),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или </a:t>
            </a:r>
            <a:r>
              <a:rPr dirty="0" sz="1300">
                <a:latin typeface="Roboto"/>
                <a:cs typeface="Roboto"/>
              </a:rPr>
              <a:t>при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закрытии</a:t>
            </a:r>
            <a:r>
              <a:rPr dirty="0" sz="1300" spc="-10">
                <a:latin typeface="Roboto"/>
                <a:cs typeface="Roboto"/>
              </a:rPr>
              <a:t> потока, </a:t>
            </a:r>
            <a:r>
              <a:rPr dirty="0" sz="1300">
                <a:latin typeface="Roboto"/>
                <a:cs typeface="Roboto"/>
              </a:rPr>
              <a:t>его</a:t>
            </a:r>
            <a:r>
              <a:rPr dirty="0" sz="1300" spc="-10">
                <a:latin typeface="Roboto"/>
                <a:cs typeface="Roboto"/>
              </a:rPr>
              <a:t> содержимое </a:t>
            </a:r>
            <a:r>
              <a:rPr dirty="0" sz="1300" spc="-20">
                <a:latin typeface="Roboto"/>
                <a:cs typeface="Roboto"/>
              </a:rPr>
              <a:t>записывается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-10">
                <a:latin typeface="Roboto"/>
                <a:cs typeface="Roboto"/>
              </a:rPr>
              <a:t> устройство. </a:t>
            </a:r>
            <a:r>
              <a:rPr dirty="0" sz="1300">
                <a:latin typeface="Roboto"/>
                <a:cs typeface="Roboto"/>
              </a:rPr>
              <a:t>При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чтении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блок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данных</a:t>
            </a:r>
            <a:r>
              <a:rPr dirty="0" sz="1300" spc="-20">
                <a:latin typeface="Roboto"/>
                <a:cs typeface="Roboto"/>
              </a:rPr>
              <a:t> считывается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20">
                <a:latin typeface="Roboto"/>
                <a:cs typeface="Roboto"/>
              </a:rPr>
              <a:t> устройства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60">
                <a:latin typeface="Roboto"/>
                <a:cs typeface="Roboto"/>
              </a:rPr>
              <a:t>буфер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ввода,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и </a:t>
            </a:r>
            <a:r>
              <a:rPr dirty="0" sz="1300" spc="-25">
                <a:latin typeface="Roboto"/>
                <a:cs typeface="Roboto"/>
              </a:rPr>
              <a:t>затем</a:t>
            </a:r>
            <a:r>
              <a:rPr dirty="0" sz="1300" spc="-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программа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читает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данные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из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этого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буфера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запросу.</a:t>
            </a:r>
            <a:endParaRPr sz="1300">
              <a:latin typeface="Roboto"/>
              <a:cs typeface="Roboto"/>
            </a:endParaRPr>
          </a:p>
          <a:p>
            <a:pPr algn="just" marL="765175" marR="566420" indent="-228600">
              <a:lnSpc>
                <a:spcPct val="114999"/>
              </a:lnSpc>
              <a:spcBef>
                <a:spcPts val="5"/>
              </a:spcBef>
              <a:buFont typeface="Microsoft Sans Serif"/>
              <a:buChar char="●"/>
              <a:tabLst>
                <a:tab pos="765175" algn="l"/>
                <a:tab pos="766445" algn="l"/>
              </a:tabLst>
            </a:pPr>
            <a:r>
              <a:rPr dirty="0" sz="1300">
                <a:latin typeface="Roboto"/>
                <a:cs typeface="Roboto"/>
              </a:rPr>
              <a:t>	</a:t>
            </a:r>
            <a:r>
              <a:rPr dirty="0" sz="1300" spc="-10" b="1">
                <a:latin typeface="Roboto"/>
                <a:cs typeface="Roboto"/>
              </a:rPr>
              <a:t>Преимущество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Буферизация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значительно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ускоряет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операции </a:t>
            </a:r>
            <a:r>
              <a:rPr dirty="0" sz="1300" spc="-65">
                <a:latin typeface="Roboto"/>
                <a:cs typeface="Roboto"/>
              </a:rPr>
              <a:t>ввода-</a:t>
            </a:r>
            <a:r>
              <a:rPr dirty="0" sz="1300" spc="-20">
                <a:latin typeface="Roboto"/>
                <a:cs typeface="Roboto"/>
              </a:rPr>
              <a:t>вывода,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уменьшая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количество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медленных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обращений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к </a:t>
            </a:r>
            <a:r>
              <a:rPr dirty="0" sz="1300" spc="-20">
                <a:latin typeface="Roboto"/>
                <a:cs typeface="Roboto"/>
              </a:rPr>
              <a:t>устройствам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хранения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данных.</a:t>
            </a:r>
            <a:endParaRPr sz="1300">
              <a:latin typeface="Roboto"/>
              <a:cs typeface="Roboto"/>
            </a:endParaRPr>
          </a:p>
          <a:p>
            <a:pPr marL="764540" marR="5715" indent="-228600">
              <a:lnSpc>
                <a:spcPct val="114999"/>
              </a:lnSpc>
              <a:buFont typeface="Microsoft Sans Serif"/>
              <a:buChar char="●"/>
              <a:tabLst>
                <a:tab pos="764540" algn="l"/>
              </a:tabLst>
            </a:pPr>
            <a:r>
              <a:rPr dirty="0" sz="1300" spc="-20" b="1">
                <a:latin typeface="Roboto"/>
                <a:cs typeface="Roboto"/>
              </a:rPr>
              <a:t>Принудительный</a:t>
            </a:r>
            <a:r>
              <a:rPr dirty="0" sz="1300" spc="-3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сброс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Функция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fflush(FILE</a:t>
            </a:r>
            <a:r>
              <a:rPr dirty="0" sz="1100" spc="-6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*stream) </a:t>
            </a:r>
            <a:r>
              <a:rPr dirty="0" sz="1300" spc="-20">
                <a:latin typeface="Roboto"/>
                <a:cs typeface="Roboto"/>
              </a:rPr>
              <a:t>принудительно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записывает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содержимое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буфера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вывода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на </a:t>
            </a:r>
            <a:r>
              <a:rPr dirty="0" sz="1300" spc="-20">
                <a:latin typeface="Roboto"/>
                <a:cs typeface="Roboto"/>
              </a:rPr>
              <a:t>устройство.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Размер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буфера</a:t>
            </a:r>
            <a:r>
              <a:rPr dirty="0" sz="1300">
                <a:latin typeface="Roboto"/>
                <a:cs typeface="Roboto"/>
              </a:rPr>
              <a:t> по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умолчанию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определяется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константой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BUFSIZ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(обычно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512,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1024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4096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байт).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Можно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изменить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поведение </a:t>
            </a:r>
            <a:r>
              <a:rPr dirty="0" sz="1300" spc="-35">
                <a:latin typeface="Roboto"/>
                <a:cs typeface="Roboto"/>
              </a:rPr>
              <a:t>буферизации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функциями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setbuf()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setvbuf()</a:t>
            </a:r>
            <a:r>
              <a:rPr dirty="0" sz="1300" spc="-10">
                <a:latin typeface="Roboto"/>
                <a:cs typeface="Roboto"/>
              </a:rPr>
              <a:t>.</a:t>
            </a:r>
            <a:r>
              <a:rPr dirty="0" sz="1300">
                <a:latin typeface="Roboto"/>
                <a:cs typeface="Roboto"/>
              </a:rPr>
              <a:t> Для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потоков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ввода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fflush()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не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определена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стандартно,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но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может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очищать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60">
                <a:latin typeface="Roboto"/>
                <a:cs typeface="Roboto"/>
              </a:rPr>
              <a:t>буфер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ввода</a:t>
            </a:r>
            <a:r>
              <a:rPr dirty="0" sz="1300" spc="50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некоторых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реализациях.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650">
                <a:latin typeface="Roboto"/>
                <a:cs typeface="Roboto"/>
              </a:rPr>
              <a:t>Режимы</a:t>
            </a:r>
            <a:r>
              <a:rPr dirty="0" sz="1650" spc="-35">
                <a:latin typeface="Roboto"/>
                <a:cs typeface="Roboto"/>
              </a:rPr>
              <a:t> </a:t>
            </a:r>
            <a:r>
              <a:rPr dirty="0" sz="1650" spc="-25">
                <a:latin typeface="Roboto"/>
                <a:cs typeface="Roboto"/>
              </a:rPr>
              <a:t>открытия </a:t>
            </a:r>
            <a:r>
              <a:rPr dirty="0" sz="1650" spc="-30">
                <a:latin typeface="Roboto"/>
                <a:cs typeface="Roboto"/>
              </a:rPr>
              <a:t>файлов</a:t>
            </a:r>
            <a:r>
              <a:rPr dirty="0" sz="1650" spc="-25">
                <a:latin typeface="Roboto"/>
                <a:cs typeface="Roboto"/>
              </a:rPr>
              <a:t> </a:t>
            </a:r>
            <a:r>
              <a:rPr dirty="0" sz="1650" spc="-45">
                <a:latin typeface="Roboto"/>
                <a:cs typeface="Roboto"/>
              </a:rPr>
              <a:t>(функция</a:t>
            </a:r>
            <a:r>
              <a:rPr dirty="0" sz="1650" spc="-25"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178037"/>
                </a:solidFill>
                <a:latin typeface="Courier New"/>
                <a:cs typeface="Courier New"/>
              </a:rPr>
              <a:t>fopen</a:t>
            </a:r>
            <a:r>
              <a:rPr dirty="0" sz="1650" spc="-10">
                <a:latin typeface="Roboto"/>
                <a:cs typeface="Roboto"/>
              </a:rPr>
              <a:t>)</a:t>
            </a:r>
            <a:endParaRPr sz="16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8130567"/>
            <a:ext cx="79375" cy="984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8323398"/>
            <a:ext cx="79375" cy="984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9750" y="6968968"/>
            <a:ext cx="6591300" cy="2650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74650" marR="5080">
              <a:lnSpc>
                <a:spcPct val="114999"/>
              </a:lnSpc>
              <a:spcBef>
                <a:spcPts val="100"/>
              </a:spcBef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FILE</a:t>
            </a:r>
            <a:r>
              <a:rPr dirty="0" sz="1100" spc="254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*fopen(const</a:t>
            </a:r>
            <a:r>
              <a:rPr dirty="0" sz="1100" spc="26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char</a:t>
            </a:r>
            <a:r>
              <a:rPr dirty="0" sz="1100" spc="26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*filename,</a:t>
            </a:r>
            <a:r>
              <a:rPr dirty="0" sz="1100" spc="26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const</a:t>
            </a:r>
            <a:r>
              <a:rPr dirty="0" sz="1100" spc="26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char</a:t>
            </a:r>
            <a:r>
              <a:rPr dirty="0" sz="1100" spc="26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*mode)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30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Открывает</a:t>
            </a:r>
            <a:r>
              <a:rPr dirty="0" sz="1300" spc="30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файл</a:t>
            </a:r>
            <a:r>
              <a:rPr dirty="0" sz="1300" spc="30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с </a:t>
            </a:r>
            <a:r>
              <a:rPr dirty="0" sz="1300">
                <a:latin typeface="Roboto"/>
                <a:cs typeface="Roboto"/>
              </a:rPr>
              <a:t>заданным</a:t>
            </a:r>
            <a:r>
              <a:rPr dirty="0" sz="1300" spc="15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именем</a:t>
            </a:r>
            <a:r>
              <a:rPr dirty="0" sz="1300" spc="15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filename</a:t>
            </a:r>
            <a:r>
              <a:rPr dirty="0" sz="1300">
                <a:latin typeface="Roboto"/>
                <a:cs typeface="Roboto"/>
              </a:rPr>
              <a:t>)</a:t>
            </a:r>
            <a:r>
              <a:rPr dirty="0" sz="1300" spc="15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15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указанном</a:t>
            </a:r>
            <a:r>
              <a:rPr dirty="0" sz="1300" spc="11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режиме</a:t>
            </a:r>
            <a:r>
              <a:rPr dirty="0" sz="1300" spc="114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mode</a:t>
            </a:r>
            <a:r>
              <a:rPr dirty="0" sz="1300">
                <a:latin typeface="Roboto"/>
                <a:cs typeface="Roboto"/>
              </a:rPr>
              <a:t>)</a:t>
            </a:r>
            <a:r>
              <a:rPr dirty="0" sz="1300" spc="114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114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возвращает </a:t>
            </a:r>
            <a:r>
              <a:rPr dirty="0" sz="1300">
                <a:latin typeface="Roboto"/>
                <a:cs typeface="Roboto"/>
              </a:rPr>
              <a:t>указатель</a:t>
            </a:r>
            <a:r>
              <a:rPr dirty="0" sz="1300" spc="1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145">
                <a:latin typeface="Roboto"/>
                <a:cs typeface="Roboto"/>
              </a:rPr>
              <a:t> 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FILE</a:t>
            </a:r>
            <a:r>
              <a:rPr dirty="0" sz="1100" spc="27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140">
                <a:latin typeface="Roboto"/>
                <a:cs typeface="Roboto"/>
              </a:rPr>
              <a:t> 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NULL</a:t>
            </a:r>
            <a:r>
              <a:rPr dirty="0" sz="1100" spc="27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11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случае</a:t>
            </a:r>
            <a:r>
              <a:rPr dirty="0" sz="1300" spc="10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ошибки.</a:t>
            </a:r>
            <a:r>
              <a:rPr dirty="0" sz="1300" spc="110">
                <a:latin typeface="Roboto"/>
                <a:cs typeface="Roboto"/>
              </a:rPr>
              <a:t>  </a:t>
            </a:r>
            <a:r>
              <a:rPr dirty="0" sz="1300" b="1">
                <a:latin typeface="Roboto"/>
                <a:cs typeface="Roboto"/>
              </a:rPr>
              <a:t>Обязательно</a:t>
            </a:r>
            <a:r>
              <a:rPr dirty="0" sz="1300" spc="105" b="1">
                <a:latin typeface="Roboto"/>
                <a:cs typeface="Roboto"/>
              </a:rPr>
              <a:t>  </a:t>
            </a:r>
            <a:r>
              <a:rPr dirty="0" sz="1300" spc="-10" b="1">
                <a:latin typeface="Roboto"/>
                <a:cs typeface="Roboto"/>
              </a:rPr>
              <a:t>проверяйте возвращаемое</a:t>
            </a:r>
            <a:r>
              <a:rPr dirty="0" sz="1300" spc="-20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значение</a:t>
            </a:r>
            <a:r>
              <a:rPr dirty="0" sz="1300" spc="-20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на</a:t>
            </a:r>
            <a:r>
              <a:rPr dirty="0" sz="1300" spc="-20" b="1">
                <a:latin typeface="Roboto"/>
                <a:cs typeface="Roboto"/>
              </a:rPr>
              <a:t> </a:t>
            </a:r>
            <a:r>
              <a:rPr dirty="0" sz="1100" spc="-10" b="1">
                <a:solidFill>
                  <a:srgbClr val="178037"/>
                </a:solidFill>
                <a:latin typeface="Courier New"/>
                <a:cs typeface="Courier New"/>
              </a:rPr>
              <a:t>NULL</a:t>
            </a:r>
            <a:r>
              <a:rPr dirty="0" sz="1300" spc="-10" b="1">
                <a:latin typeface="Roboto"/>
                <a:cs typeface="Roboto"/>
              </a:rPr>
              <a:t>!Пример</a:t>
            </a:r>
            <a:r>
              <a:rPr dirty="0" sz="1300" spc="-20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открытия</a:t>
            </a:r>
            <a:r>
              <a:rPr dirty="0" sz="1300" spc="-20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и</a:t>
            </a:r>
            <a:r>
              <a:rPr dirty="0" sz="1300" spc="-20" b="1">
                <a:latin typeface="Roboto"/>
                <a:cs typeface="Roboto"/>
              </a:rPr>
              <a:t> закрытия </a:t>
            </a:r>
            <a:r>
              <a:rPr dirty="0" sz="1300" b="1">
                <a:latin typeface="Roboto"/>
                <a:cs typeface="Roboto"/>
              </a:rPr>
              <a:t>с</a:t>
            </a:r>
            <a:r>
              <a:rPr dirty="0" sz="1300" spc="-20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проверкой:</a:t>
            </a:r>
            <a:endParaRPr sz="1300">
              <a:latin typeface="Roboto"/>
              <a:cs typeface="Roboto"/>
            </a:endParaRPr>
          </a:p>
          <a:p>
            <a:pPr marL="98425">
              <a:lnSpc>
                <a:spcPct val="100000"/>
              </a:lnSpc>
              <a:spcBef>
                <a:spcPts val="1545"/>
              </a:spcBef>
            </a:pPr>
            <a:r>
              <a:rPr dirty="0" sz="1100" spc="-10">
                <a:latin typeface="Roboto"/>
                <a:cs typeface="Roboto"/>
              </a:rPr>
              <a:t>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&lt;stdio.h&gt;</a:t>
            </a:r>
            <a:endParaRPr sz="1100">
              <a:latin typeface="Roboto"/>
              <a:cs typeface="Roboto"/>
            </a:endParaRPr>
          </a:p>
          <a:p>
            <a:pPr marL="98425">
              <a:lnSpc>
                <a:spcPct val="100000"/>
              </a:lnSpc>
              <a:spcBef>
                <a:spcPts val="195"/>
              </a:spcBef>
            </a:pPr>
            <a:r>
              <a:rPr dirty="0" sz="1100" spc="-10">
                <a:latin typeface="Roboto"/>
                <a:cs typeface="Roboto"/>
              </a:rPr>
              <a:t>include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&lt;stdlib.h&gt;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Для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использования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perror()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Roboto"/>
              <a:cs typeface="Roboto"/>
            </a:endParaRPr>
          </a:p>
          <a:p>
            <a:pPr marL="151130" marR="5891530" indent="-139065">
              <a:lnSpc>
                <a:spcPct val="114999"/>
              </a:lnSpc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main()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 </a:t>
            </a:r>
            <a:r>
              <a:rPr dirty="0" sz="1100">
                <a:latin typeface="Roboto"/>
                <a:cs typeface="Roboto"/>
              </a:rPr>
              <a:t>FILE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*fp;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>
                <a:latin typeface="Roboto"/>
                <a:cs typeface="Roboto"/>
              </a:rPr>
              <a:t>char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ﬁlename[]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"my_test_ﬁle.txt";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</a:pP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Попытка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открыть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45">
                <a:latin typeface="Roboto"/>
                <a:cs typeface="Roboto"/>
              </a:rPr>
              <a:t>файл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для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чтения</a:t>
            </a:r>
            <a:endParaRPr sz="110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054" y="973859"/>
            <a:ext cx="6121350" cy="579466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9750" y="869550"/>
            <a:ext cx="6321425" cy="523176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51130">
              <a:lnSpc>
                <a:spcPct val="100000"/>
              </a:lnSpc>
              <a:spcBef>
                <a:spcPts val="295"/>
              </a:spcBef>
            </a:pPr>
            <a:r>
              <a:rPr dirty="0" sz="1100">
                <a:latin typeface="Roboto"/>
                <a:cs typeface="Roboto"/>
              </a:rPr>
              <a:t>if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((fp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fopen(ﬁlename,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"r"))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==</a:t>
            </a:r>
            <a:r>
              <a:rPr dirty="0" sz="1100" spc="-10">
                <a:latin typeface="Roboto"/>
                <a:cs typeface="Roboto"/>
              </a:rPr>
              <a:t> NULL)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289560" marR="5080">
              <a:lnSpc>
                <a:spcPct val="114999"/>
              </a:lnSpc>
            </a:pP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Если</a:t>
            </a:r>
            <a:r>
              <a:rPr dirty="0" sz="1100" spc="-6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fopen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вернул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NULL,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значит,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произошла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ошибка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(например,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45">
                <a:latin typeface="Roboto"/>
                <a:cs typeface="Roboto"/>
              </a:rPr>
              <a:t>файл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не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найден) perror("Ошибка</a:t>
            </a:r>
            <a:r>
              <a:rPr dirty="0" sz="1100" spc="-5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открытия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35">
                <a:latin typeface="Roboto"/>
                <a:cs typeface="Roboto"/>
              </a:rPr>
              <a:t>файла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для</a:t>
            </a:r>
            <a:r>
              <a:rPr dirty="0" sz="1100" spc="-25">
                <a:latin typeface="Roboto"/>
                <a:cs typeface="Roboto"/>
              </a:rPr>
              <a:t> чтения");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Выводит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сообщение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об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ошибке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из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системы</a:t>
            </a:r>
            <a:endParaRPr sz="1100">
              <a:latin typeface="Roboto"/>
              <a:cs typeface="Roboto"/>
            </a:endParaRPr>
          </a:p>
          <a:p>
            <a:pPr marL="289560">
              <a:lnSpc>
                <a:spcPct val="100000"/>
              </a:lnSpc>
              <a:spcBef>
                <a:spcPts val="200"/>
              </a:spcBef>
            </a:pP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1;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Завершить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программу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с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кодом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ошибки</a:t>
            </a:r>
            <a:endParaRPr sz="1100">
              <a:latin typeface="Roboto"/>
              <a:cs typeface="Roboto"/>
            </a:endParaRPr>
          </a:p>
          <a:p>
            <a:pPr marL="289560" marR="2103755">
              <a:lnSpc>
                <a:spcPct val="114999"/>
              </a:lnSpc>
            </a:pP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Пример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продолжения: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попытка</a:t>
            </a:r>
            <a:r>
              <a:rPr dirty="0" sz="1100" spc="-20">
                <a:latin typeface="Roboto"/>
                <a:cs typeface="Roboto"/>
              </a:rPr>
              <a:t> создать </a:t>
            </a:r>
            <a:r>
              <a:rPr dirty="0" sz="1100" spc="-45">
                <a:latin typeface="Roboto"/>
                <a:cs typeface="Roboto"/>
              </a:rPr>
              <a:t>файл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для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записи printf("Попробуем</a:t>
            </a:r>
            <a:r>
              <a:rPr dirty="0" sz="1100" spc="-5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создать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45">
                <a:latin typeface="Roboto"/>
                <a:cs typeface="Roboto"/>
              </a:rPr>
              <a:t>файл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для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записи...\n");</a:t>
            </a:r>
            <a:endParaRPr sz="1100">
              <a:latin typeface="Roboto"/>
              <a:cs typeface="Roboto"/>
            </a:endParaRPr>
          </a:p>
          <a:p>
            <a:pPr marL="462280" marR="2586355" indent="-173355">
              <a:lnSpc>
                <a:spcPct val="114999"/>
              </a:lnSpc>
            </a:pPr>
            <a:r>
              <a:rPr dirty="0" sz="1100">
                <a:latin typeface="Roboto"/>
                <a:cs typeface="Roboto"/>
              </a:rPr>
              <a:t>if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((fp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fopen(ﬁlename,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"w"))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==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NULL)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r>
              <a:rPr dirty="0" sz="1100" spc="50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perror("Ошибка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создания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35">
                <a:latin typeface="Roboto"/>
                <a:cs typeface="Roboto"/>
              </a:rPr>
              <a:t>файла </a:t>
            </a:r>
            <a:r>
              <a:rPr dirty="0" sz="1100">
                <a:latin typeface="Roboto"/>
                <a:cs typeface="Roboto"/>
              </a:rPr>
              <a:t>для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записи"); </a:t>
            </a: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1;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Завершить </a:t>
            </a:r>
            <a:r>
              <a:rPr dirty="0" sz="1100" spc="-10">
                <a:latin typeface="Roboto"/>
                <a:cs typeface="Roboto"/>
              </a:rPr>
              <a:t>программу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с</a:t>
            </a:r>
            <a:r>
              <a:rPr dirty="0" sz="1100" spc="-20">
                <a:latin typeface="Roboto"/>
                <a:cs typeface="Roboto"/>
              </a:rPr>
              <a:t> кодом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ошибки</a:t>
            </a:r>
            <a:endParaRPr sz="1100">
              <a:latin typeface="Roboto"/>
              <a:cs typeface="Roboto"/>
            </a:endParaRPr>
          </a:p>
          <a:p>
            <a:pPr marL="289560">
              <a:lnSpc>
                <a:spcPct val="100000"/>
              </a:lnSpc>
              <a:spcBef>
                <a:spcPts val="200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dirty="0" sz="1100">
                <a:latin typeface="Roboto"/>
                <a:cs typeface="Roboto"/>
              </a:rPr>
              <a:t>printf("Файл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успешно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создан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и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открыт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для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записи.\n");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>
                <a:latin typeface="Roboto"/>
                <a:cs typeface="Roboto"/>
              </a:rPr>
              <a:t>}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else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289560">
              <a:lnSpc>
                <a:spcPct val="100000"/>
              </a:lnSpc>
              <a:spcBef>
                <a:spcPts val="200"/>
              </a:spcBef>
            </a:pPr>
            <a:r>
              <a:rPr dirty="0" sz="1100">
                <a:latin typeface="Roboto"/>
                <a:cs typeface="Roboto"/>
              </a:rPr>
              <a:t>printf("Файл</a:t>
            </a:r>
            <a:r>
              <a:rPr dirty="0" sz="1100" spc="-5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успешно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открыт</a:t>
            </a:r>
            <a:r>
              <a:rPr dirty="0" sz="1100" spc="-5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для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чтения.\n");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195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5"/>
              </a:spcBef>
            </a:pP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Здесь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выполняются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операции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с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файлом...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Roboto"/>
              <a:cs typeface="Roboto"/>
            </a:endParaRPr>
          </a:p>
          <a:p>
            <a:pPr marL="151130" marR="4935855">
              <a:lnSpc>
                <a:spcPct val="114999"/>
              </a:lnSpc>
            </a:pP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Закрытие</a:t>
            </a:r>
            <a:r>
              <a:rPr dirty="0" sz="1100" spc="5">
                <a:latin typeface="Roboto"/>
                <a:cs typeface="Roboto"/>
              </a:rPr>
              <a:t> </a:t>
            </a:r>
            <a:r>
              <a:rPr dirty="0" sz="1100" spc="-35">
                <a:latin typeface="Roboto"/>
                <a:cs typeface="Roboto"/>
              </a:rPr>
              <a:t>файла </a:t>
            </a:r>
            <a:r>
              <a:rPr dirty="0" sz="1100">
                <a:latin typeface="Roboto"/>
                <a:cs typeface="Roboto"/>
              </a:rPr>
              <a:t>if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(fclose(fp)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!=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0)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289560" marR="1020444">
              <a:lnSpc>
                <a:spcPct val="114999"/>
              </a:lnSpc>
            </a:pP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Если</a:t>
            </a:r>
            <a:r>
              <a:rPr dirty="0" sz="1100" spc="-7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fclose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вернул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ненулевое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значение,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произошла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ошибка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при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закрытии perror("Ошибка</a:t>
            </a:r>
            <a:r>
              <a:rPr dirty="0" sz="1100" spc="-20">
                <a:latin typeface="Roboto"/>
                <a:cs typeface="Roboto"/>
              </a:rPr>
              <a:t> закрытия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файла");</a:t>
            </a:r>
            <a:endParaRPr sz="1100">
              <a:latin typeface="Roboto"/>
              <a:cs typeface="Roboto"/>
            </a:endParaRPr>
          </a:p>
          <a:p>
            <a:pPr marL="289560">
              <a:lnSpc>
                <a:spcPct val="100000"/>
              </a:lnSpc>
              <a:spcBef>
                <a:spcPts val="200"/>
              </a:spcBef>
            </a:pP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1;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Завершить </a:t>
            </a:r>
            <a:r>
              <a:rPr dirty="0" sz="1100" spc="-10">
                <a:latin typeface="Roboto"/>
                <a:cs typeface="Roboto"/>
              </a:rPr>
              <a:t>программу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с</a:t>
            </a:r>
            <a:r>
              <a:rPr dirty="0" sz="1100" spc="-20">
                <a:latin typeface="Roboto"/>
                <a:cs typeface="Roboto"/>
              </a:rPr>
              <a:t> кодом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ошибки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195"/>
              </a:spcBef>
            </a:pPr>
            <a:r>
              <a:rPr dirty="0" sz="1100">
                <a:latin typeface="Roboto"/>
                <a:cs typeface="Roboto"/>
              </a:rPr>
              <a:t>printf("Файл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успешно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закрыт.\n");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5"/>
              </a:spcBef>
            </a:pP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5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0;</a:t>
            </a:r>
            <a:r>
              <a:rPr dirty="0" sz="1100" spc="-50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Успешное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завершение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программы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6827372"/>
            <a:ext cx="6230620" cy="243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25">
                <a:latin typeface="Roboto"/>
                <a:cs typeface="Roboto"/>
              </a:rPr>
              <a:t>Закрытие</a:t>
            </a:r>
            <a:r>
              <a:rPr dirty="0" sz="1650" spc="-45">
                <a:latin typeface="Roboto"/>
                <a:cs typeface="Roboto"/>
              </a:rPr>
              <a:t> </a:t>
            </a:r>
            <a:r>
              <a:rPr dirty="0" sz="1650" spc="-40">
                <a:latin typeface="Roboto"/>
                <a:cs typeface="Roboto"/>
              </a:rPr>
              <a:t>файла</a:t>
            </a:r>
            <a:r>
              <a:rPr dirty="0" sz="1650" spc="-45">
                <a:latin typeface="Roboto"/>
                <a:cs typeface="Roboto"/>
              </a:rPr>
              <a:t> (функция </a:t>
            </a:r>
            <a:r>
              <a:rPr dirty="0" sz="1400" spc="-10">
                <a:solidFill>
                  <a:srgbClr val="178037"/>
                </a:solidFill>
                <a:latin typeface="Courier New"/>
                <a:cs typeface="Courier New"/>
              </a:rPr>
              <a:t>fclose</a:t>
            </a:r>
            <a:r>
              <a:rPr dirty="0" sz="1650" spc="-10">
                <a:latin typeface="Roboto"/>
                <a:cs typeface="Roboto"/>
              </a:rPr>
              <a:t>)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650">
              <a:latin typeface="Roboto"/>
              <a:cs typeface="Roboto"/>
            </a:endParaRPr>
          </a:p>
          <a:p>
            <a:pPr algn="just" marL="12700" marR="5080">
              <a:lnSpc>
                <a:spcPct val="114999"/>
              </a:lnSpc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int</a:t>
            </a:r>
            <a:r>
              <a:rPr dirty="0" sz="1100" spc="50">
                <a:solidFill>
                  <a:srgbClr val="178037"/>
                </a:solidFill>
                <a:latin typeface="Courier New"/>
                <a:cs typeface="Courier New"/>
              </a:rPr>
              <a:t> 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fclose(FILE</a:t>
            </a:r>
            <a:r>
              <a:rPr dirty="0" sz="1100" spc="55">
                <a:solidFill>
                  <a:srgbClr val="178037"/>
                </a:solidFill>
                <a:latin typeface="Courier New"/>
                <a:cs typeface="Courier New"/>
              </a:rPr>
              <a:t> 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*stream)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2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Закрывает</a:t>
            </a:r>
            <a:r>
              <a:rPr dirty="0" sz="1300" spc="2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поток,</a:t>
            </a:r>
            <a:r>
              <a:rPr dirty="0" sz="1300" spc="2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связанный</a:t>
            </a:r>
            <a:r>
              <a:rPr dirty="0" sz="1300" spc="2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235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указанным </a:t>
            </a:r>
            <a:r>
              <a:rPr dirty="0" sz="1300">
                <a:latin typeface="Roboto"/>
                <a:cs typeface="Roboto"/>
              </a:rPr>
              <a:t>указателем</a:t>
            </a:r>
            <a:r>
              <a:rPr dirty="0" sz="1300" spc="220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stream</a:t>
            </a:r>
            <a:r>
              <a:rPr dirty="0" sz="1300">
                <a:latin typeface="Roboto"/>
                <a:cs typeface="Roboto"/>
              </a:rPr>
              <a:t>.</a:t>
            </a:r>
            <a:r>
              <a:rPr dirty="0" sz="1300" spc="2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Возвращает</a:t>
            </a:r>
            <a:r>
              <a:rPr dirty="0" sz="1300" spc="2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0</a:t>
            </a:r>
            <a:r>
              <a:rPr dirty="0" sz="1300" spc="2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</a:t>
            </a:r>
            <a:r>
              <a:rPr dirty="0" sz="1300" spc="2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успехе,</a:t>
            </a:r>
            <a:r>
              <a:rPr dirty="0" sz="1300" spc="225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EOF</a:t>
            </a:r>
            <a:r>
              <a:rPr dirty="0" sz="1100" spc="-114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при</a:t>
            </a:r>
            <a:r>
              <a:rPr dirty="0" sz="1300" spc="2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ошибке.</a:t>
            </a:r>
            <a:r>
              <a:rPr dirty="0" sz="1300" spc="225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Обязательно </a:t>
            </a:r>
            <a:r>
              <a:rPr dirty="0" sz="1300" b="1">
                <a:latin typeface="Roboto"/>
                <a:cs typeface="Roboto"/>
              </a:rPr>
              <a:t>закрывайте</a:t>
            </a:r>
            <a:r>
              <a:rPr dirty="0" sz="1300" spc="110" b="1">
                <a:latin typeface="Roboto"/>
                <a:cs typeface="Roboto"/>
              </a:rPr>
              <a:t>  </a:t>
            </a:r>
            <a:r>
              <a:rPr dirty="0" sz="1300" b="1">
                <a:latin typeface="Roboto"/>
                <a:cs typeface="Roboto"/>
              </a:rPr>
              <a:t>открытые</a:t>
            </a:r>
            <a:r>
              <a:rPr dirty="0" sz="1300" spc="484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файлы</a:t>
            </a:r>
            <a:r>
              <a:rPr dirty="0" sz="1300" spc="484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48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освобождения</a:t>
            </a:r>
            <a:r>
              <a:rPr dirty="0" sz="1300" spc="484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системных</a:t>
            </a:r>
            <a:r>
              <a:rPr dirty="0" sz="1300" spc="48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ресурсов</a:t>
            </a:r>
            <a:r>
              <a:rPr dirty="0" sz="1300" spc="484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и </a:t>
            </a:r>
            <a:r>
              <a:rPr dirty="0" sz="1300">
                <a:latin typeface="Roboto"/>
                <a:cs typeface="Roboto"/>
              </a:rPr>
              <a:t>гарантии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записи</a:t>
            </a:r>
            <a:r>
              <a:rPr dirty="0" sz="1300" spc="-30">
                <a:latin typeface="Roboto"/>
                <a:cs typeface="Roboto"/>
              </a:rPr>
              <a:t> буферизованных </a:t>
            </a:r>
            <a:r>
              <a:rPr dirty="0" sz="1300" spc="-10">
                <a:latin typeface="Roboto"/>
                <a:cs typeface="Roboto"/>
              </a:rPr>
              <a:t>данных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диск.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300">
              <a:latin typeface="Roboto"/>
              <a:cs typeface="Roboto"/>
            </a:endParaRPr>
          </a:p>
          <a:p>
            <a:pPr algn="just" marL="12700" marR="7620">
              <a:lnSpc>
                <a:spcPct val="150000"/>
              </a:lnSpc>
            </a:pPr>
            <a:r>
              <a:rPr dirty="0" sz="1650">
                <a:latin typeface="Roboto"/>
                <a:cs typeface="Roboto"/>
              </a:rPr>
              <a:t>Низкоуровневый</a:t>
            </a:r>
            <a:r>
              <a:rPr dirty="0" sz="1650" spc="320">
                <a:latin typeface="Roboto"/>
                <a:cs typeface="Roboto"/>
              </a:rPr>
              <a:t>    </a:t>
            </a:r>
            <a:r>
              <a:rPr dirty="0" sz="1650">
                <a:latin typeface="Roboto"/>
                <a:cs typeface="Roboto"/>
              </a:rPr>
              <a:t>файловый</a:t>
            </a:r>
            <a:r>
              <a:rPr dirty="0" sz="1650" spc="305">
                <a:latin typeface="Roboto"/>
                <a:cs typeface="Roboto"/>
              </a:rPr>
              <a:t>    </a:t>
            </a:r>
            <a:r>
              <a:rPr dirty="0" sz="1650" spc="-40">
                <a:latin typeface="Roboto"/>
                <a:cs typeface="Roboto"/>
              </a:rPr>
              <a:t>ввод-</a:t>
            </a:r>
            <a:r>
              <a:rPr dirty="0" sz="1650">
                <a:latin typeface="Roboto"/>
                <a:cs typeface="Roboto"/>
              </a:rPr>
              <a:t>вывод</a:t>
            </a:r>
            <a:r>
              <a:rPr dirty="0" sz="1650" spc="310">
                <a:latin typeface="Roboto"/>
                <a:cs typeface="Roboto"/>
              </a:rPr>
              <a:t>    </a:t>
            </a:r>
            <a:r>
              <a:rPr dirty="0" sz="1650" spc="-10">
                <a:latin typeface="Roboto"/>
                <a:cs typeface="Roboto"/>
              </a:rPr>
              <a:t>(Файловые дескрипторы)</a:t>
            </a:r>
            <a:endParaRPr sz="16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63716"/>
            <a:ext cx="6227445" cy="3381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Параллельно</a:t>
            </a:r>
            <a:r>
              <a:rPr dirty="0" sz="1300" spc="49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49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высокоуровневыми</a:t>
            </a:r>
            <a:r>
              <a:rPr dirty="0" sz="1300" spc="49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функциями</a:t>
            </a:r>
            <a:r>
              <a:rPr dirty="0" sz="1300" spc="490">
                <a:latin typeface="Roboto"/>
                <a:cs typeface="Roboto"/>
              </a:rPr>
              <a:t> 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stdio.h</a:t>
            </a:r>
            <a:r>
              <a:rPr dirty="0" sz="1300">
                <a:latin typeface="Roboto"/>
                <a:cs typeface="Roboto"/>
              </a:rPr>
              <a:t>,</a:t>
            </a:r>
            <a:r>
              <a:rPr dirty="0" sz="1300" spc="490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существует </a:t>
            </a:r>
            <a:r>
              <a:rPr dirty="0" sz="1300">
                <a:latin typeface="Roboto"/>
                <a:cs typeface="Roboto"/>
              </a:rPr>
              <a:t>низкоуровневый</a:t>
            </a:r>
            <a:r>
              <a:rPr dirty="0" sz="1300" spc="30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интерфейс</a:t>
            </a:r>
            <a:r>
              <a:rPr dirty="0" sz="1300" spc="2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работы</a:t>
            </a:r>
            <a:r>
              <a:rPr dirty="0" sz="1300" spc="2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2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файлами,</a:t>
            </a:r>
            <a:r>
              <a:rPr dirty="0" sz="1300" spc="2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основанный</a:t>
            </a:r>
            <a:r>
              <a:rPr dirty="0" sz="1300" spc="2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</a:t>
            </a:r>
            <a:r>
              <a:rPr dirty="0" sz="1300" spc="245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системных вызовах</a:t>
            </a:r>
            <a:r>
              <a:rPr dirty="0" sz="1300" spc="-30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30" b="1">
                <a:latin typeface="Roboto"/>
                <a:cs typeface="Roboto"/>
              </a:rPr>
              <a:t>файловых</a:t>
            </a:r>
            <a:r>
              <a:rPr dirty="0" sz="1300" spc="-25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дескрипторах</a:t>
            </a:r>
            <a:r>
              <a:rPr dirty="0" sz="1300" spc="-10">
                <a:latin typeface="Roboto"/>
                <a:cs typeface="Roboto"/>
              </a:rPr>
              <a:t>.</a:t>
            </a:r>
            <a:endParaRPr sz="1300">
              <a:latin typeface="Roboto"/>
              <a:cs typeface="Roboto"/>
            </a:endParaRPr>
          </a:p>
          <a:p>
            <a:pPr marL="765175" marR="352425" indent="-228600">
              <a:lnSpc>
                <a:spcPct val="114999"/>
              </a:lnSpc>
              <a:spcBef>
                <a:spcPts val="1300"/>
              </a:spcBef>
              <a:buFont typeface="Microsoft Sans Serif"/>
              <a:buChar char="●"/>
              <a:tabLst>
                <a:tab pos="765175" algn="l"/>
              </a:tabLst>
            </a:pPr>
            <a:r>
              <a:rPr dirty="0" sz="1300" b="1">
                <a:latin typeface="Roboto"/>
                <a:cs typeface="Roboto"/>
              </a:rPr>
              <a:t>Файловый</a:t>
            </a:r>
            <a:r>
              <a:rPr dirty="0" sz="1300" spc="-10" b="1">
                <a:latin typeface="Roboto"/>
                <a:cs typeface="Roboto"/>
              </a:rPr>
              <a:t> дескриптор </a:t>
            </a:r>
            <a:r>
              <a:rPr dirty="0" sz="1300" b="1">
                <a:latin typeface="Roboto"/>
                <a:cs typeface="Roboto"/>
              </a:rPr>
              <a:t>(ﬁle</a:t>
            </a:r>
            <a:r>
              <a:rPr dirty="0" sz="1300" spc="-10" b="1">
                <a:latin typeface="Roboto"/>
                <a:cs typeface="Roboto"/>
              </a:rPr>
              <a:t> </a:t>
            </a:r>
            <a:r>
              <a:rPr dirty="0" sz="1300" spc="-20" b="1">
                <a:latin typeface="Roboto"/>
                <a:cs typeface="Roboto"/>
              </a:rPr>
              <a:t>descriptor,</a:t>
            </a:r>
            <a:r>
              <a:rPr dirty="0" sz="1300" spc="-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fd)</a:t>
            </a:r>
            <a:r>
              <a:rPr dirty="0" sz="1300" spc="-10" b="1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—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это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целое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число</a:t>
            </a:r>
            <a:r>
              <a:rPr dirty="0" sz="1300" spc="-10">
                <a:latin typeface="Roboto"/>
                <a:cs typeface="Roboto"/>
              </a:rPr>
              <a:t> (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int</a:t>
            </a:r>
            <a:r>
              <a:rPr dirty="0" sz="1300" spc="-10">
                <a:latin typeface="Roboto"/>
                <a:cs typeface="Roboto"/>
              </a:rPr>
              <a:t>), которое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ядро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операционной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системы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присваивает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каждому </a:t>
            </a:r>
            <a:r>
              <a:rPr dirty="0" sz="1300" spc="-30">
                <a:latin typeface="Roboto"/>
                <a:cs typeface="Roboto"/>
              </a:rPr>
              <a:t>открытому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файлу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или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устройству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конкретного процесса. </a:t>
            </a:r>
            <a:r>
              <a:rPr dirty="0" sz="1300" spc="-20">
                <a:latin typeface="Roboto"/>
                <a:cs typeface="Roboto"/>
              </a:rPr>
              <a:t>Дескрипторы </a:t>
            </a:r>
            <a:r>
              <a:rPr dirty="0" sz="1300" spc="-10">
                <a:latin typeface="Roboto"/>
                <a:cs typeface="Roboto"/>
              </a:rPr>
              <a:t>уникальны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пределах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одного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процесса.</a:t>
            </a:r>
            <a:endParaRPr sz="1300">
              <a:latin typeface="Roboto"/>
              <a:cs typeface="Roboto"/>
            </a:endParaRPr>
          </a:p>
          <a:p>
            <a:pPr marL="764540" marR="203835" indent="-228600">
              <a:lnSpc>
                <a:spcPct val="114999"/>
              </a:lnSpc>
              <a:buFont typeface="Microsoft Sans Serif"/>
              <a:buChar char="●"/>
              <a:tabLst>
                <a:tab pos="764540" algn="l"/>
              </a:tabLst>
            </a:pPr>
            <a:r>
              <a:rPr dirty="0" sz="1300" spc="-10">
                <a:latin typeface="Roboto"/>
                <a:cs typeface="Roboto"/>
              </a:rPr>
              <a:t>Низкоуровневые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функции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(системные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вызовы):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open()</a:t>
            </a:r>
            <a:r>
              <a:rPr dirty="0" sz="1300" spc="-10">
                <a:latin typeface="Roboto"/>
                <a:cs typeface="Roboto"/>
              </a:rPr>
              <a:t>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read()</a:t>
            </a:r>
            <a:r>
              <a:rPr dirty="0" sz="1300" spc="-10">
                <a:latin typeface="Roboto"/>
                <a:cs typeface="Roboto"/>
              </a:rPr>
              <a:t>,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write()</a:t>
            </a:r>
            <a:r>
              <a:rPr dirty="0" sz="1300" spc="-10">
                <a:latin typeface="Roboto"/>
                <a:cs typeface="Roboto"/>
              </a:rPr>
              <a:t>,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close()</a:t>
            </a:r>
            <a:r>
              <a:rPr dirty="0" sz="1300" spc="-10">
                <a:latin typeface="Roboto"/>
                <a:cs typeface="Roboto"/>
              </a:rPr>
              <a:t>,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lseek()</a:t>
            </a:r>
            <a:r>
              <a:rPr dirty="0" sz="1300" spc="-10">
                <a:latin typeface="Roboto"/>
                <a:cs typeface="Roboto"/>
              </a:rPr>
              <a:t>. </a:t>
            </a:r>
            <a:r>
              <a:rPr dirty="0" sz="1300">
                <a:latin typeface="Roboto"/>
                <a:cs typeface="Roboto"/>
              </a:rPr>
              <a:t>Они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взаимодействуют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напрямую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10">
                <a:latin typeface="Roboto"/>
                <a:cs typeface="Roboto"/>
              </a:rPr>
              <a:t> ядром </a:t>
            </a:r>
            <a:r>
              <a:rPr dirty="0" sz="1300">
                <a:latin typeface="Roboto"/>
                <a:cs typeface="Roboto"/>
              </a:rPr>
              <a:t>ОС,</a:t>
            </a:r>
            <a:r>
              <a:rPr dirty="0" sz="1300" spc="-10">
                <a:latin typeface="Roboto"/>
                <a:cs typeface="Roboto"/>
              </a:rPr>
              <a:t> минуя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буферизацию,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предоставляемую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stdio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latin typeface="Roboto"/>
                <a:cs typeface="Roboto"/>
              </a:rPr>
              <a:t>(хотя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ядро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само </a:t>
            </a:r>
            <a:r>
              <a:rPr dirty="0" sz="1300">
                <a:latin typeface="Roboto"/>
                <a:cs typeface="Roboto"/>
              </a:rPr>
              <a:t>может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буферизовать).</a:t>
            </a:r>
            <a:endParaRPr sz="1300">
              <a:latin typeface="Roboto"/>
              <a:cs typeface="Roboto"/>
            </a:endParaRPr>
          </a:p>
          <a:p>
            <a:pPr marL="765175" marR="354330" indent="-228600">
              <a:lnSpc>
                <a:spcPct val="114999"/>
              </a:lnSpc>
              <a:buFont typeface="Microsoft Sans Serif"/>
              <a:buChar char="●"/>
              <a:tabLst>
                <a:tab pos="765175" algn="l"/>
              </a:tabLst>
            </a:pPr>
            <a:r>
              <a:rPr dirty="0" sz="1300" spc="-20">
                <a:latin typeface="Roboto"/>
                <a:cs typeface="Roboto"/>
              </a:rPr>
              <a:t>Стандартные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дескрипторы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(автоматически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открыты):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0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stdin</a:t>
            </a:r>
            <a:r>
              <a:rPr dirty="0" sz="1300">
                <a:latin typeface="Roboto"/>
                <a:cs typeface="Roboto"/>
              </a:rPr>
              <a:t>),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1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stdout</a:t>
            </a:r>
            <a:r>
              <a:rPr dirty="0" sz="1300">
                <a:latin typeface="Roboto"/>
                <a:cs typeface="Roboto"/>
              </a:rPr>
              <a:t>),</a:t>
            </a:r>
            <a:r>
              <a:rPr dirty="0" sz="1300" spc="-6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2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stderr</a:t>
            </a:r>
            <a:r>
              <a:rPr dirty="0" sz="1300">
                <a:latin typeface="Roboto"/>
                <a:cs typeface="Roboto"/>
              </a:rPr>
              <a:t>).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Функция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fileno(FILE</a:t>
            </a:r>
            <a:r>
              <a:rPr dirty="0" sz="1100" spc="-6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178037"/>
                </a:solidFill>
                <a:latin typeface="Courier New"/>
                <a:cs typeface="Courier New"/>
              </a:rPr>
              <a:t>*stream)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latin typeface="Roboto"/>
                <a:cs typeface="Roboto"/>
              </a:rPr>
              <a:t>возвращает </a:t>
            </a:r>
            <a:r>
              <a:rPr dirty="0" sz="1300" spc="-30">
                <a:latin typeface="Roboto"/>
                <a:cs typeface="Roboto"/>
              </a:rPr>
              <a:t>файловый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дескриптор,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связанный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потоком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FILE*</a:t>
            </a:r>
            <a:r>
              <a:rPr dirty="0" sz="1300" spc="-10">
                <a:latin typeface="Roboto"/>
                <a:cs typeface="Roboto"/>
              </a:rPr>
              <a:t>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4773693"/>
            <a:ext cx="482219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30">
                <a:latin typeface="Roboto"/>
                <a:cs typeface="Roboto"/>
              </a:rPr>
              <a:t>Текстовые</a:t>
            </a:r>
            <a:r>
              <a:rPr dirty="0" sz="2650" spc="-65">
                <a:latin typeface="Roboto"/>
                <a:cs typeface="Roboto"/>
              </a:rPr>
              <a:t> </a:t>
            </a:r>
            <a:r>
              <a:rPr dirty="0" sz="2650">
                <a:latin typeface="Roboto"/>
                <a:cs typeface="Roboto"/>
              </a:rPr>
              <a:t>и</a:t>
            </a:r>
            <a:r>
              <a:rPr dirty="0" sz="2650" spc="-60">
                <a:latin typeface="Roboto"/>
                <a:cs typeface="Roboto"/>
              </a:rPr>
              <a:t> </a:t>
            </a:r>
            <a:r>
              <a:rPr dirty="0" sz="2650">
                <a:latin typeface="Roboto"/>
                <a:cs typeface="Roboto"/>
              </a:rPr>
              <a:t>бинарные</a:t>
            </a:r>
            <a:r>
              <a:rPr dirty="0" sz="2650" spc="-65">
                <a:latin typeface="Roboto"/>
                <a:cs typeface="Roboto"/>
              </a:rPr>
              <a:t> </a:t>
            </a:r>
            <a:r>
              <a:rPr dirty="0" sz="2650" spc="-30">
                <a:latin typeface="Roboto"/>
                <a:cs typeface="Roboto"/>
              </a:rPr>
              <a:t>файлы</a:t>
            </a:r>
            <a:endParaRPr sz="26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5533868"/>
            <a:ext cx="6232525" cy="3330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 spc="10">
                <a:latin typeface="Roboto"/>
                <a:cs typeface="Roboto"/>
              </a:rPr>
              <a:t>Файлы</a:t>
            </a:r>
            <a:r>
              <a:rPr dirty="0" sz="1300" spc="37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могут</a:t>
            </a:r>
            <a:r>
              <a:rPr dirty="0" sz="1300" spc="37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обрабатываться</a:t>
            </a:r>
            <a:r>
              <a:rPr dirty="0" sz="1300" spc="30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как</a:t>
            </a:r>
            <a:r>
              <a:rPr dirty="0" sz="1300" spc="300">
                <a:latin typeface="Roboto"/>
                <a:cs typeface="Roboto"/>
              </a:rPr>
              <a:t> </a:t>
            </a:r>
            <a:r>
              <a:rPr dirty="0" sz="1300" spc="-15" b="1">
                <a:latin typeface="Roboto"/>
                <a:cs typeface="Roboto"/>
              </a:rPr>
              <a:t>текстовые</a:t>
            </a:r>
            <a:r>
              <a:rPr dirty="0" sz="1300" spc="295" b="1">
                <a:latin typeface="Roboto"/>
                <a:cs typeface="Roboto"/>
              </a:rPr>
              <a:t> </a:t>
            </a:r>
            <a:r>
              <a:rPr dirty="0" sz="1300" spc="5">
                <a:latin typeface="Roboto"/>
                <a:cs typeface="Roboto"/>
              </a:rPr>
              <a:t>или</a:t>
            </a:r>
            <a:r>
              <a:rPr dirty="0" sz="1300" spc="300">
                <a:latin typeface="Roboto"/>
                <a:cs typeface="Roboto"/>
              </a:rPr>
              <a:t> </a:t>
            </a:r>
            <a:r>
              <a:rPr dirty="0" sz="1300" spc="-5" b="1">
                <a:latin typeface="Roboto"/>
                <a:cs typeface="Roboto"/>
              </a:rPr>
              <a:t>бинарные</a:t>
            </a:r>
            <a:r>
              <a:rPr dirty="0" sz="1300" spc="295" b="1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потоки.</a:t>
            </a:r>
            <a:r>
              <a:rPr dirty="0" sz="1300" spc="30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Режим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открытия</a:t>
            </a:r>
            <a:r>
              <a:rPr dirty="0" sz="1300" spc="14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t</a:t>
            </a:r>
            <a:r>
              <a:rPr dirty="0" sz="1100" spc="-19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5">
                <a:latin typeface="Roboto"/>
                <a:cs typeface="Roboto"/>
              </a:rPr>
              <a:t>или</a:t>
            </a:r>
            <a:r>
              <a:rPr dirty="0" sz="1300" spc="145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b</a:t>
            </a:r>
            <a:r>
              <a:rPr dirty="0" sz="1100" spc="-19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145">
                <a:latin typeface="Roboto"/>
                <a:cs typeface="Roboto"/>
              </a:rPr>
              <a:t> </a:t>
            </a:r>
            <a:r>
              <a:rPr dirty="0" sz="1300" spc="-15">
                <a:latin typeface="Roboto"/>
                <a:cs typeface="Roboto"/>
              </a:rPr>
              <a:t>строке</a:t>
            </a:r>
            <a:r>
              <a:rPr dirty="0" sz="1300" spc="7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режима</a:t>
            </a:r>
            <a:r>
              <a:rPr dirty="0" sz="1300" spc="7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fopen</a:t>
            </a:r>
            <a:r>
              <a:rPr dirty="0" sz="1300" spc="-10">
                <a:latin typeface="Roboto"/>
                <a:cs typeface="Roboto"/>
              </a:rPr>
              <a:t>)</a:t>
            </a:r>
            <a:r>
              <a:rPr dirty="0" sz="1300" spc="70">
                <a:latin typeface="Roboto"/>
                <a:cs typeface="Roboto"/>
              </a:rPr>
              <a:t> </a:t>
            </a:r>
            <a:r>
              <a:rPr dirty="0" sz="1300" spc="-15">
                <a:latin typeface="Roboto"/>
                <a:cs typeface="Roboto"/>
              </a:rPr>
              <a:t>определяет,</a:t>
            </a:r>
            <a:r>
              <a:rPr dirty="0" sz="1300" spc="7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какие</a:t>
            </a:r>
            <a:r>
              <a:rPr dirty="0" sz="1300" spc="70">
                <a:latin typeface="Roboto"/>
                <a:cs typeface="Roboto"/>
              </a:rPr>
              <a:t> </a:t>
            </a:r>
            <a:r>
              <a:rPr dirty="0" sz="1300" spc="-15">
                <a:latin typeface="Roboto"/>
                <a:cs typeface="Roboto"/>
              </a:rPr>
              <a:t>преобразования данных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будут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5">
                <a:latin typeface="Roboto"/>
                <a:cs typeface="Roboto"/>
              </a:rPr>
              <a:t>выполняться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5">
                <a:latin typeface="Roboto"/>
                <a:cs typeface="Roboto"/>
              </a:rPr>
              <a:t>библиотекой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Си.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650" spc="-20">
                <a:latin typeface="Roboto"/>
                <a:cs typeface="Roboto"/>
              </a:rPr>
              <a:t>Текстовый</a:t>
            </a:r>
            <a:r>
              <a:rPr dirty="0" sz="1650" spc="-35">
                <a:latin typeface="Roboto"/>
                <a:cs typeface="Roboto"/>
              </a:rPr>
              <a:t> </a:t>
            </a:r>
            <a:r>
              <a:rPr dirty="0" sz="1650" spc="-20">
                <a:latin typeface="Roboto"/>
                <a:cs typeface="Roboto"/>
              </a:rPr>
              <a:t>поток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650">
              <a:latin typeface="Roboto"/>
              <a:cs typeface="Roboto"/>
            </a:endParaRPr>
          </a:p>
          <a:p>
            <a:pPr algn="just" marL="12700" marR="9525">
              <a:lnSpc>
                <a:spcPct val="114999"/>
              </a:lnSpc>
            </a:pPr>
            <a:r>
              <a:rPr dirty="0" sz="1300">
                <a:latin typeface="Roboto"/>
                <a:cs typeface="Roboto"/>
              </a:rPr>
              <a:t>Последовательность</a:t>
            </a:r>
            <a:r>
              <a:rPr dirty="0" sz="1300" spc="23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символов,</a:t>
            </a:r>
            <a:r>
              <a:rPr dirty="0" sz="1300" spc="2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организованная</a:t>
            </a:r>
            <a:r>
              <a:rPr dirty="0" sz="1300" spc="24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23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строки,</a:t>
            </a:r>
            <a:r>
              <a:rPr dirty="0" sz="1300" spc="204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разделенные </a:t>
            </a:r>
            <a:r>
              <a:rPr dirty="0" sz="1300">
                <a:latin typeface="Roboto"/>
                <a:cs typeface="Roboto"/>
              </a:rPr>
              <a:t>символом</a:t>
            </a:r>
            <a:r>
              <a:rPr dirty="0" sz="1300" spc="38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новой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строки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\n</a:t>
            </a:r>
            <a:r>
              <a:rPr dirty="0" sz="1300">
                <a:latin typeface="Roboto"/>
                <a:cs typeface="Roboto"/>
              </a:rPr>
              <a:t>).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работе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текстовом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режиме</a:t>
            </a:r>
            <a:r>
              <a:rPr dirty="0" sz="1300" spc="3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библиотека </a:t>
            </a:r>
            <a:r>
              <a:rPr dirty="0" sz="1100" spc="-65">
                <a:solidFill>
                  <a:srgbClr val="178037"/>
                </a:solidFill>
                <a:latin typeface="Courier New"/>
                <a:cs typeface="Courier New"/>
              </a:rPr>
              <a:t>stdio</a:t>
            </a:r>
            <a:r>
              <a:rPr dirty="0" sz="1100" spc="-10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может</a:t>
            </a:r>
            <a:r>
              <a:rPr dirty="0" sz="1300" spc="-8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выполнять</a:t>
            </a:r>
            <a:r>
              <a:rPr dirty="0" sz="1300" spc="-7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преобразования</a:t>
            </a:r>
            <a:r>
              <a:rPr dirty="0" sz="1300" spc="-7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символов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конца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строки</a:t>
            </a:r>
            <a:r>
              <a:rPr dirty="0" sz="1300">
                <a:latin typeface="Roboto"/>
                <a:cs typeface="Roboto"/>
              </a:rPr>
              <a:t> (например, </a:t>
            </a:r>
            <a:r>
              <a:rPr dirty="0" sz="1100" spc="-25">
                <a:solidFill>
                  <a:srgbClr val="178037"/>
                </a:solidFill>
                <a:latin typeface="Courier New"/>
                <a:cs typeface="Courier New"/>
              </a:rPr>
              <a:t>\n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30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CR+LF</a:t>
            </a:r>
            <a:r>
              <a:rPr dirty="0" sz="1300" spc="2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2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Windows).</a:t>
            </a:r>
            <a:r>
              <a:rPr dirty="0" sz="1300" spc="2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Чтение</a:t>
            </a:r>
            <a:r>
              <a:rPr dirty="0" sz="1300" spc="2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также</a:t>
            </a:r>
            <a:r>
              <a:rPr dirty="0" sz="1300" spc="2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может</a:t>
            </a:r>
            <a:r>
              <a:rPr dirty="0" sz="1300" spc="2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интерпретировать</a:t>
            </a:r>
            <a:r>
              <a:rPr dirty="0" sz="1300" spc="2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определенный </a:t>
            </a:r>
            <a:r>
              <a:rPr dirty="0" sz="1300">
                <a:latin typeface="Roboto"/>
                <a:cs typeface="Roboto"/>
              </a:rPr>
              <a:t>символ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(0x1A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Windows)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как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маркер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конца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файла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(EOF).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650">
                <a:latin typeface="Roboto"/>
                <a:cs typeface="Roboto"/>
              </a:rPr>
              <a:t>Бинарный</a:t>
            </a:r>
            <a:r>
              <a:rPr dirty="0" sz="1650" spc="-5">
                <a:latin typeface="Roboto"/>
                <a:cs typeface="Roboto"/>
              </a:rPr>
              <a:t> </a:t>
            </a:r>
            <a:r>
              <a:rPr dirty="0" sz="1650" spc="-20">
                <a:latin typeface="Roboto"/>
                <a:cs typeface="Roboto"/>
              </a:rPr>
              <a:t>поток</a:t>
            </a:r>
            <a:endParaRPr sz="16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63716"/>
            <a:ext cx="6226175" cy="1318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Roboto"/>
                <a:cs typeface="Roboto"/>
              </a:rPr>
              <a:t>Последовательность</a:t>
            </a:r>
            <a:r>
              <a:rPr dirty="0" sz="1300" spc="39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байтов</a:t>
            </a:r>
            <a:r>
              <a:rPr dirty="0" sz="1300" spc="360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без</a:t>
            </a:r>
            <a:r>
              <a:rPr dirty="0" sz="1300" spc="355">
                <a:latin typeface="Roboto"/>
                <a:cs typeface="Roboto"/>
              </a:rPr>
              <a:t>  </a:t>
            </a:r>
            <a:r>
              <a:rPr dirty="0" sz="1300" spc="-55">
                <a:latin typeface="Roboto"/>
                <a:cs typeface="Roboto"/>
              </a:rPr>
              <a:t>каких-</a:t>
            </a:r>
            <a:r>
              <a:rPr dirty="0" sz="1300">
                <a:latin typeface="Roboto"/>
                <a:cs typeface="Roboto"/>
              </a:rPr>
              <a:t>либо</a:t>
            </a:r>
            <a:r>
              <a:rPr dirty="0" sz="1300" spc="355">
                <a:latin typeface="Roboto"/>
                <a:cs typeface="Roboto"/>
              </a:rPr>
              <a:t>  </a:t>
            </a:r>
            <a:r>
              <a:rPr dirty="0" sz="1300">
                <a:latin typeface="Roboto"/>
                <a:cs typeface="Roboto"/>
              </a:rPr>
              <a:t>преобразований.</a:t>
            </a:r>
            <a:r>
              <a:rPr dirty="0" sz="1300" spc="355">
                <a:latin typeface="Roboto"/>
                <a:cs typeface="Roboto"/>
              </a:rPr>
              <a:t>  </a:t>
            </a:r>
            <a:r>
              <a:rPr dirty="0" sz="1300" spc="-10">
                <a:latin typeface="Roboto"/>
                <a:cs typeface="Roboto"/>
              </a:rPr>
              <a:t>Данные </a:t>
            </a:r>
            <a:r>
              <a:rPr dirty="0" sz="1300">
                <a:latin typeface="Roboto"/>
                <a:cs typeface="Roboto"/>
              </a:rPr>
              <a:t>читаются</a:t>
            </a:r>
            <a:r>
              <a:rPr dirty="0" sz="1300" spc="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записываются</a:t>
            </a:r>
            <a:r>
              <a:rPr dirty="0" sz="1300" spc="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"как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есть"</a:t>
            </a:r>
            <a:r>
              <a:rPr dirty="0" sz="1300" spc="5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(байт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байт).</a:t>
            </a:r>
            <a:r>
              <a:rPr dirty="0" sz="1300" spc="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Используется</a:t>
            </a:r>
            <a:r>
              <a:rPr dirty="0" sz="1300" spc="5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для</a:t>
            </a:r>
            <a:r>
              <a:rPr dirty="0" sz="1300" spc="5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данных </a:t>
            </a:r>
            <a:r>
              <a:rPr dirty="0" sz="1300">
                <a:latin typeface="Roboto"/>
                <a:cs typeface="Roboto"/>
              </a:rPr>
              <a:t>любых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типов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и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позволяет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прямой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доступ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байтам.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3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650">
                <a:latin typeface="Roboto"/>
                <a:cs typeface="Roboto"/>
              </a:rPr>
              <a:t>Функции</a:t>
            </a:r>
            <a:r>
              <a:rPr dirty="0" sz="1650" spc="-20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для</a:t>
            </a:r>
            <a:r>
              <a:rPr dirty="0" sz="1650" spc="-20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работы</a:t>
            </a:r>
            <a:r>
              <a:rPr dirty="0" sz="1650" spc="-20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с</a:t>
            </a:r>
            <a:r>
              <a:rPr dirty="0" sz="1650" spc="-20">
                <a:latin typeface="Roboto"/>
                <a:cs typeface="Roboto"/>
              </a:rPr>
              <a:t> </a:t>
            </a:r>
            <a:r>
              <a:rPr dirty="0" sz="1650" spc="-35">
                <a:latin typeface="Roboto"/>
                <a:cs typeface="Roboto"/>
              </a:rPr>
              <a:t>файлами</a:t>
            </a:r>
            <a:r>
              <a:rPr dirty="0" sz="1650" spc="-20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в</a:t>
            </a:r>
            <a:r>
              <a:rPr dirty="0" sz="1650" spc="-20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Си</a:t>
            </a:r>
            <a:r>
              <a:rPr dirty="0" sz="1650" spc="-20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(</a:t>
            </a:r>
            <a:r>
              <a:rPr dirty="0" sz="1400" spc="-10">
                <a:solidFill>
                  <a:srgbClr val="178037"/>
                </a:solidFill>
                <a:latin typeface="Courier New"/>
                <a:cs typeface="Courier New"/>
              </a:rPr>
              <a:t>stdio.h</a:t>
            </a:r>
            <a:r>
              <a:rPr dirty="0" sz="1650" spc="-10">
                <a:latin typeface="Roboto"/>
                <a:cs typeface="Roboto"/>
              </a:rPr>
              <a:t>)</a:t>
            </a:r>
            <a:endParaRPr sz="1650">
              <a:latin typeface="Roboto"/>
              <a:cs typeface="Robo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565846"/>
            <a:ext cx="4457700" cy="70389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6445063"/>
            <a:ext cx="79375" cy="984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6637870"/>
            <a:ext cx="79375" cy="984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9750" y="5996843"/>
            <a:ext cx="3124200" cy="347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Roboto"/>
                <a:cs typeface="Roboto"/>
              </a:rPr>
              <a:t>Пример</a:t>
            </a:r>
            <a:r>
              <a:rPr dirty="0" sz="1300" spc="-50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текстового</a:t>
            </a:r>
            <a:r>
              <a:rPr dirty="0" sz="1300" spc="-50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ввода/вывода:</a:t>
            </a:r>
            <a:endParaRPr sz="1300">
              <a:latin typeface="Roboto"/>
              <a:cs typeface="Roboto"/>
            </a:endParaRPr>
          </a:p>
          <a:p>
            <a:pPr marL="98425" marR="1934210">
              <a:lnSpc>
                <a:spcPct val="114999"/>
              </a:lnSpc>
              <a:spcBef>
                <a:spcPts val="1345"/>
              </a:spcBef>
            </a:pPr>
            <a:r>
              <a:rPr dirty="0" sz="1100" spc="-10">
                <a:latin typeface="Roboto"/>
                <a:cs typeface="Roboto"/>
              </a:rPr>
              <a:t>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&lt;stdio.h&gt; 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&lt;stdlib.h&gt;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Roboto"/>
              <a:cs typeface="Roboto"/>
            </a:endParaRPr>
          </a:p>
          <a:p>
            <a:pPr algn="just" marL="151130" marR="2424430" indent="-139065">
              <a:lnSpc>
                <a:spcPct val="114999"/>
              </a:lnSpc>
              <a:spcBef>
                <a:spcPts val="5"/>
              </a:spcBef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main()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 </a:t>
            </a:r>
            <a:r>
              <a:rPr dirty="0" sz="1100">
                <a:latin typeface="Roboto"/>
                <a:cs typeface="Roboto"/>
              </a:rPr>
              <a:t>FILE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*fp; </a:t>
            </a: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6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num;</a:t>
            </a:r>
            <a:endParaRPr sz="1100">
              <a:latin typeface="Roboto"/>
              <a:cs typeface="Roboto"/>
            </a:endParaRPr>
          </a:p>
          <a:p>
            <a:pPr algn="just" marL="151130">
              <a:lnSpc>
                <a:spcPct val="100000"/>
              </a:lnSpc>
              <a:spcBef>
                <a:spcPts val="195"/>
              </a:spcBef>
            </a:pPr>
            <a:r>
              <a:rPr dirty="0" sz="1100">
                <a:latin typeface="Roboto"/>
                <a:cs typeface="Roboto"/>
              </a:rPr>
              <a:t>fp</a:t>
            </a:r>
            <a:r>
              <a:rPr dirty="0" sz="1100" spc="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1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fopen("data.txt",</a:t>
            </a:r>
            <a:r>
              <a:rPr dirty="0" sz="1100" spc="1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"w");</a:t>
            </a:r>
            <a:endParaRPr sz="1100">
              <a:latin typeface="Roboto"/>
              <a:cs typeface="Roboto"/>
            </a:endParaRPr>
          </a:p>
          <a:p>
            <a:pPr algn="just" marL="151130" marR="77470">
              <a:lnSpc>
                <a:spcPct val="114999"/>
              </a:lnSpc>
            </a:pPr>
            <a:r>
              <a:rPr dirty="0" sz="1100">
                <a:latin typeface="Roboto"/>
                <a:cs typeface="Roboto"/>
              </a:rPr>
              <a:t>if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(fp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==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NULL)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{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perror("Write</a:t>
            </a:r>
            <a:r>
              <a:rPr dirty="0" sz="1100" spc="-20">
                <a:latin typeface="Roboto"/>
                <a:cs typeface="Roboto"/>
              </a:rPr>
              <a:t> error");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return 1; </a:t>
            </a:r>
            <a:r>
              <a:rPr dirty="0" sz="1100" spc="-50">
                <a:latin typeface="Roboto"/>
                <a:cs typeface="Roboto"/>
              </a:rPr>
              <a:t>} </a:t>
            </a:r>
            <a:r>
              <a:rPr dirty="0" sz="1100" spc="-10">
                <a:latin typeface="Roboto"/>
                <a:cs typeface="Roboto"/>
              </a:rPr>
              <a:t>fprintf(fp,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"%d", </a:t>
            </a:r>
            <a:r>
              <a:rPr dirty="0" sz="1100" spc="-20">
                <a:latin typeface="Roboto"/>
                <a:cs typeface="Roboto"/>
              </a:rPr>
              <a:t>123);</a:t>
            </a:r>
            <a:r>
              <a:rPr dirty="0" sz="1100" spc="-10">
                <a:latin typeface="Roboto"/>
                <a:cs typeface="Roboto"/>
              </a:rPr>
              <a:t> fclose(fp);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Roboto"/>
                <a:cs typeface="Roboto"/>
              </a:rPr>
              <a:t>fp</a:t>
            </a:r>
            <a:r>
              <a:rPr dirty="0" sz="1100" spc="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1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fopen("data.txt",</a:t>
            </a:r>
            <a:r>
              <a:rPr dirty="0" sz="1100" spc="1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"r");</a:t>
            </a:r>
            <a:endParaRPr sz="1100">
              <a:latin typeface="Roboto"/>
              <a:cs typeface="Roboto"/>
            </a:endParaRPr>
          </a:p>
          <a:p>
            <a:pPr marL="151130" marR="86360">
              <a:lnSpc>
                <a:spcPct val="114999"/>
              </a:lnSpc>
            </a:pPr>
            <a:r>
              <a:rPr dirty="0" sz="1100">
                <a:latin typeface="Roboto"/>
                <a:cs typeface="Roboto"/>
              </a:rPr>
              <a:t>if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(fp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==</a:t>
            </a:r>
            <a:r>
              <a:rPr dirty="0" sz="1100" spc="-10">
                <a:latin typeface="Roboto"/>
                <a:cs typeface="Roboto"/>
              </a:rPr>
              <a:t> NULL) </a:t>
            </a:r>
            <a:r>
              <a:rPr dirty="0" sz="1100">
                <a:latin typeface="Roboto"/>
                <a:cs typeface="Roboto"/>
              </a:rPr>
              <a:t>{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perror("Read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error");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1;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} </a:t>
            </a:r>
            <a:r>
              <a:rPr dirty="0" sz="1100">
                <a:latin typeface="Roboto"/>
                <a:cs typeface="Roboto"/>
              </a:rPr>
              <a:t>fscanf(fp,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"%d",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&amp;num);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fclose(fp);</a:t>
            </a:r>
            <a:endParaRPr sz="1100">
              <a:latin typeface="Roboto"/>
              <a:cs typeface="Roboto"/>
            </a:endParaRPr>
          </a:p>
          <a:p>
            <a:pPr marL="151130" marR="877569">
              <a:lnSpc>
                <a:spcPct val="114999"/>
              </a:lnSpc>
            </a:pPr>
            <a:r>
              <a:rPr dirty="0" sz="1100" spc="-10">
                <a:latin typeface="Roboto"/>
                <a:cs typeface="Roboto"/>
              </a:rPr>
              <a:t>printf("Read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number: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%d\n",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num); return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0;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1075" y="1076325"/>
            <a:ext cx="5762625" cy="46672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1741524"/>
            <a:ext cx="79375" cy="984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1934356"/>
            <a:ext cx="79375" cy="984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9750" y="1293304"/>
            <a:ext cx="4799330" cy="4829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Roboto"/>
                <a:cs typeface="Roboto"/>
              </a:rPr>
              <a:t>Пример</a:t>
            </a:r>
            <a:r>
              <a:rPr dirty="0" sz="1300" spc="-25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бинарного</a:t>
            </a:r>
            <a:r>
              <a:rPr dirty="0" sz="1300" spc="-20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ввода/вывода:</a:t>
            </a:r>
            <a:endParaRPr sz="1300">
              <a:latin typeface="Roboto"/>
              <a:cs typeface="Roboto"/>
            </a:endParaRPr>
          </a:p>
          <a:p>
            <a:pPr marL="98425" marR="3609975">
              <a:lnSpc>
                <a:spcPct val="114999"/>
              </a:lnSpc>
              <a:spcBef>
                <a:spcPts val="1345"/>
              </a:spcBef>
            </a:pPr>
            <a:r>
              <a:rPr dirty="0" sz="1100" spc="-10">
                <a:latin typeface="Roboto"/>
                <a:cs typeface="Roboto"/>
              </a:rPr>
              <a:t>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&lt;stdio.h&gt; 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&lt;stdlib.h&gt;</a:t>
            </a:r>
            <a:endParaRPr sz="1100">
              <a:latin typeface="Roboto"/>
              <a:cs typeface="Roboto"/>
            </a:endParaRPr>
          </a:p>
          <a:p>
            <a:pPr marL="12700" marR="2684780">
              <a:lnSpc>
                <a:spcPct val="229999"/>
              </a:lnSpc>
            </a:pPr>
            <a:r>
              <a:rPr dirty="0" sz="1100" spc="-10">
                <a:latin typeface="Roboto"/>
                <a:cs typeface="Roboto"/>
              </a:rPr>
              <a:t>struct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Data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{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id;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double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value;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}; </a:t>
            </a: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main()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>
                <a:latin typeface="Roboto"/>
                <a:cs typeface="Roboto"/>
              </a:rPr>
              <a:t>FILE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*fp;</a:t>
            </a:r>
            <a:endParaRPr sz="1100">
              <a:latin typeface="Roboto"/>
              <a:cs typeface="Roboto"/>
            </a:endParaRPr>
          </a:p>
          <a:p>
            <a:pPr marL="151130" marR="2406015">
              <a:lnSpc>
                <a:spcPct val="114999"/>
              </a:lnSpc>
            </a:pPr>
            <a:r>
              <a:rPr dirty="0" sz="1100" spc="-10">
                <a:latin typeface="Roboto"/>
                <a:cs typeface="Roboto"/>
              </a:rPr>
              <a:t>struct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Data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data_to_write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{1,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3.14}; struct</a:t>
            </a:r>
            <a:r>
              <a:rPr dirty="0" sz="1100" spc="-5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Data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read_data;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</a:pPr>
            <a:r>
              <a:rPr dirty="0" sz="1100">
                <a:latin typeface="Roboto"/>
                <a:cs typeface="Roboto"/>
              </a:rPr>
              <a:t>fp</a:t>
            </a:r>
            <a:r>
              <a:rPr dirty="0" sz="1100" spc="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10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fopen("binary.bin",</a:t>
            </a:r>
            <a:r>
              <a:rPr dirty="0" sz="1100" spc="1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"wb");</a:t>
            </a:r>
            <a:endParaRPr sz="1100">
              <a:latin typeface="Roboto"/>
              <a:cs typeface="Roboto"/>
            </a:endParaRPr>
          </a:p>
          <a:p>
            <a:pPr marL="151130" marR="1692275">
              <a:lnSpc>
                <a:spcPct val="114999"/>
              </a:lnSpc>
            </a:pPr>
            <a:r>
              <a:rPr dirty="0" sz="1100">
                <a:latin typeface="Roboto"/>
                <a:cs typeface="Roboto"/>
              </a:rPr>
              <a:t>if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(fp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==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NULL)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{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perror("Write</a:t>
            </a:r>
            <a:r>
              <a:rPr dirty="0" sz="1100" spc="-20">
                <a:latin typeface="Roboto"/>
                <a:cs typeface="Roboto"/>
              </a:rPr>
              <a:t> error");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return 1; </a:t>
            </a:r>
            <a:r>
              <a:rPr dirty="0" sz="1100" spc="-50">
                <a:latin typeface="Roboto"/>
                <a:cs typeface="Roboto"/>
              </a:rPr>
              <a:t>} </a:t>
            </a:r>
            <a:r>
              <a:rPr dirty="0" sz="1100" spc="-10">
                <a:latin typeface="Roboto"/>
                <a:cs typeface="Roboto"/>
              </a:rPr>
              <a:t>fwrite(&amp;data_to_write,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sizeof(struct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Data),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1,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fp); </a:t>
            </a:r>
            <a:r>
              <a:rPr dirty="0" sz="1100" spc="-10">
                <a:latin typeface="Roboto"/>
                <a:cs typeface="Roboto"/>
              </a:rPr>
              <a:t>fclose(fp);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</a:pPr>
            <a:r>
              <a:rPr dirty="0" sz="1100">
                <a:latin typeface="Roboto"/>
                <a:cs typeface="Roboto"/>
              </a:rPr>
              <a:t>fp</a:t>
            </a:r>
            <a:r>
              <a:rPr dirty="0" sz="1100" spc="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10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fopen("binary.bin",</a:t>
            </a:r>
            <a:r>
              <a:rPr dirty="0" sz="1100" spc="1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"rb");</a:t>
            </a:r>
            <a:endParaRPr sz="1100">
              <a:latin typeface="Roboto"/>
              <a:cs typeface="Roboto"/>
            </a:endParaRPr>
          </a:p>
          <a:p>
            <a:pPr marL="151130" marR="1761489">
              <a:lnSpc>
                <a:spcPct val="114999"/>
              </a:lnSpc>
            </a:pPr>
            <a:r>
              <a:rPr dirty="0" sz="1100">
                <a:latin typeface="Roboto"/>
                <a:cs typeface="Roboto"/>
              </a:rPr>
              <a:t>if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(fp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==</a:t>
            </a:r>
            <a:r>
              <a:rPr dirty="0" sz="1100" spc="-10">
                <a:latin typeface="Roboto"/>
                <a:cs typeface="Roboto"/>
              </a:rPr>
              <a:t> NULL) </a:t>
            </a:r>
            <a:r>
              <a:rPr dirty="0" sz="1100">
                <a:latin typeface="Roboto"/>
                <a:cs typeface="Roboto"/>
              </a:rPr>
              <a:t>{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perror("Read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error");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1;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} </a:t>
            </a:r>
            <a:r>
              <a:rPr dirty="0" sz="1100" spc="-10">
                <a:latin typeface="Roboto"/>
                <a:cs typeface="Roboto"/>
              </a:rPr>
              <a:t>fread(&amp;read_data,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sizeof(struct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Data), </a:t>
            </a:r>
            <a:r>
              <a:rPr dirty="0" sz="1100">
                <a:latin typeface="Roboto"/>
                <a:cs typeface="Roboto"/>
              </a:rPr>
              <a:t>1,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fp); </a:t>
            </a:r>
            <a:r>
              <a:rPr dirty="0" sz="1100" spc="-10">
                <a:latin typeface="Roboto"/>
                <a:cs typeface="Roboto"/>
              </a:rPr>
              <a:t>fclose(fp);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Roboto"/>
              <a:cs typeface="Roboto"/>
            </a:endParaRPr>
          </a:p>
          <a:p>
            <a:pPr marL="151130" marR="5080">
              <a:lnSpc>
                <a:spcPct val="114999"/>
              </a:lnSpc>
            </a:pPr>
            <a:r>
              <a:rPr dirty="0" sz="1100" spc="-10">
                <a:latin typeface="Roboto"/>
                <a:cs typeface="Roboto"/>
              </a:rPr>
              <a:t>printf("Read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binary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data: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id=%d,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value=%f\n",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read_data.id,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read_data.value); </a:t>
            </a: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0;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9374051"/>
            <a:ext cx="79375" cy="984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9566857"/>
            <a:ext cx="79375" cy="9842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25705" y="6848902"/>
            <a:ext cx="6468745" cy="2857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829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latin typeface="Roboto"/>
                <a:cs typeface="Roboto"/>
              </a:rPr>
              <a:t>Позиционирование</a:t>
            </a:r>
            <a:r>
              <a:rPr dirty="0" sz="1650" spc="-30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в</a:t>
            </a:r>
            <a:r>
              <a:rPr dirty="0" sz="1650" spc="-25">
                <a:latin typeface="Roboto"/>
                <a:cs typeface="Roboto"/>
              </a:rPr>
              <a:t> </a:t>
            </a:r>
            <a:r>
              <a:rPr dirty="0" sz="1650" spc="-40">
                <a:latin typeface="Roboto"/>
                <a:cs typeface="Roboto"/>
              </a:rPr>
              <a:t>файле</a:t>
            </a:r>
            <a:r>
              <a:rPr dirty="0" sz="1650" spc="-25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(</a:t>
            </a:r>
            <a:r>
              <a:rPr dirty="0" sz="1400">
                <a:solidFill>
                  <a:srgbClr val="178037"/>
                </a:solidFill>
                <a:latin typeface="Courier New"/>
                <a:cs typeface="Courier New"/>
              </a:rPr>
              <a:t>fseek</a:t>
            </a:r>
            <a:r>
              <a:rPr dirty="0" sz="1650">
                <a:latin typeface="Roboto"/>
                <a:cs typeface="Roboto"/>
              </a:rPr>
              <a:t>,</a:t>
            </a:r>
            <a:r>
              <a:rPr dirty="0" sz="1650" spc="-25"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178037"/>
                </a:solidFill>
                <a:latin typeface="Courier New"/>
                <a:cs typeface="Courier New"/>
              </a:rPr>
              <a:t>rewind</a:t>
            </a:r>
            <a:r>
              <a:rPr dirty="0" sz="1650">
                <a:latin typeface="Roboto"/>
                <a:cs typeface="Roboto"/>
              </a:rPr>
              <a:t>,</a:t>
            </a:r>
            <a:r>
              <a:rPr dirty="0" sz="1650" spc="-30"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178037"/>
                </a:solidFill>
                <a:latin typeface="Courier New"/>
                <a:cs typeface="Courier New"/>
              </a:rPr>
              <a:t>ftell</a:t>
            </a:r>
            <a:r>
              <a:rPr dirty="0" sz="1650" spc="-10">
                <a:latin typeface="Roboto"/>
                <a:cs typeface="Roboto"/>
              </a:rPr>
              <a:t>)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650">
              <a:latin typeface="Roboto"/>
              <a:cs typeface="Roboto"/>
            </a:endParaRPr>
          </a:p>
          <a:p>
            <a:pPr algn="just" marL="1042035" indent="-229870">
              <a:lnSpc>
                <a:spcPct val="100000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104203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rewind(FILE</a:t>
            </a:r>
            <a:r>
              <a:rPr dirty="0" sz="1100" spc="-8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*stream)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начало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файла.</a:t>
            </a:r>
            <a:endParaRPr sz="1300">
              <a:latin typeface="Roboto"/>
              <a:cs typeface="Roboto"/>
            </a:endParaRPr>
          </a:p>
          <a:p>
            <a:pPr algn="just" marL="1040765" marR="328930" indent="-228600">
              <a:lnSpc>
                <a:spcPct val="114999"/>
              </a:lnSpc>
              <a:buSzPct val="118181"/>
              <a:buFont typeface="Microsoft Sans Serif"/>
              <a:buChar char="●"/>
              <a:tabLst>
                <a:tab pos="1040765" algn="l"/>
                <a:tab pos="1042035" algn="l"/>
              </a:tabLst>
            </a:pP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15">
                <a:solidFill>
                  <a:srgbClr val="178037"/>
                </a:solidFill>
                <a:latin typeface="Courier New"/>
                <a:cs typeface="Courier New"/>
              </a:rPr>
              <a:t>fseek(FILE</a:t>
            </a:r>
            <a:r>
              <a:rPr dirty="0" sz="1100" spc="-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5">
                <a:solidFill>
                  <a:srgbClr val="178037"/>
                </a:solidFill>
                <a:latin typeface="Courier New"/>
                <a:cs typeface="Courier New"/>
              </a:rPr>
              <a:t>*stream,</a:t>
            </a:r>
            <a:r>
              <a:rPr dirty="0" sz="1100" spc="-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5">
                <a:solidFill>
                  <a:srgbClr val="178037"/>
                </a:solidFill>
                <a:latin typeface="Courier New"/>
                <a:cs typeface="Courier New"/>
              </a:rPr>
              <a:t>long</a:t>
            </a:r>
            <a:r>
              <a:rPr dirty="0" sz="1100" spc="-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int</a:t>
            </a:r>
            <a:r>
              <a:rPr dirty="0" sz="1100" spc="-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5">
                <a:solidFill>
                  <a:srgbClr val="178037"/>
                </a:solidFill>
                <a:latin typeface="Courier New"/>
                <a:cs typeface="Courier New"/>
              </a:rPr>
              <a:t>offset,</a:t>
            </a:r>
            <a:r>
              <a:rPr dirty="0" sz="1100" spc="-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int</a:t>
            </a:r>
            <a:r>
              <a:rPr dirty="0" sz="1100" spc="-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5">
                <a:solidFill>
                  <a:srgbClr val="178037"/>
                </a:solidFill>
                <a:latin typeface="Courier New"/>
                <a:cs typeface="Courier New"/>
              </a:rPr>
              <a:t>whence)</a:t>
            </a:r>
            <a:r>
              <a:rPr dirty="0" sz="1300" spc="-15">
                <a:latin typeface="Roboto"/>
                <a:cs typeface="Roboto"/>
              </a:rPr>
              <a:t>: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5">
                <a:latin typeface="Roboto"/>
                <a:cs typeface="Roboto"/>
              </a:rPr>
              <a:t>Перемещает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указатель.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100" spc="-15">
                <a:solidFill>
                  <a:srgbClr val="178037"/>
                </a:solidFill>
                <a:latin typeface="Courier New"/>
                <a:cs typeface="Courier New"/>
              </a:rPr>
              <a:t>offset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229">
                <a:latin typeface="Roboto"/>
                <a:cs typeface="Roboto"/>
              </a:rPr>
              <a:t>-</a:t>
            </a:r>
            <a:r>
              <a:rPr dirty="0" sz="1300" spc="-5">
                <a:latin typeface="Roboto"/>
                <a:cs typeface="Roboto"/>
              </a:rPr>
              <a:t> смещение, </a:t>
            </a:r>
            <a:r>
              <a:rPr dirty="0" sz="1100" spc="-15">
                <a:solidFill>
                  <a:srgbClr val="178037"/>
                </a:solidFill>
                <a:latin typeface="Courier New"/>
                <a:cs typeface="Courier New"/>
              </a:rPr>
              <a:t>whence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spc="-229">
                <a:latin typeface="Roboto"/>
                <a:cs typeface="Roboto"/>
              </a:rPr>
              <a:t>-</a:t>
            </a:r>
            <a:r>
              <a:rPr dirty="0" sz="1300" spc="-5">
                <a:latin typeface="Roboto"/>
                <a:cs typeface="Roboto"/>
              </a:rPr>
              <a:t> начало </a:t>
            </a:r>
            <a:r>
              <a:rPr dirty="0" sz="1300" spc="-10">
                <a:latin typeface="Roboto"/>
                <a:cs typeface="Roboto"/>
              </a:rPr>
              <a:t>(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SEEK_SET</a:t>
            </a:r>
            <a:r>
              <a:rPr dirty="0" sz="1300" spc="-10">
                <a:latin typeface="Roboto"/>
                <a:cs typeface="Roboto"/>
              </a:rPr>
              <a:t>,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100" spc="-15">
                <a:solidFill>
                  <a:srgbClr val="178037"/>
                </a:solidFill>
                <a:latin typeface="Courier New"/>
                <a:cs typeface="Courier New"/>
              </a:rPr>
              <a:t>SEEK_CUR</a:t>
            </a:r>
            <a:r>
              <a:rPr dirty="0" sz="1300" spc="-15">
                <a:latin typeface="Roboto"/>
                <a:cs typeface="Roboto"/>
              </a:rPr>
              <a:t>,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SEEK_END</a:t>
            </a:r>
            <a:r>
              <a:rPr dirty="0" sz="1300" spc="-10">
                <a:latin typeface="Roboto"/>
                <a:cs typeface="Roboto"/>
              </a:rPr>
              <a:t>).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5">
                <a:latin typeface="Roboto"/>
                <a:cs typeface="Roboto"/>
              </a:rPr>
              <a:t>Вернет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0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5">
                <a:latin typeface="Roboto"/>
                <a:cs typeface="Roboto"/>
              </a:rPr>
              <a:t>или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ошибку.</a:t>
            </a:r>
            <a:endParaRPr sz="1300">
              <a:latin typeface="Roboto"/>
              <a:cs typeface="Roboto"/>
            </a:endParaRPr>
          </a:p>
          <a:p>
            <a:pPr algn="just" marL="1042035" indent="-22987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104203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ftell(FILE</a:t>
            </a:r>
            <a:r>
              <a:rPr dirty="0" sz="1100" spc="-7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*stream)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Текущая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позиция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(смещение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от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начала).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Вернет</a:t>
            </a:r>
            <a:endParaRPr sz="1300">
              <a:latin typeface="Roboto"/>
              <a:cs typeface="Roboto"/>
            </a:endParaRPr>
          </a:p>
          <a:p>
            <a:pPr marL="1040765">
              <a:lnSpc>
                <a:spcPct val="100000"/>
              </a:lnSpc>
              <a:spcBef>
                <a:spcPts val="235"/>
              </a:spcBef>
            </a:pPr>
            <a:r>
              <a:rPr dirty="0" sz="1300" spc="-240">
                <a:latin typeface="Roboto"/>
                <a:cs typeface="Roboto"/>
              </a:rPr>
              <a:t>-</a:t>
            </a:r>
            <a:r>
              <a:rPr dirty="0" sz="1300">
                <a:latin typeface="Roboto"/>
                <a:cs typeface="Roboto"/>
              </a:rPr>
              <a:t>1L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ошибке.</a:t>
            </a:r>
            <a:endParaRPr sz="1300">
              <a:latin typeface="Roboto"/>
              <a:cs typeface="Roboto"/>
            </a:endParaRPr>
          </a:p>
          <a:p>
            <a:pPr marL="288290">
              <a:lnSpc>
                <a:spcPct val="100000"/>
              </a:lnSpc>
              <a:spcBef>
                <a:spcPts val="1535"/>
              </a:spcBef>
            </a:pPr>
            <a:r>
              <a:rPr dirty="0" sz="1300" b="1">
                <a:latin typeface="Roboto"/>
                <a:cs typeface="Roboto"/>
              </a:rPr>
              <a:t>Пример</a:t>
            </a:r>
            <a:r>
              <a:rPr dirty="0" sz="1300" spc="-55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использования</a:t>
            </a:r>
            <a:r>
              <a:rPr dirty="0" sz="1300" spc="-50" b="1">
                <a:latin typeface="Roboto"/>
                <a:cs typeface="Roboto"/>
              </a:rPr>
              <a:t> </a:t>
            </a:r>
            <a:r>
              <a:rPr dirty="0" sz="1100" spc="-10" b="1">
                <a:solidFill>
                  <a:srgbClr val="178037"/>
                </a:solidFill>
                <a:latin typeface="Courier New"/>
                <a:cs typeface="Courier New"/>
              </a:rPr>
              <a:t>fseek</a:t>
            </a:r>
            <a:r>
              <a:rPr dirty="0" sz="1300" spc="-10" b="1">
                <a:latin typeface="Roboto"/>
                <a:cs typeface="Roboto"/>
              </a:rPr>
              <a:t>:</a:t>
            </a:r>
            <a:endParaRPr sz="1300">
              <a:latin typeface="Roboto"/>
              <a:cs typeface="Roboto"/>
            </a:endParaRPr>
          </a:p>
          <a:p>
            <a:pPr marL="12700" marR="5364480">
              <a:lnSpc>
                <a:spcPct val="114999"/>
              </a:lnSpc>
              <a:spcBef>
                <a:spcPts val="1345"/>
              </a:spcBef>
            </a:pPr>
            <a:r>
              <a:rPr dirty="0" sz="1100" spc="-10">
                <a:latin typeface="Roboto"/>
                <a:cs typeface="Roboto"/>
              </a:rPr>
              <a:t>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&lt;stdio.h&gt; 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&lt;stdlib.h&gt;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9750" y="1062332"/>
            <a:ext cx="4081145" cy="2917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130" marR="3381375" indent="-139065">
              <a:lnSpc>
                <a:spcPct val="114999"/>
              </a:lnSpc>
              <a:spcBef>
                <a:spcPts val="100"/>
              </a:spcBef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main()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 </a:t>
            </a:r>
            <a:r>
              <a:rPr dirty="0" sz="1100">
                <a:latin typeface="Roboto"/>
                <a:cs typeface="Roboto"/>
              </a:rPr>
              <a:t>FILE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*fp;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195"/>
              </a:spcBef>
            </a:pPr>
            <a:r>
              <a:rPr dirty="0" sz="1100">
                <a:latin typeface="Roboto"/>
                <a:cs typeface="Roboto"/>
              </a:rPr>
              <a:t>fp</a:t>
            </a:r>
            <a:r>
              <a:rPr dirty="0" sz="1100" spc="4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4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fopen("seek_example.txt",</a:t>
            </a:r>
            <a:r>
              <a:rPr dirty="0" sz="1100" spc="5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"w+");</a:t>
            </a:r>
            <a:endParaRPr sz="1100">
              <a:latin typeface="Roboto"/>
              <a:cs typeface="Roboto"/>
            </a:endParaRPr>
          </a:p>
          <a:p>
            <a:pPr marL="151130" marR="504190">
              <a:lnSpc>
                <a:spcPct val="114999"/>
              </a:lnSpc>
            </a:pPr>
            <a:r>
              <a:rPr dirty="0" sz="1100">
                <a:latin typeface="Roboto"/>
                <a:cs typeface="Roboto"/>
              </a:rPr>
              <a:t>if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(fp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==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NULL)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{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perror("Ошибка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открытия");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return 1; </a:t>
            </a:r>
            <a:r>
              <a:rPr dirty="0" sz="1100" spc="-50">
                <a:latin typeface="Roboto"/>
                <a:cs typeface="Roboto"/>
              </a:rPr>
              <a:t>} </a:t>
            </a:r>
            <a:r>
              <a:rPr dirty="0" sz="1100" spc="-20">
                <a:latin typeface="Roboto"/>
                <a:cs typeface="Roboto"/>
              </a:rPr>
              <a:t>fputs("abcdefghijklmnopqrstuvwxyz",</a:t>
            </a:r>
            <a:r>
              <a:rPr dirty="0" sz="1100" spc="1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fp);</a:t>
            </a:r>
            <a:r>
              <a:rPr dirty="0" sz="1100" spc="20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1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Запись </a:t>
            </a:r>
            <a:r>
              <a:rPr dirty="0" sz="1100">
                <a:latin typeface="Roboto"/>
                <a:cs typeface="Roboto"/>
              </a:rPr>
              <a:t>fseek(fp,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5,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SEEK_SET);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На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5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байт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от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начала printf("Позиция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(SEEK_SET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+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5):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%ld\n", </a:t>
            </a:r>
            <a:r>
              <a:rPr dirty="0" sz="1100" spc="-10">
                <a:latin typeface="Roboto"/>
                <a:cs typeface="Roboto"/>
              </a:rPr>
              <a:t>ftell(fp));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5</a:t>
            </a:r>
            <a:r>
              <a:rPr dirty="0" sz="1100">
                <a:latin typeface="Roboto"/>
                <a:cs typeface="Roboto"/>
              </a:rPr>
              <a:t> int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c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fgetc(fp);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Читаем</a:t>
            </a:r>
            <a:r>
              <a:rPr dirty="0" sz="1100" spc="-1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'f'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 spc="-20">
                <a:latin typeface="Roboto"/>
                <a:cs typeface="Roboto"/>
              </a:rPr>
              <a:t>printf("Прочитан:</a:t>
            </a:r>
            <a:r>
              <a:rPr dirty="0" sz="1100" spc="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%c\n",</a:t>
            </a:r>
            <a:r>
              <a:rPr dirty="0" sz="1100" spc="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c);</a:t>
            </a:r>
            <a:r>
              <a:rPr dirty="0" sz="1100" spc="5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f</a:t>
            </a:r>
            <a:endParaRPr sz="1100">
              <a:latin typeface="Roboto"/>
              <a:cs typeface="Roboto"/>
            </a:endParaRPr>
          </a:p>
          <a:p>
            <a:pPr marL="151130" marR="445770">
              <a:lnSpc>
                <a:spcPct val="114999"/>
              </a:lnSpc>
            </a:pPr>
            <a:r>
              <a:rPr dirty="0" sz="1100" spc="-10">
                <a:latin typeface="Roboto"/>
                <a:cs typeface="Roboto"/>
              </a:rPr>
              <a:t>printf("Позиция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(после </a:t>
            </a:r>
            <a:r>
              <a:rPr dirty="0" sz="1100" spc="-20">
                <a:latin typeface="Roboto"/>
                <a:cs typeface="Roboto"/>
              </a:rPr>
              <a:t>чтения):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%ld\n",</a:t>
            </a:r>
            <a:r>
              <a:rPr dirty="0" sz="110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ftell(fp));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6 </a:t>
            </a:r>
            <a:r>
              <a:rPr dirty="0" sz="1100">
                <a:latin typeface="Roboto"/>
                <a:cs typeface="Roboto"/>
              </a:rPr>
              <a:t>fseek(fp,</a:t>
            </a:r>
            <a:r>
              <a:rPr dirty="0" sz="1100" spc="-60">
                <a:latin typeface="Roboto"/>
                <a:cs typeface="Roboto"/>
              </a:rPr>
              <a:t> </a:t>
            </a:r>
            <a:r>
              <a:rPr dirty="0" sz="1100" spc="-204">
                <a:latin typeface="Roboto"/>
                <a:cs typeface="Roboto"/>
              </a:rPr>
              <a:t>-</a:t>
            </a:r>
            <a:r>
              <a:rPr dirty="0" sz="1100">
                <a:latin typeface="Roboto"/>
                <a:cs typeface="Roboto"/>
              </a:rPr>
              <a:t>10,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SEEK_END);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На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10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байт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назад</a:t>
            </a:r>
            <a:r>
              <a:rPr dirty="0" sz="1100" spc="-3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от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конца</a:t>
            </a:r>
            <a:endParaRPr sz="1100">
              <a:latin typeface="Roboto"/>
              <a:cs typeface="Roboto"/>
            </a:endParaRPr>
          </a:p>
          <a:p>
            <a:pPr marL="151130" marR="5080">
              <a:lnSpc>
                <a:spcPct val="114999"/>
              </a:lnSpc>
            </a:pPr>
            <a:r>
              <a:rPr dirty="0" sz="1100" spc="-10">
                <a:latin typeface="Roboto"/>
                <a:cs typeface="Roboto"/>
              </a:rPr>
              <a:t>printf("Позиция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(SEEK_END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200">
                <a:latin typeface="Roboto"/>
                <a:cs typeface="Roboto"/>
              </a:rPr>
              <a:t>-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10):</a:t>
            </a:r>
            <a:r>
              <a:rPr dirty="0" sz="1100" spc="-20">
                <a:latin typeface="Roboto"/>
                <a:cs typeface="Roboto"/>
              </a:rPr>
              <a:t> %ld\n", </a:t>
            </a:r>
            <a:r>
              <a:rPr dirty="0" sz="1100" spc="-10">
                <a:latin typeface="Roboto"/>
                <a:cs typeface="Roboto"/>
              </a:rPr>
              <a:t>ftell(fp));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16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65">
                <a:latin typeface="Roboto"/>
                <a:cs typeface="Roboto"/>
              </a:rPr>
              <a:t>(26-</a:t>
            </a:r>
            <a:r>
              <a:rPr dirty="0" sz="1100" spc="-25">
                <a:latin typeface="Roboto"/>
                <a:cs typeface="Roboto"/>
              </a:rPr>
              <a:t>10) </a:t>
            </a:r>
            <a:r>
              <a:rPr dirty="0" sz="1100" spc="-10">
                <a:latin typeface="Roboto"/>
                <a:cs typeface="Roboto"/>
              </a:rPr>
              <a:t>fclose(fp);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0;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8080213"/>
            <a:ext cx="79375" cy="984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8273045"/>
            <a:ext cx="79375" cy="984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9750" y="4706373"/>
            <a:ext cx="6501130" cy="5055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latin typeface="Roboto"/>
                <a:cs typeface="Roboto"/>
              </a:rPr>
              <a:t>Проверка</a:t>
            </a:r>
            <a:r>
              <a:rPr dirty="0" sz="1650" spc="-50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состояния</a:t>
            </a:r>
            <a:r>
              <a:rPr dirty="0" sz="1650" spc="-45">
                <a:latin typeface="Roboto"/>
                <a:cs typeface="Roboto"/>
              </a:rPr>
              <a:t> </a:t>
            </a:r>
            <a:r>
              <a:rPr dirty="0" sz="1650" spc="-20">
                <a:latin typeface="Roboto"/>
                <a:cs typeface="Roboto"/>
              </a:rPr>
              <a:t>потока:</a:t>
            </a:r>
            <a:r>
              <a:rPr dirty="0" sz="1650" spc="-50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конец</a:t>
            </a:r>
            <a:r>
              <a:rPr dirty="0" sz="1650" spc="-45">
                <a:latin typeface="Roboto"/>
                <a:cs typeface="Roboto"/>
              </a:rPr>
              <a:t> </a:t>
            </a:r>
            <a:r>
              <a:rPr dirty="0" sz="1650" spc="-40">
                <a:latin typeface="Roboto"/>
                <a:cs typeface="Roboto"/>
              </a:rPr>
              <a:t>файла</a:t>
            </a:r>
            <a:r>
              <a:rPr dirty="0" sz="1650" spc="-50">
                <a:latin typeface="Roboto"/>
                <a:cs typeface="Roboto"/>
              </a:rPr>
              <a:t> </a:t>
            </a:r>
            <a:r>
              <a:rPr dirty="0" sz="1650">
                <a:latin typeface="Roboto"/>
                <a:cs typeface="Roboto"/>
              </a:rPr>
              <a:t>и</a:t>
            </a:r>
            <a:r>
              <a:rPr dirty="0" sz="1650" spc="-45">
                <a:latin typeface="Roboto"/>
                <a:cs typeface="Roboto"/>
              </a:rPr>
              <a:t> </a:t>
            </a:r>
            <a:r>
              <a:rPr dirty="0" sz="1650" spc="-10">
                <a:latin typeface="Roboto"/>
                <a:cs typeface="Roboto"/>
              </a:rPr>
              <a:t>ошибки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65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</a:pPr>
            <a:r>
              <a:rPr dirty="0" sz="1300" spc="-10">
                <a:latin typeface="Roboto"/>
                <a:cs typeface="Roboto"/>
              </a:rPr>
              <a:t>Проверяйте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состояние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после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операций!</a:t>
            </a:r>
            <a:endParaRPr sz="1300">
              <a:latin typeface="Roboto"/>
              <a:cs typeface="Roboto"/>
            </a:endParaRPr>
          </a:p>
          <a:p>
            <a:pPr marL="1126490" marR="5080" indent="-228600">
              <a:lnSpc>
                <a:spcPct val="114999"/>
              </a:lnSpc>
              <a:spcBef>
                <a:spcPts val="1300"/>
              </a:spcBef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1126490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feof(FILE</a:t>
            </a:r>
            <a:r>
              <a:rPr dirty="0" sz="1100" spc="-5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*stream)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Проверяет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флаг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конца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файла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(после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неудачной попытки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чтения).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Не</a:t>
            </a:r>
            <a:r>
              <a:rPr dirty="0" sz="1300" spc="-25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использовать</a:t>
            </a:r>
            <a:r>
              <a:rPr dirty="0" sz="1300" spc="-2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как</a:t>
            </a:r>
            <a:r>
              <a:rPr dirty="0" sz="1300" spc="-20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единственное</a:t>
            </a:r>
            <a:r>
              <a:rPr dirty="0" sz="1300" spc="-2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условие</a:t>
            </a:r>
            <a:r>
              <a:rPr dirty="0" sz="1300" spc="-25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цикла чтения</a:t>
            </a:r>
            <a:r>
              <a:rPr dirty="0" sz="1300" spc="-10">
                <a:latin typeface="Roboto"/>
                <a:cs typeface="Roboto"/>
              </a:rPr>
              <a:t>,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может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привести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к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ошибкам.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Лучше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проверять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результат </a:t>
            </a:r>
            <a:r>
              <a:rPr dirty="0" sz="1300">
                <a:latin typeface="Roboto"/>
                <a:cs typeface="Roboto"/>
              </a:rPr>
              <a:t>самой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функции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чтения.</a:t>
            </a:r>
            <a:endParaRPr sz="1300">
              <a:latin typeface="Roboto"/>
              <a:cs typeface="Roboto"/>
            </a:endParaRPr>
          </a:p>
          <a:p>
            <a:pPr marL="1127125" marR="1054100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112712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ferror(FILE</a:t>
            </a:r>
            <a:r>
              <a:rPr dirty="0" sz="1100" spc="-8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*stream)</a:t>
            </a:r>
            <a:r>
              <a:rPr dirty="0" sz="1300" spc="-10">
                <a:latin typeface="Roboto"/>
                <a:cs typeface="Roboto"/>
              </a:rPr>
              <a:t>: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Проверяет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флаг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ошибки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потока </a:t>
            </a:r>
            <a:r>
              <a:rPr dirty="0" sz="1300" spc="-20">
                <a:latin typeface="Roboto"/>
                <a:cs typeface="Roboto"/>
              </a:rPr>
              <a:t>(устанавливается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при ошибке,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20">
                <a:latin typeface="Roboto"/>
                <a:cs typeface="Roboto"/>
              </a:rPr>
              <a:t>сбрасывается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clearerr</a:t>
            </a:r>
            <a:r>
              <a:rPr dirty="0" sz="1300" spc="-10">
                <a:latin typeface="Roboto"/>
                <a:cs typeface="Roboto"/>
              </a:rPr>
              <a:t>).</a:t>
            </a:r>
            <a:endParaRPr sz="1300">
              <a:latin typeface="Roboto"/>
              <a:cs typeface="Roboto"/>
            </a:endParaRPr>
          </a:p>
          <a:p>
            <a:pPr marL="1127125" marR="183515" indent="-228600">
              <a:lnSpc>
                <a:spcPct val="114999"/>
              </a:lnSpc>
              <a:buClr>
                <a:srgbClr val="000000"/>
              </a:buClr>
              <a:buSzPct val="118181"/>
              <a:buFont typeface="Microsoft Sans Serif"/>
              <a:buChar char="●"/>
              <a:tabLst>
                <a:tab pos="1127125" algn="l"/>
              </a:tabLst>
            </a:pP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perror(const</a:t>
            </a:r>
            <a:r>
              <a:rPr dirty="0" sz="1100" spc="-8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char</a:t>
            </a:r>
            <a:r>
              <a:rPr dirty="0" sz="1100" spc="-75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78037"/>
                </a:solidFill>
                <a:latin typeface="Courier New"/>
                <a:cs typeface="Courier New"/>
              </a:rPr>
              <a:t>*str)</a:t>
            </a:r>
            <a:r>
              <a:rPr dirty="0" sz="1300">
                <a:latin typeface="Roboto"/>
                <a:cs typeface="Roboto"/>
              </a:rPr>
              <a:t>: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Выводит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сообщение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об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ошибке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в</a:t>
            </a:r>
            <a:r>
              <a:rPr dirty="0" sz="1300" spc="-40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stderr</a:t>
            </a:r>
            <a:r>
              <a:rPr dirty="0" sz="1300" spc="-10">
                <a:latin typeface="Roboto"/>
                <a:cs typeface="Roboto"/>
              </a:rPr>
              <a:t>.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str</a:t>
            </a:r>
            <a:r>
              <a:rPr dirty="0" sz="1100" spc="-34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Roboto"/>
                <a:cs typeface="Roboto"/>
              </a:rPr>
              <a:t>+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системное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сообщение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>
                <a:latin typeface="Roboto"/>
                <a:cs typeface="Roboto"/>
              </a:rPr>
              <a:t>по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178037"/>
                </a:solidFill>
                <a:latin typeface="Courier New"/>
                <a:cs typeface="Courier New"/>
              </a:rPr>
              <a:t>errno</a:t>
            </a:r>
            <a:r>
              <a:rPr dirty="0" sz="1300" spc="-10">
                <a:latin typeface="Roboto"/>
                <a:cs typeface="Roboto"/>
              </a:rPr>
              <a:t>.</a:t>
            </a:r>
            <a:endParaRPr sz="13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  <a:spcBef>
                <a:spcPts val="1535"/>
              </a:spcBef>
            </a:pPr>
            <a:r>
              <a:rPr dirty="0" sz="1300" b="1">
                <a:latin typeface="Roboto"/>
                <a:cs typeface="Roboto"/>
              </a:rPr>
              <a:t>Пример</a:t>
            </a:r>
            <a:r>
              <a:rPr dirty="0" sz="1300" spc="-40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использования</a:t>
            </a:r>
            <a:r>
              <a:rPr dirty="0" sz="1300" spc="-20" b="1">
                <a:latin typeface="Roboto"/>
                <a:cs typeface="Roboto"/>
              </a:rPr>
              <a:t> </a:t>
            </a:r>
            <a:r>
              <a:rPr dirty="0" sz="1100" spc="-20" b="1">
                <a:solidFill>
                  <a:srgbClr val="178037"/>
                </a:solidFill>
                <a:latin typeface="Courier New"/>
                <a:cs typeface="Courier New"/>
              </a:rPr>
              <a:t>feof</a:t>
            </a:r>
            <a:r>
              <a:rPr dirty="0" sz="1100" spc="-340" b="1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latin typeface="Roboto"/>
                <a:cs typeface="Roboto"/>
              </a:rPr>
              <a:t>и</a:t>
            </a:r>
            <a:r>
              <a:rPr dirty="0" sz="1300" spc="-20" b="1">
                <a:latin typeface="Roboto"/>
                <a:cs typeface="Roboto"/>
              </a:rPr>
              <a:t> </a:t>
            </a:r>
            <a:r>
              <a:rPr dirty="0" sz="1100" spc="-10" b="1">
                <a:solidFill>
                  <a:srgbClr val="178037"/>
                </a:solidFill>
                <a:latin typeface="Courier New"/>
                <a:cs typeface="Courier New"/>
              </a:rPr>
              <a:t>ferror</a:t>
            </a:r>
            <a:r>
              <a:rPr dirty="0" sz="1300" spc="-10" b="1">
                <a:latin typeface="Roboto"/>
                <a:cs typeface="Roboto"/>
              </a:rPr>
              <a:t>:</a:t>
            </a:r>
            <a:endParaRPr sz="1300">
              <a:latin typeface="Roboto"/>
              <a:cs typeface="Roboto"/>
            </a:endParaRPr>
          </a:p>
          <a:p>
            <a:pPr marL="98425" marR="5311775">
              <a:lnSpc>
                <a:spcPct val="114999"/>
              </a:lnSpc>
              <a:spcBef>
                <a:spcPts val="1350"/>
              </a:spcBef>
            </a:pPr>
            <a:r>
              <a:rPr dirty="0" sz="1100" spc="-10">
                <a:latin typeface="Roboto"/>
                <a:cs typeface="Roboto"/>
              </a:rPr>
              <a:t>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&lt;stdio.h&gt; 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&lt;stdlib.h&gt;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Roboto"/>
              <a:cs typeface="Roboto"/>
            </a:endParaRPr>
          </a:p>
          <a:p>
            <a:pPr algn="just" marL="151130" marR="5801360" indent="-139065">
              <a:lnSpc>
                <a:spcPct val="114999"/>
              </a:lnSpc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main()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 </a:t>
            </a:r>
            <a:r>
              <a:rPr dirty="0" sz="1100">
                <a:latin typeface="Roboto"/>
                <a:cs typeface="Roboto"/>
              </a:rPr>
              <a:t>FILE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*fp; </a:t>
            </a: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6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c;</a:t>
            </a:r>
            <a:endParaRPr sz="1100">
              <a:latin typeface="Roboto"/>
              <a:cs typeface="Roboto"/>
            </a:endParaRPr>
          </a:p>
          <a:p>
            <a:pPr algn="just" marL="151130" marR="4236720">
              <a:lnSpc>
                <a:spcPct val="114999"/>
              </a:lnSpc>
            </a:pPr>
            <a:r>
              <a:rPr dirty="0" sz="1100">
                <a:latin typeface="Roboto"/>
                <a:cs typeface="Roboto"/>
              </a:rPr>
              <a:t>fp</a:t>
            </a:r>
            <a:r>
              <a:rPr dirty="0" sz="1100" spc="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4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fopen("example_read.txt",</a:t>
            </a:r>
            <a:r>
              <a:rPr dirty="0" sz="1100" spc="4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"r"); </a:t>
            </a:r>
            <a:r>
              <a:rPr dirty="0" sz="1100">
                <a:latin typeface="Roboto"/>
                <a:cs typeface="Roboto"/>
              </a:rPr>
              <a:t>if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(fp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==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NULL)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289560">
              <a:lnSpc>
                <a:spcPct val="100000"/>
              </a:lnSpc>
              <a:spcBef>
                <a:spcPts val="200"/>
              </a:spcBef>
            </a:pPr>
            <a:r>
              <a:rPr dirty="0" sz="1100" spc="-10">
                <a:latin typeface="Roboto"/>
                <a:cs typeface="Roboto"/>
              </a:rPr>
              <a:t>perror("Ошибка </a:t>
            </a:r>
            <a:r>
              <a:rPr dirty="0" sz="1100" spc="-20">
                <a:latin typeface="Roboto"/>
                <a:cs typeface="Roboto"/>
              </a:rPr>
              <a:t>открытия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example_read.txt");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Используем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perror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при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ошибке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открытия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9750" y="869575"/>
            <a:ext cx="5667375" cy="349631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289560">
              <a:lnSpc>
                <a:spcPct val="100000"/>
              </a:lnSpc>
              <a:spcBef>
                <a:spcPts val="295"/>
              </a:spcBef>
            </a:pP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1;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</a:pPr>
            <a:r>
              <a:rPr dirty="0" sz="1100" spc="-20">
                <a:latin typeface="Roboto"/>
                <a:cs typeface="Roboto"/>
              </a:rPr>
              <a:t>printf("Читаем</a:t>
            </a:r>
            <a:r>
              <a:rPr dirty="0" sz="1100" spc="7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файл:\n");</a:t>
            </a:r>
            <a:endParaRPr sz="1100">
              <a:latin typeface="Roboto"/>
              <a:cs typeface="Roboto"/>
            </a:endParaRPr>
          </a:p>
          <a:p>
            <a:pPr marL="289560" marR="547370" indent="-139065">
              <a:lnSpc>
                <a:spcPct val="114999"/>
              </a:lnSpc>
            </a:pPr>
            <a:r>
              <a:rPr dirty="0" sz="1100" spc="-10">
                <a:latin typeface="Roboto"/>
                <a:cs typeface="Roboto"/>
              </a:rPr>
              <a:t>while</a:t>
            </a:r>
            <a:r>
              <a:rPr dirty="0" sz="1100" spc="-4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((c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fgetc(fp))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!=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EOF)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{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Корректный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цикл: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проверка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результата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fgetc putchar(c);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Roboto"/>
              <a:cs typeface="Roboto"/>
            </a:endParaRPr>
          </a:p>
          <a:p>
            <a:pPr marL="151130" marR="2738120">
              <a:lnSpc>
                <a:spcPct val="114999"/>
              </a:lnSpc>
              <a:spcBef>
                <a:spcPts val="5"/>
              </a:spcBef>
            </a:pP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После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цикла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проверяем,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почему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вышли </a:t>
            </a:r>
            <a:r>
              <a:rPr dirty="0" sz="1100">
                <a:latin typeface="Roboto"/>
                <a:cs typeface="Roboto"/>
              </a:rPr>
              <a:t>if</a:t>
            </a:r>
            <a:r>
              <a:rPr dirty="0" sz="1100" spc="1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(feof(fp))</a:t>
            </a:r>
            <a:r>
              <a:rPr dirty="0" sz="1100" spc="10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dirty="0" sz="1100" spc="-20">
                <a:latin typeface="Roboto"/>
                <a:cs typeface="Roboto"/>
              </a:rPr>
              <a:t>printf("\nДостигнут</a:t>
            </a:r>
            <a:r>
              <a:rPr dirty="0" sz="1100" spc="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конец</a:t>
            </a:r>
            <a:r>
              <a:rPr dirty="0" sz="1100" spc="10">
                <a:latin typeface="Roboto"/>
                <a:cs typeface="Roboto"/>
              </a:rPr>
              <a:t> </a:t>
            </a:r>
            <a:r>
              <a:rPr dirty="0" sz="1100" spc="-35">
                <a:latin typeface="Roboto"/>
                <a:cs typeface="Roboto"/>
              </a:rPr>
              <a:t>файла</a:t>
            </a:r>
            <a:r>
              <a:rPr dirty="0" sz="1100" spc="1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(feof).\n");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>
                <a:latin typeface="Roboto"/>
                <a:cs typeface="Roboto"/>
              </a:rPr>
              <a:t>}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else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if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(ferror(fp))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dirty="0" sz="1100" spc="-10">
                <a:latin typeface="Roboto"/>
                <a:cs typeface="Roboto"/>
              </a:rPr>
              <a:t>perror("Ошибка</a:t>
            </a:r>
            <a:r>
              <a:rPr dirty="0" sz="1100" spc="-5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чтения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из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35">
                <a:latin typeface="Roboto"/>
                <a:cs typeface="Roboto"/>
              </a:rPr>
              <a:t>файла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(ferror)");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Используем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perror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при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ошибке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чтения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Roboto"/>
              <a:cs typeface="Roboto"/>
            </a:endParaRPr>
          </a:p>
          <a:p>
            <a:pPr marL="151130" marR="4875530">
              <a:lnSpc>
                <a:spcPct val="114999"/>
              </a:lnSpc>
            </a:pPr>
            <a:r>
              <a:rPr dirty="0" sz="1100" spc="-10">
                <a:latin typeface="Roboto"/>
                <a:cs typeface="Roboto"/>
              </a:rPr>
              <a:t>fclose(fp); </a:t>
            </a: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0;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5377321"/>
            <a:ext cx="79375" cy="984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5570177"/>
            <a:ext cx="79375" cy="984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9750" y="4929150"/>
            <a:ext cx="5379085" cy="4223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Roboto"/>
                <a:cs typeface="Roboto"/>
              </a:rPr>
              <a:t>Пример</a:t>
            </a:r>
            <a:r>
              <a:rPr dirty="0" sz="1300" spc="-45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использования</a:t>
            </a:r>
            <a:r>
              <a:rPr dirty="0" sz="1300" spc="-25" b="1">
                <a:latin typeface="Roboto"/>
                <a:cs typeface="Roboto"/>
              </a:rPr>
              <a:t> </a:t>
            </a:r>
            <a:r>
              <a:rPr dirty="0" sz="1100" spc="-20" b="1">
                <a:solidFill>
                  <a:srgbClr val="178037"/>
                </a:solidFill>
                <a:latin typeface="Courier New"/>
                <a:cs typeface="Courier New"/>
              </a:rPr>
              <a:t>perror</a:t>
            </a:r>
            <a:r>
              <a:rPr dirty="0" sz="1100" spc="-340" b="1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latin typeface="Roboto"/>
                <a:cs typeface="Roboto"/>
              </a:rPr>
              <a:t>при</a:t>
            </a:r>
            <a:r>
              <a:rPr dirty="0" sz="1300" spc="-25" b="1">
                <a:latin typeface="Roboto"/>
                <a:cs typeface="Roboto"/>
              </a:rPr>
              <a:t> </a:t>
            </a:r>
            <a:r>
              <a:rPr dirty="0" sz="1300" b="1">
                <a:latin typeface="Roboto"/>
                <a:cs typeface="Roboto"/>
              </a:rPr>
              <a:t>ошибке</a:t>
            </a:r>
            <a:r>
              <a:rPr dirty="0" sz="1300" spc="-25" b="1">
                <a:latin typeface="Roboto"/>
                <a:cs typeface="Roboto"/>
              </a:rPr>
              <a:t> </a:t>
            </a:r>
            <a:r>
              <a:rPr dirty="0" sz="1300" spc="-10" b="1">
                <a:latin typeface="Roboto"/>
                <a:cs typeface="Roboto"/>
              </a:rPr>
              <a:t>открытия:</a:t>
            </a:r>
            <a:endParaRPr sz="1300">
              <a:latin typeface="Roboto"/>
              <a:cs typeface="Roboto"/>
            </a:endParaRPr>
          </a:p>
          <a:p>
            <a:pPr marL="98425" marR="4189729">
              <a:lnSpc>
                <a:spcPct val="114999"/>
              </a:lnSpc>
              <a:spcBef>
                <a:spcPts val="1345"/>
              </a:spcBef>
            </a:pPr>
            <a:r>
              <a:rPr dirty="0" sz="1100" spc="-10">
                <a:latin typeface="Roboto"/>
                <a:cs typeface="Roboto"/>
              </a:rPr>
              <a:t>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&lt;stdio.h&gt; include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&lt;stdlib.h&gt;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Roboto"/>
              <a:cs typeface="Roboto"/>
            </a:endParaRPr>
          </a:p>
          <a:p>
            <a:pPr marL="151130" marR="4679315" indent="-139065">
              <a:lnSpc>
                <a:spcPct val="114999"/>
              </a:lnSpc>
              <a:spcBef>
                <a:spcPts val="5"/>
              </a:spcBef>
            </a:pPr>
            <a:r>
              <a:rPr dirty="0" sz="1100">
                <a:latin typeface="Roboto"/>
                <a:cs typeface="Roboto"/>
              </a:rPr>
              <a:t>int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main()</a:t>
            </a:r>
            <a:r>
              <a:rPr dirty="0" sz="1100" spc="-5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 </a:t>
            </a:r>
            <a:r>
              <a:rPr dirty="0" sz="1100">
                <a:latin typeface="Roboto"/>
                <a:cs typeface="Roboto"/>
              </a:rPr>
              <a:t>FILE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*fp;</a:t>
            </a:r>
            <a:endParaRPr sz="1100">
              <a:latin typeface="Roboto"/>
              <a:cs typeface="Roboto"/>
            </a:endParaRPr>
          </a:p>
          <a:p>
            <a:pPr marL="151130" marR="656590">
              <a:lnSpc>
                <a:spcPct val="114999"/>
              </a:lnSpc>
            </a:pP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Попытка</a:t>
            </a:r>
            <a:r>
              <a:rPr dirty="0" sz="110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открыть</a:t>
            </a:r>
            <a:r>
              <a:rPr dirty="0" sz="1100">
                <a:latin typeface="Roboto"/>
                <a:cs typeface="Roboto"/>
              </a:rPr>
              <a:t> </a:t>
            </a:r>
            <a:r>
              <a:rPr dirty="0" sz="1100" spc="-40">
                <a:latin typeface="Roboto"/>
                <a:cs typeface="Roboto"/>
              </a:rPr>
              <a:t>файл,</a:t>
            </a:r>
            <a:r>
              <a:rPr dirty="0" sz="1100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который</a:t>
            </a:r>
            <a:r>
              <a:rPr dirty="0" sz="1100">
                <a:latin typeface="Roboto"/>
                <a:cs typeface="Roboto"/>
              </a:rPr>
              <a:t> не </a:t>
            </a:r>
            <a:r>
              <a:rPr dirty="0" sz="1100" spc="-20">
                <a:latin typeface="Roboto"/>
                <a:cs typeface="Roboto"/>
              </a:rPr>
              <a:t>существует</a:t>
            </a:r>
            <a:r>
              <a:rPr dirty="0" sz="1100">
                <a:latin typeface="Roboto"/>
                <a:cs typeface="Roboto"/>
              </a:rPr>
              <a:t> </a:t>
            </a:r>
            <a:r>
              <a:rPr dirty="0" sz="1100" spc="-200">
                <a:latin typeface="Roboto"/>
                <a:cs typeface="Roboto"/>
              </a:rPr>
              <a:t>-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errno</a:t>
            </a:r>
            <a:r>
              <a:rPr dirty="0" sz="110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установится </a:t>
            </a:r>
            <a:r>
              <a:rPr dirty="0" sz="1100">
                <a:latin typeface="Roboto"/>
                <a:cs typeface="Roboto"/>
              </a:rPr>
              <a:t>fp</a:t>
            </a:r>
            <a:r>
              <a:rPr dirty="0" sz="1100" spc="8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</a:t>
            </a:r>
            <a:r>
              <a:rPr dirty="0" sz="1100" spc="8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fopen("non_existent_directory/non_existent_ﬁle.txt",</a:t>
            </a:r>
            <a:r>
              <a:rPr dirty="0" sz="1100" spc="8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"r");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</a:pPr>
            <a:r>
              <a:rPr dirty="0" sz="1100">
                <a:latin typeface="Roboto"/>
                <a:cs typeface="Roboto"/>
              </a:rPr>
              <a:t>if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(fp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==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NULL)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{</a:t>
            </a:r>
            <a:endParaRPr sz="1100">
              <a:latin typeface="Roboto"/>
              <a:cs typeface="Roboto"/>
            </a:endParaRPr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perror</a:t>
            </a:r>
            <a:r>
              <a:rPr dirty="0" sz="1100" spc="-4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прочитает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errno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и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выведет</a:t>
            </a:r>
            <a:r>
              <a:rPr dirty="0" sz="1100" spc="-2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системное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сообщение</a:t>
            </a:r>
            <a:endParaRPr sz="1100">
              <a:latin typeface="Roboto"/>
              <a:cs typeface="Roboto"/>
            </a:endParaRPr>
          </a:p>
          <a:p>
            <a:pPr marL="289560" marR="5080">
              <a:lnSpc>
                <a:spcPct val="114999"/>
              </a:lnSpc>
              <a:spcBef>
                <a:spcPts val="5"/>
              </a:spcBef>
            </a:pPr>
            <a:r>
              <a:rPr dirty="0" sz="1100" spc="-10">
                <a:latin typeface="Roboto"/>
                <a:cs typeface="Roboto"/>
              </a:rPr>
              <a:t>perror("Ошибка</a:t>
            </a:r>
            <a:r>
              <a:rPr dirty="0" sz="1100" spc="-20">
                <a:latin typeface="Roboto"/>
                <a:cs typeface="Roboto"/>
              </a:rPr>
              <a:t> открытия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40">
                <a:latin typeface="Roboto"/>
                <a:cs typeface="Roboto"/>
              </a:rPr>
              <a:t>файла");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"Ошибка </a:t>
            </a:r>
            <a:r>
              <a:rPr dirty="0" sz="1100" spc="-20">
                <a:latin typeface="Roboto"/>
                <a:cs typeface="Roboto"/>
              </a:rPr>
              <a:t>открытия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50">
                <a:latin typeface="Roboto"/>
                <a:cs typeface="Roboto"/>
              </a:rPr>
              <a:t>файла"</a:t>
            </a:r>
            <a:r>
              <a:rPr dirty="0" sz="1100" spc="-10">
                <a:latin typeface="Roboto"/>
                <a:cs typeface="Roboto"/>
              </a:rPr>
              <a:t> </a:t>
            </a:r>
            <a:r>
              <a:rPr dirty="0" sz="1100" spc="-200">
                <a:latin typeface="Roboto"/>
                <a:cs typeface="Roboto"/>
              </a:rPr>
              <a:t>-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наш</a:t>
            </a:r>
            <a:r>
              <a:rPr dirty="0" sz="1100" spc="-10">
                <a:latin typeface="Roboto"/>
                <a:cs typeface="Roboto"/>
              </a:rPr>
              <a:t> префикс </a:t>
            </a: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1;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195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  <a:p>
            <a:pPr marL="151130" marR="2197735">
              <a:lnSpc>
                <a:spcPct val="229999"/>
              </a:lnSpc>
            </a:pPr>
            <a:r>
              <a:rPr dirty="0" sz="1100" spc="-75">
                <a:latin typeface="Roboto"/>
                <a:cs typeface="Roboto"/>
              </a:rPr>
              <a:t>//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Если</a:t>
            </a:r>
            <a:r>
              <a:rPr dirty="0" sz="1100" spc="-35">
                <a:latin typeface="Roboto"/>
                <a:cs typeface="Roboto"/>
              </a:rPr>
              <a:t> </a:t>
            </a:r>
            <a:r>
              <a:rPr dirty="0" sz="1100" spc="-20">
                <a:latin typeface="Roboto"/>
                <a:cs typeface="Roboto"/>
              </a:rPr>
              <a:t>открыт </a:t>
            </a:r>
            <a:r>
              <a:rPr dirty="0" sz="1100">
                <a:latin typeface="Roboto"/>
                <a:cs typeface="Roboto"/>
              </a:rPr>
              <a:t>успешно,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работаем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>
                <a:latin typeface="Roboto"/>
                <a:cs typeface="Roboto"/>
              </a:rPr>
              <a:t>с</a:t>
            </a:r>
            <a:r>
              <a:rPr dirty="0" sz="1100" spc="-20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файлом... fclose(fp);</a:t>
            </a:r>
            <a:endParaRPr sz="1100">
              <a:latin typeface="Roboto"/>
              <a:cs typeface="Roboto"/>
            </a:endParaRPr>
          </a:p>
          <a:p>
            <a:pPr marL="151130">
              <a:lnSpc>
                <a:spcPct val="100000"/>
              </a:lnSpc>
              <a:spcBef>
                <a:spcPts val="200"/>
              </a:spcBef>
            </a:pPr>
            <a:r>
              <a:rPr dirty="0" sz="1100" spc="-20">
                <a:latin typeface="Roboto"/>
                <a:cs typeface="Roboto"/>
              </a:rPr>
              <a:t>return</a:t>
            </a:r>
            <a:r>
              <a:rPr dirty="0" sz="1100" spc="-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0;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100">
              <a:latin typeface="Roboto"/>
              <a:cs typeface="Roboto"/>
            </a:endParaRPr>
          </a:p>
          <a:p>
            <a:pPr marL="374650">
              <a:lnSpc>
                <a:spcPct val="100000"/>
              </a:lnSpc>
              <a:spcBef>
                <a:spcPts val="5"/>
              </a:spcBef>
            </a:pPr>
            <a:r>
              <a:rPr dirty="0" sz="1100" spc="-50">
                <a:latin typeface="Roboto"/>
                <a:cs typeface="Roboto"/>
              </a:rPr>
              <a:t>}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 2</dc:title>
  <dcterms:created xsi:type="dcterms:W3CDTF">2026-09-13T11:09:26Z</dcterms:created>
  <dcterms:modified xsi:type="dcterms:W3CDTF">2026-09-13T11:09:26Z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2026-09-13T00:00:00Z</vt:filetime>
  </property>
  <property fmtid="{D5CDD505-2E9C-101B-9397-08002B2CF9AE}" pid="4" name="Producer">
    <vt:lpwstr>Skia/PDF m141 Google Docs Renderer</vt:lpwstr>
  </property>
  <property fmtid="{D5CDD505-2E9C-101B-9397-08002B2CF9AE}" pid="5" name="LastSaved">
    <vt:filetime>2026-09-13T00:00:00Z</vt:filetime>
  </property>
</Properties>
</file>