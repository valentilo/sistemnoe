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43" r:id="rId1"/>
  </p:sldMasterIdLst>
  <p:sldIdLst>
    <p:sldId id="263" r:id="rId2"/>
    <p:sldId id="259" r:id="rId3"/>
    <p:sldId id="260" r:id="rId4"/>
    <p:sldId id="294" r:id="rId5"/>
    <p:sldId id="293" r:id="rId6"/>
    <p:sldId id="280" r:id="rId7"/>
    <p:sldId id="307" r:id="rId8"/>
    <p:sldId id="308" r:id="rId9"/>
    <p:sldId id="309" r:id="rId10"/>
    <p:sldId id="267" r:id="rId11"/>
    <p:sldId id="266" r:id="rId12"/>
    <p:sldId id="265" r:id="rId13"/>
    <p:sldId id="276" r:id="rId14"/>
    <p:sldId id="270" r:id="rId15"/>
    <p:sldId id="273" r:id="rId16"/>
    <p:sldId id="295" r:id="rId17"/>
    <p:sldId id="277" r:id="rId18"/>
    <p:sldId id="292" r:id="rId19"/>
    <p:sldId id="291" r:id="rId20"/>
    <p:sldId id="275" r:id="rId21"/>
    <p:sldId id="274" r:id="rId22"/>
    <p:sldId id="296" r:id="rId23"/>
    <p:sldId id="272" r:id="rId24"/>
    <p:sldId id="269" r:id="rId25"/>
    <p:sldId id="271" r:id="rId26"/>
    <p:sldId id="264" r:id="rId27"/>
    <p:sldId id="261" r:id="rId28"/>
    <p:sldId id="297" r:id="rId29"/>
    <p:sldId id="284" r:id="rId30"/>
    <p:sldId id="283" r:id="rId31"/>
    <p:sldId id="282" r:id="rId32"/>
    <p:sldId id="268" r:id="rId33"/>
    <p:sldId id="278" r:id="rId34"/>
    <p:sldId id="285" r:id="rId35"/>
    <p:sldId id="298" r:id="rId36"/>
    <p:sldId id="299" r:id="rId37"/>
    <p:sldId id="286" r:id="rId38"/>
    <p:sldId id="287" r:id="rId39"/>
    <p:sldId id="288" r:id="rId40"/>
    <p:sldId id="289" r:id="rId41"/>
    <p:sldId id="290" r:id="rId42"/>
    <p:sldId id="305" r:id="rId43"/>
    <p:sldId id="306" r:id="rId44"/>
    <p:sldId id="304" r:id="rId45"/>
    <p:sldId id="303" r:id="rId46"/>
    <p:sldId id="302" r:id="rId47"/>
    <p:sldId id="301" r:id="rId48"/>
    <p:sldId id="311" r:id="rId49"/>
    <p:sldId id="310" r:id="rId50"/>
    <p:sldId id="312" r:id="rId51"/>
    <p:sldId id="300" r:id="rId52"/>
    <p:sldId id="313" r:id="rId53"/>
    <p:sldId id="314" r:id="rId54"/>
    <p:sldId id="315" r:id="rId55"/>
    <p:sldId id="316" r:id="rId56"/>
    <p:sldId id="317" r:id="rId57"/>
    <p:sldId id="318" r:id="rId58"/>
    <p:sldId id="319" r:id="rId59"/>
    <p:sldId id="322" r:id="rId60"/>
    <p:sldId id="323" r:id="rId61"/>
    <p:sldId id="321" r:id="rId62"/>
    <p:sldId id="320" r:id="rId63"/>
    <p:sldId id="324" r:id="rId64"/>
    <p:sldId id="330" r:id="rId65"/>
    <p:sldId id="325" r:id="rId66"/>
    <p:sldId id="326" r:id="rId67"/>
    <p:sldId id="327" r:id="rId68"/>
    <p:sldId id="328" r:id="rId69"/>
    <p:sldId id="329" r:id="rId70"/>
    <p:sldId id="335" r:id="rId71"/>
    <p:sldId id="337" r:id="rId72"/>
    <p:sldId id="338" r:id="rId73"/>
    <p:sldId id="331" r:id="rId74"/>
    <p:sldId id="332" r:id="rId75"/>
    <p:sldId id="333" r:id="rId76"/>
    <p:sldId id="334" r:id="rId77"/>
    <p:sldId id="336" r:id="rId78"/>
    <p:sldId id="339" r:id="rId79"/>
    <p:sldId id="340" r:id="rId80"/>
    <p:sldId id="341" r:id="rId81"/>
    <p:sldId id="342" r:id="rId82"/>
    <p:sldId id="343" r:id="rId83"/>
    <p:sldId id="344" r:id="rId84"/>
    <p:sldId id="345" r:id="rId85"/>
    <p:sldId id="346" r:id="rId86"/>
    <p:sldId id="347" r:id="rId87"/>
    <p:sldId id="348" r:id="rId88"/>
    <p:sldId id="349" r:id="rId89"/>
    <p:sldId id="352" r:id="rId90"/>
    <p:sldId id="350" r:id="rId91"/>
    <p:sldId id="351" r:id="rId92"/>
    <p:sldId id="353" r:id="rId93"/>
    <p:sldId id="354" r:id="rId94"/>
    <p:sldId id="355" r:id="rId95"/>
    <p:sldId id="356" r:id="rId96"/>
    <p:sldId id="357" r:id="rId97"/>
    <p:sldId id="358" r:id="rId98"/>
    <p:sldId id="359" r:id="rId99"/>
    <p:sldId id="360" r:id="rId100"/>
    <p:sldId id="361" r:id="rId101"/>
    <p:sldId id="362" r:id="rId102"/>
    <p:sldId id="363" r:id="rId103"/>
    <p:sldId id="364" r:id="rId104"/>
    <p:sldId id="365" r:id="rId10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35" autoAdjust="0"/>
    <p:restoredTop sz="94660"/>
  </p:normalViewPr>
  <p:slideViewPr>
    <p:cSldViewPr snapToGrid="0">
      <p:cViewPr varScale="1">
        <p:scale>
          <a:sx n="50" d="100"/>
          <a:sy n="50" d="100"/>
        </p:scale>
        <p:origin x="120" y="2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6 Imagen" descr="Dibujo.bmp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b="1" cap="none" spc="0">
                <a:ln w="31550" cmpd="sng">
                  <a:gradFill>
                    <a:gsLst>
                      <a:gs pos="25000">
                        <a:schemeClr val="accent1">
                          <a:shade val="25000"/>
                          <a:satMod val="190000"/>
                        </a:schemeClr>
                      </a:gs>
                      <a:gs pos="80000">
                        <a:schemeClr val="accent1">
                          <a:tint val="75000"/>
                          <a:satMod val="190000"/>
                        </a:schemeClr>
                      </a:gs>
                    </a:gsLst>
                    <a:lin ang="5400000"/>
                  </a:gradFill>
                  <a:prstDash val="solid"/>
                </a:ln>
                <a:solidFill>
                  <a:srgbClr val="FFFFFF"/>
                </a:solidFill>
                <a:effectLst>
                  <a:outerShdw blurRad="41275" dist="12700" dir="12000000" algn="tl" rotWithShape="0">
                    <a:srgbClr val="000000">
                      <a:alpha val="40000"/>
                    </a:srgbClr>
                  </a:outerShdw>
                </a:effectLst>
              </a:defRPr>
            </a:lvl1pPr>
          </a:lstStyle>
          <a:p>
            <a:r>
              <a:rPr lang="ru-RU"/>
              <a:t>Образец заголовка</a:t>
            </a:r>
            <a:endParaRPr lang="es-ES" dirty="0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s-ES" dirty="0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C7E19-DCA5-49F3-B8D2-FDEAC3543D3D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EE45BB-B845-438C-A09B-2136531939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89482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cap="none" spc="0">
                <a:ln w="18415" cmpd="sng">
                  <a:solidFill>
                    <a:srgbClr val="0066FF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defRPr>
            </a:lvl1pPr>
          </a:lstStyle>
          <a:p>
            <a:r>
              <a:rPr lang="ru-RU"/>
              <a:t>Образец заголовка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800">
                <a:ln>
                  <a:noFill/>
                </a:ln>
                <a:solidFill>
                  <a:srgbClr val="0000CC"/>
                </a:solidFill>
              </a:defRPr>
            </a:lvl1pPr>
            <a:lvl2pPr>
              <a:defRPr>
                <a:ln>
                  <a:noFill/>
                </a:ln>
                <a:solidFill>
                  <a:srgbClr val="0000CC"/>
                </a:solidFill>
              </a:defRPr>
            </a:lvl2pPr>
            <a:lvl3pPr>
              <a:defRPr>
                <a:ln>
                  <a:noFill/>
                </a:ln>
                <a:solidFill>
                  <a:srgbClr val="0000CC"/>
                </a:solidFill>
              </a:defRPr>
            </a:lvl3pPr>
            <a:lvl4pPr>
              <a:defRPr>
                <a:ln>
                  <a:noFill/>
                </a:ln>
                <a:solidFill>
                  <a:srgbClr val="0000CC"/>
                </a:solidFill>
              </a:defRPr>
            </a:lvl4pPr>
            <a:lvl5pPr>
              <a:defRPr>
                <a:ln>
                  <a:noFill/>
                </a:ln>
                <a:solidFill>
                  <a:srgbClr val="0000CC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s-ES" dirty="0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C7E19-DCA5-49F3-B8D2-FDEAC3543D3D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EE45BB-B845-438C-A09B-2136531939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1263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C7E19-DCA5-49F3-B8D2-FDEAC3543D3D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EE45BB-B845-438C-A09B-2136531939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40014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s-ES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s-E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C7E19-DCA5-49F3-B8D2-FDEAC3543D3D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EE45BB-B845-438C-A09B-2136531939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1624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s-ES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s-ES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C7E19-DCA5-49F3-B8D2-FDEAC3543D3D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EE45BB-B845-438C-A09B-2136531939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1805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C7E19-DCA5-49F3-B8D2-FDEAC3543D3D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EE45BB-B845-438C-A09B-2136531939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75908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C7E19-DCA5-49F3-B8D2-FDEAC3543D3D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EE45BB-B845-438C-A09B-2136531939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9353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C7E19-DCA5-49F3-B8D2-FDEAC3543D3D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EE45BB-B845-438C-A09B-2136531939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8557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es-ES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C7E19-DCA5-49F3-B8D2-FDEAC3543D3D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EE45BB-B845-438C-A09B-2136531939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2909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s-E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C7E19-DCA5-49F3-B8D2-FDEAC3543D3D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EE45BB-B845-438C-A09B-2136531939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9571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s-E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C7E19-DCA5-49F3-B8D2-FDEAC3543D3D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EE45BB-B845-438C-A09B-2136531939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02528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3C7E19-DCA5-49F3-B8D2-FDEAC3543D3D}" type="datetimeFigureOut">
              <a:rPr lang="ru-RU" smtClean="0"/>
              <a:t>06.10.2026</a:t>
            </a:fld>
            <a:endParaRPr lang="ru-RU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EE45BB-B845-438C-A09B-2136531939F0}" type="slidenum">
              <a:rPr lang="ru-RU" smtClean="0"/>
              <a:t>‹#›</a:t>
            </a:fld>
            <a:endParaRPr lang="ru-RU"/>
          </a:p>
        </p:txBody>
      </p:sp>
      <p:pic>
        <p:nvPicPr>
          <p:cNvPr id="7" name="6 Imagen" descr="Dibujo.bmp"/>
          <p:cNvPicPr>
            <a:picLocks noChangeAspect="1"/>
          </p:cNvPicPr>
          <p:nvPr/>
        </p:nvPicPr>
        <p:blipFill>
          <a:blip r:embed="rId13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tangle 10"/>
          <p:cNvSpPr>
            <a:spLocks noChangeArrowheads="1"/>
          </p:cNvSpPr>
          <p:nvPr/>
        </p:nvSpPr>
        <p:spPr bwMode="auto">
          <a:xfrm>
            <a:off x="0" y="0"/>
            <a:ext cx="12192000" cy="7010400"/>
          </a:xfrm>
          <a:prstGeom prst="rect">
            <a:avLst/>
          </a:prstGeom>
          <a:gradFill flip="none" rotWithShape="1">
            <a:gsLst>
              <a:gs pos="100000">
                <a:srgbClr val="03D4A8">
                  <a:alpha val="18000"/>
                </a:srgbClr>
              </a:gs>
              <a:gs pos="25000">
                <a:srgbClr val="21D6E0">
                  <a:alpha val="23000"/>
                </a:srgbClr>
              </a:gs>
              <a:gs pos="75000">
                <a:srgbClr val="0087E6">
                  <a:alpha val="25000"/>
                </a:srgbClr>
              </a:gs>
              <a:gs pos="100000">
                <a:srgbClr val="005CBF">
                  <a:alpha val="25999"/>
                </a:srgbClr>
              </a:gs>
            </a:gsLst>
            <a:lin ang="2700000" scaled="1"/>
            <a:tileRect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s-ES" sz="1800"/>
          </a:p>
        </p:txBody>
      </p:sp>
    </p:spTree>
    <p:extLst>
      <p:ext uri="{BB962C8B-B14F-4D97-AF65-F5344CB8AC3E}">
        <p14:creationId xmlns:p14="http://schemas.microsoft.com/office/powerpoint/2010/main" val="26731910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4" r:id="rId1"/>
    <p:sldLayoutId id="2147483845" r:id="rId2"/>
    <p:sldLayoutId id="2147483846" r:id="rId3"/>
    <p:sldLayoutId id="2147483847" r:id="rId4"/>
    <p:sldLayoutId id="2147483848" r:id="rId5"/>
    <p:sldLayoutId id="2147483849" r:id="rId6"/>
    <p:sldLayoutId id="2147483850" r:id="rId7"/>
    <p:sldLayoutId id="2147483851" r:id="rId8"/>
    <p:sldLayoutId id="2147483852" r:id="rId9"/>
    <p:sldLayoutId id="2147483853" r:id="rId10"/>
    <p:sldLayoutId id="2147483854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BE1B47-9E47-9CBE-D322-40B93EDDF1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br>
              <a:rPr lang="ru-RU" dirty="0">
                <a:effectLst/>
              </a:rPr>
            </a:br>
            <a:endParaRPr lang="ru-RU" sz="540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15AFE19-3D70-2A10-9A1F-0C3D5FE56E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280" y="1600200"/>
            <a:ext cx="10027920" cy="4038600"/>
          </a:xfrm>
        </p:spPr>
        <p:txBody>
          <a:bodyPr>
            <a:noAutofit/>
          </a:bodyPr>
          <a:lstStyle/>
          <a:p>
            <a:r>
              <a:rPr lang="ru-RU" sz="5400" dirty="0">
                <a:solidFill>
                  <a:schemeClr val="accent1">
                    <a:lumMod val="75000"/>
                  </a:schemeClr>
                </a:solidFill>
              </a:rPr>
              <a:t>тема</a:t>
            </a:r>
          </a:p>
          <a:p>
            <a:r>
              <a:rPr lang="ru-RU" sz="5400" b="1" dirty="0">
                <a:solidFill>
                  <a:schemeClr val="accent1">
                    <a:lumMod val="75000"/>
                  </a:schemeClr>
                </a:solidFill>
              </a:rPr>
              <a:t>Структуры хранения информации о файле</a:t>
            </a:r>
          </a:p>
        </p:txBody>
      </p:sp>
    </p:spTree>
    <p:extLst>
      <p:ext uri="{BB962C8B-B14F-4D97-AF65-F5344CB8AC3E}">
        <p14:creationId xmlns:p14="http://schemas.microsoft.com/office/powerpoint/2010/main" val="1197028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67F778-4323-4A64-0B60-59668E584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9AE792C-54FF-C25B-DEAA-C7DF8621C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6000" i="1" dirty="0"/>
              <a:t>Научиться на практических примерах работать со структурами хранения информации о файле</a:t>
            </a:r>
          </a:p>
          <a:p>
            <a:pPr marL="0" indent="0">
              <a:buNone/>
            </a:pPr>
            <a:endParaRPr lang="ru-RU" sz="6000" i="1" dirty="0"/>
          </a:p>
        </p:txBody>
      </p:sp>
    </p:spTree>
    <p:extLst>
      <p:ext uri="{BB962C8B-B14F-4D97-AF65-F5344CB8AC3E}">
        <p14:creationId xmlns:p14="http://schemas.microsoft.com/office/powerpoint/2010/main" val="3480104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F88D02-382A-2EB9-CD8F-342D05C84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/>
              <a:t>Задачи</a:t>
            </a:r>
            <a:br>
              <a:rPr lang="ru-RU"/>
            </a:br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63FF237-86B4-6E06-2E56-2FFF6472D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4000" dirty="0"/>
              <a:t>Научиться работать со структурами:</a:t>
            </a:r>
          </a:p>
          <a:p>
            <a:r>
              <a:rPr lang="ru-RU" sz="4000" dirty="0"/>
              <a:t>FILE, </a:t>
            </a:r>
          </a:p>
          <a:p>
            <a:r>
              <a:rPr lang="ru-RU" sz="4000" dirty="0" err="1"/>
              <a:t>struct</a:t>
            </a:r>
            <a:r>
              <a:rPr lang="ru-RU" sz="4000" dirty="0"/>
              <a:t> </a:t>
            </a:r>
            <a:r>
              <a:rPr lang="ru-RU" sz="4000" dirty="0" err="1"/>
              <a:t>stat</a:t>
            </a:r>
            <a:r>
              <a:rPr lang="ru-RU" sz="4000" dirty="0"/>
              <a:t>, </a:t>
            </a:r>
          </a:p>
          <a:p>
            <a:r>
              <a:rPr lang="ru-RU" sz="4000" dirty="0"/>
              <a:t>файловые дескрипторы, </a:t>
            </a:r>
          </a:p>
          <a:p>
            <a:r>
              <a:rPr lang="ru-RU" sz="4000" dirty="0"/>
              <a:t>буферы и связанными с ними механизмы</a:t>
            </a:r>
          </a:p>
        </p:txBody>
      </p:sp>
    </p:spTree>
    <p:extLst>
      <p:ext uri="{BB962C8B-B14F-4D97-AF65-F5344CB8AC3E}">
        <p14:creationId xmlns:p14="http://schemas.microsoft.com/office/powerpoint/2010/main" val="16646796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F608C29-F4C8-6AC5-5D8C-628385AE4961}"/>
              </a:ext>
            </a:extLst>
          </p:cNvPr>
          <p:cNvSpPr txBox="1"/>
          <p:nvPr/>
        </p:nvSpPr>
        <p:spPr>
          <a:xfrm>
            <a:off x="213360" y="533400"/>
            <a:ext cx="893064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ru-RU" sz="7200" b="1" i="0" dirty="0">
                <a:solidFill>
                  <a:schemeClr val="accent1">
                    <a:lumMod val="75000"/>
                  </a:schemeClr>
                </a:solidFill>
                <a:effectLst/>
                <a:latin typeface="+mn-lt"/>
              </a:rPr>
              <a:t>Часть 1. Структура FILE (примеры 1–7)</a:t>
            </a:r>
            <a:endParaRPr lang="ru-RU" sz="7200" b="1" i="0" dirty="0">
              <a:solidFill>
                <a:schemeClr val="accent1">
                  <a:lumMod val="75000"/>
                </a:schemeClr>
              </a:solidFill>
              <a:effectLst/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1123463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4CB89C-096C-FD4B-EFDE-81F61B42F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effectLst/>
              </a:rPr>
              <a:t>Пример 1. Что такое FILE * — объявление и проверка</a:t>
            </a:r>
            <a:br>
              <a:rPr lang="ru-RU" dirty="0">
                <a:effectLst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7F7BF6C-7144-FDA9-1BF8-910FBDB95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stdio.h</a:t>
            </a:r>
            <a:r>
              <a:rPr lang="ru-RU" dirty="0"/>
              <a:t>&gt;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err="1"/>
              <a:t>int</a:t>
            </a:r>
            <a:r>
              <a:rPr lang="ru-RU" dirty="0"/>
              <a:t> main(</a:t>
            </a:r>
            <a:r>
              <a:rPr lang="ru-RU" dirty="0" err="1"/>
              <a:t>void</a:t>
            </a:r>
            <a:r>
              <a:rPr lang="ru-RU" dirty="0"/>
              <a:t>) {</a:t>
            </a:r>
          </a:p>
          <a:p>
            <a:pPr marL="0" indent="0">
              <a:buNone/>
            </a:pPr>
            <a:r>
              <a:rPr lang="ru-RU" dirty="0"/>
              <a:t>    FILE *</a:t>
            </a:r>
            <a:r>
              <a:rPr lang="ru-RU" dirty="0" err="1"/>
              <a:t>fp</a:t>
            </a:r>
            <a:r>
              <a:rPr lang="ru-RU" dirty="0"/>
              <a:t> = </a:t>
            </a:r>
            <a:r>
              <a:rPr lang="ru-RU" dirty="0" err="1"/>
              <a:t>fopen</a:t>
            </a:r>
            <a:r>
              <a:rPr lang="ru-RU" dirty="0"/>
              <a:t>("hello.txt", "r");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if</a:t>
            </a:r>
            <a:r>
              <a:rPr lang="ru-RU" dirty="0"/>
              <a:t> (</a:t>
            </a:r>
            <a:r>
              <a:rPr lang="ru-RU" dirty="0" err="1"/>
              <a:t>fp</a:t>
            </a:r>
            <a:r>
              <a:rPr lang="ru-RU" dirty="0"/>
              <a:t> == NULL) {</a:t>
            </a:r>
          </a:p>
          <a:p>
            <a:pPr marL="0" indent="0">
              <a:buNone/>
            </a:pPr>
            <a:r>
              <a:rPr lang="ru-RU" dirty="0"/>
              <a:t>        </a:t>
            </a:r>
            <a:r>
              <a:rPr lang="ru-RU" dirty="0" err="1"/>
              <a:t>perror</a:t>
            </a:r>
            <a:r>
              <a:rPr lang="ru-RU" dirty="0"/>
              <a:t>("</a:t>
            </a:r>
            <a:r>
              <a:rPr lang="ru-RU" dirty="0" err="1"/>
              <a:t>fopen</a:t>
            </a:r>
            <a:r>
              <a:rPr lang="ru-RU" dirty="0"/>
              <a:t>");</a:t>
            </a:r>
          </a:p>
          <a:p>
            <a:pPr marL="0" indent="0">
              <a:buNone/>
            </a:pPr>
            <a:r>
              <a:rPr lang="ru-RU" dirty="0"/>
              <a:t>        return 1;</a:t>
            </a:r>
          </a:p>
          <a:p>
            <a:pPr marL="0" indent="0">
              <a:buNone/>
            </a:pPr>
            <a:r>
              <a:rPr lang="ru-RU" dirty="0"/>
              <a:t>    }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printf</a:t>
            </a:r>
            <a:r>
              <a:rPr lang="ru-RU" dirty="0"/>
              <a:t>("Файл открыт, указатель: %p\n", (</a:t>
            </a:r>
            <a:r>
              <a:rPr lang="ru-RU" dirty="0" err="1"/>
              <a:t>void</a:t>
            </a:r>
            <a:r>
              <a:rPr lang="ru-RU" dirty="0"/>
              <a:t> *)</a:t>
            </a:r>
            <a:r>
              <a:rPr lang="ru-RU" dirty="0" err="1"/>
              <a:t>fp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fclose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dirty="0"/>
              <a:t>    return 0;</a:t>
            </a:r>
          </a:p>
          <a:p>
            <a:pPr marL="0" indent="0">
              <a:buNone/>
            </a:pPr>
            <a:r>
              <a:rPr lang="ru-RU" dirty="0"/>
              <a:t>}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581585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B551DF7C-E228-8341-7981-B13DA18D6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ru-RU" sz="4800" b="1" dirty="0"/>
              <a:t>Что показывает:</a:t>
            </a:r>
            <a:r>
              <a:rPr lang="ru-RU" sz="4800" dirty="0"/>
              <a:t> FILE * — это </a:t>
            </a:r>
            <a:r>
              <a:rPr lang="ru-RU" sz="4800" b="1" dirty="0"/>
              <a:t>указатель на структуру</a:t>
            </a:r>
            <a:r>
              <a:rPr lang="ru-RU" sz="4800" dirty="0"/>
              <a:t>, которая хранит всю информацию об открытом файле. %p выводит </a:t>
            </a:r>
            <a:r>
              <a:rPr lang="ru-RU" sz="4800" b="1" dirty="0"/>
              <a:t>адрес</a:t>
            </a:r>
            <a:r>
              <a:rPr lang="ru-RU" sz="4800" dirty="0"/>
              <a:t> структуры в памяти.</a:t>
            </a:r>
          </a:p>
          <a:p>
            <a:pPr marL="0" indent="0">
              <a:buNone/>
            </a:pPr>
            <a:br>
              <a:rPr lang="ru-RU" sz="4800" dirty="0"/>
            </a:br>
            <a:endParaRPr lang="ru-RU" sz="4800" dirty="0"/>
          </a:p>
        </p:txBody>
      </p:sp>
    </p:spTree>
    <p:extLst>
      <p:ext uri="{BB962C8B-B14F-4D97-AF65-F5344CB8AC3E}">
        <p14:creationId xmlns:p14="http://schemas.microsoft.com/office/powerpoint/2010/main" val="185848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F41AEC-C9FB-FE63-429B-73CD8E5E0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Подключение библиотеки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E7F95D6-32CC-6F2C-6896-EA643061E5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latinLnBrk="1">
              <a:buNone/>
            </a:pPr>
            <a:r>
              <a:rPr lang="ru-RU" dirty="0"/>
              <a:t>#include &lt;</a:t>
            </a:r>
            <a:r>
              <a:rPr lang="ru-RU" dirty="0" err="1"/>
              <a:t>stdio.h</a:t>
            </a:r>
            <a:r>
              <a:rPr lang="ru-RU" dirty="0"/>
              <a:t>&gt;</a:t>
            </a:r>
          </a:p>
          <a:p>
            <a:pPr marL="0" indent="0">
              <a:buNone/>
            </a:pPr>
            <a:r>
              <a:rPr lang="ru-RU" dirty="0" err="1"/>
              <a:t>stdio.h</a:t>
            </a:r>
            <a:r>
              <a:rPr lang="ru-RU" dirty="0"/>
              <a:t> — стандартная библиотека ввода-вывода. Содержит:</a:t>
            </a:r>
          </a:p>
          <a:p>
            <a:pPr marL="0" lvl="0" indent="0">
              <a:buNone/>
            </a:pPr>
            <a:r>
              <a:rPr lang="ru-RU" dirty="0"/>
              <a:t>FILE — тип для работы с файлами,</a:t>
            </a:r>
          </a:p>
          <a:p>
            <a:pPr marL="0" lvl="0" indent="0">
              <a:buNone/>
            </a:pPr>
            <a:r>
              <a:rPr lang="ru-RU" dirty="0" err="1"/>
              <a:t>fopen</a:t>
            </a:r>
            <a:r>
              <a:rPr lang="ru-RU" dirty="0"/>
              <a:t>, </a:t>
            </a:r>
            <a:r>
              <a:rPr lang="ru-RU" dirty="0" err="1"/>
              <a:t>fclose</a:t>
            </a:r>
            <a:r>
              <a:rPr lang="ru-RU" dirty="0"/>
              <a:t> — открытие/закрытие,</a:t>
            </a:r>
          </a:p>
          <a:p>
            <a:pPr marL="0" lvl="0" indent="0">
              <a:buNone/>
            </a:pPr>
            <a:r>
              <a:rPr lang="ru-RU" dirty="0" err="1"/>
              <a:t>fgetc</a:t>
            </a:r>
            <a:r>
              <a:rPr lang="ru-RU" dirty="0"/>
              <a:t>, </a:t>
            </a:r>
            <a:r>
              <a:rPr lang="ru-RU" dirty="0" err="1"/>
              <a:t>fputc</a:t>
            </a:r>
            <a:r>
              <a:rPr lang="ru-RU" dirty="0"/>
              <a:t> — чтение/запись символа,</a:t>
            </a:r>
          </a:p>
          <a:p>
            <a:pPr marL="0" lvl="0" indent="0">
              <a:buNone/>
            </a:pPr>
            <a:r>
              <a:rPr lang="ru-RU" dirty="0"/>
              <a:t>EOF — признак конца файла.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55675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D61A06-5F66-A3BA-45E7-D4DBFF436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Открытие исходного файла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570588C-84E2-2034-C90D-D66E25671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atinLnBrk="1"/>
            <a:r>
              <a:rPr lang="ru-RU" dirty="0"/>
              <a:t>FILE *</a:t>
            </a:r>
            <a:r>
              <a:rPr lang="ru-RU" dirty="0" err="1"/>
              <a:t>in</a:t>
            </a:r>
            <a:r>
              <a:rPr lang="ru-RU" dirty="0"/>
              <a:t> = </a:t>
            </a:r>
            <a:r>
              <a:rPr lang="ru-RU" dirty="0" err="1"/>
              <a:t>fopen</a:t>
            </a:r>
            <a:r>
              <a:rPr lang="ru-RU" dirty="0"/>
              <a:t>("in.txt", "r");</a:t>
            </a:r>
          </a:p>
          <a:p>
            <a:pPr lvl="0"/>
            <a:r>
              <a:rPr lang="ru-RU" dirty="0" err="1"/>
              <a:t>fopen</a:t>
            </a:r>
            <a:r>
              <a:rPr lang="ru-RU" dirty="0"/>
              <a:t>("in.txt", "r") — открывает файл in.txt </a:t>
            </a:r>
            <a:r>
              <a:rPr lang="ru-RU" b="1" dirty="0"/>
              <a:t>только для чтения</a:t>
            </a:r>
            <a:r>
              <a:rPr lang="ru-RU" dirty="0"/>
              <a:t>.</a:t>
            </a:r>
          </a:p>
          <a:p>
            <a:pPr lvl="0"/>
            <a:r>
              <a:rPr lang="ru-RU" dirty="0"/>
              <a:t>Режим "r": файл </a:t>
            </a:r>
            <a:r>
              <a:rPr lang="ru-RU" b="1" dirty="0"/>
              <a:t>должен существовать</a:t>
            </a:r>
            <a:r>
              <a:rPr lang="ru-RU" dirty="0"/>
              <a:t>, иначе </a:t>
            </a:r>
            <a:r>
              <a:rPr lang="ru-RU" dirty="0" err="1"/>
              <a:t>fopen</a:t>
            </a:r>
            <a:r>
              <a:rPr lang="ru-RU" dirty="0"/>
              <a:t> вернёт NULL.</a:t>
            </a:r>
          </a:p>
          <a:p>
            <a:pPr lvl="0"/>
            <a:r>
              <a:rPr lang="ru-RU" dirty="0"/>
              <a:t>FILE *</a:t>
            </a:r>
            <a:r>
              <a:rPr lang="ru-RU" dirty="0" err="1"/>
              <a:t>in</a:t>
            </a:r>
            <a:r>
              <a:rPr lang="ru-RU" dirty="0"/>
              <a:t> — указатель на структуру FILE — «дескриптор» файла.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81748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DEF0C0-B1ED-F66D-D34F-AF35700DE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Открытие файла для записи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78A4B91-8562-F6FE-A60E-5342E3A367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atinLnBrk="1">
              <a:buNone/>
            </a:pPr>
            <a:r>
              <a:rPr lang="ru-RU" sz="4000" dirty="0"/>
              <a:t>FILE *</a:t>
            </a:r>
            <a:r>
              <a:rPr lang="ru-RU" sz="4000" dirty="0" err="1"/>
              <a:t>out</a:t>
            </a:r>
            <a:r>
              <a:rPr lang="ru-RU" sz="4000" dirty="0"/>
              <a:t> = </a:t>
            </a:r>
            <a:r>
              <a:rPr lang="ru-RU" sz="4000" dirty="0" err="1"/>
              <a:t>fopen</a:t>
            </a:r>
            <a:r>
              <a:rPr lang="ru-RU" sz="4000" dirty="0"/>
              <a:t>("out.txt", "w");</a:t>
            </a:r>
          </a:p>
          <a:p>
            <a:pPr marL="0" lvl="0" indent="0">
              <a:buNone/>
            </a:pPr>
            <a:r>
              <a:rPr lang="ru-RU" sz="4000" dirty="0"/>
              <a:t>Режим "w": файл открывается </a:t>
            </a:r>
            <a:r>
              <a:rPr lang="ru-RU" sz="4000" b="1" dirty="0"/>
              <a:t>для записи</a:t>
            </a:r>
            <a:r>
              <a:rPr lang="ru-RU" sz="4000" dirty="0"/>
              <a:t>.</a:t>
            </a:r>
          </a:p>
          <a:p>
            <a:pPr marL="0" lvl="0" indent="0">
              <a:buNone/>
            </a:pPr>
            <a:r>
              <a:rPr lang="ru-RU" sz="4000" dirty="0"/>
              <a:t>Если файла </a:t>
            </a:r>
            <a:r>
              <a:rPr lang="ru-RU" sz="4000" b="1" dirty="0"/>
              <a:t>нет</a:t>
            </a:r>
            <a:r>
              <a:rPr lang="ru-RU" sz="4000" dirty="0"/>
              <a:t> — он </a:t>
            </a:r>
            <a:r>
              <a:rPr lang="ru-RU" sz="4000" b="1" dirty="0"/>
              <a:t>создаётся</a:t>
            </a:r>
            <a:r>
              <a:rPr lang="ru-RU" sz="4000" dirty="0"/>
              <a:t>.</a:t>
            </a:r>
          </a:p>
          <a:p>
            <a:pPr marL="0" lvl="0" indent="0">
              <a:buNone/>
            </a:pPr>
            <a:r>
              <a:rPr lang="ru-RU" sz="4000" dirty="0"/>
              <a:t>Если файл </a:t>
            </a:r>
            <a:r>
              <a:rPr lang="ru-RU" sz="4000" b="1" dirty="0"/>
              <a:t>есть</a:t>
            </a:r>
            <a:r>
              <a:rPr lang="ru-RU" sz="4000" dirty="0"/>
              <a:t> — его содержимое </a:t>
            </a:r>
            <a:r>
              <a:rPr lang="ru-RU" sz="4000" b="1" dirty="0"/>
              <a:t>стирается</a:t>
            </a:r>
            <a:r>
              <a:rPr lang="ru-RU" sz="4000" dirty="0"/>
              <a:t> (перезаписывается).</a:t>
            </a:r>
          </a:p>
          <a:p>
            <a:pPr marL="0" indent="0">
              <a:buNone/>
            </a:pP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18715753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E71A45-20B3-DCA9-CD9A-C4FEEDE41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2. Размер структуры FILE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6CA5938-B3C9-9112-B133-669B45ADEF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stdio.h</a:t>
            </a:r>
            <a:r>
              <a:rPr lang="ru-RU" dirty="0"/>
              <a:t>&gt;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err="1"/>
              <a:t>int</a:t>
            </a:r>
            <a:r>
              <a:rPr lang="ru-RU" dirty="0"/>
              <a:t> main(</a:t>
            </a:r>
            <a:r>
              <a:rPr lang="ru-RU" dirty="0" err="1"/>
              <a:t>void</a:t>
            </a:r>
            <a:r>
              <a:rPr lang="ru-RU" dirty="0"/>
              <a:t>) {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printf</a:t>
            </a:r>
            <a:r>
              <a:rPr lang="ru-RU" dirty="0"/>
              <a:t>("</a:t>
            </a:r>
            <a:r>
              <a:rPr lang="ru-RU" dirty="0" err="1"/>
              <a:t>sizeof</a:t>
            </a:r>
            <a:r>
              <a:rPr lang="ru-RU" dirty="0"/>
              <a:t>(FILE) = %</a:t>
            </a:r>
            <a:r>
              <a:rPr lang="ru-RU" dirty="0" err="1"/>
              <a:t>zu</a:t>
            </a:r>
            <a:r>
              <a:rPr lang="ru-RU" dirty="0"/>
              <a:t> байт\n", </a:t>
            </a:r>
            <a:r>
              <a:rPr lang="ru-RU" dirty="0" err="1"/>
              <a:t>sizeof</a:t>
            </a:r>
            <a:r>
              <a:rPr lang="ru-RU" dirty="0"/>
              <a:t>(FILE));</a:t>
            </a:r>
          </a:p>
          <a:p>
            <a:pPr marL="0" indent="0">
              <a:buNone/>
            </a:pPr>
            <a:r>
              <a:rPr lang="ru-RU" dirty="0"/>
              <a:t>    return 0;</a:t>
            </a:r>
          </a:p>
          <a:p>
            <a:pPr marL="0" indent="0">
              <a:buNone/>
            </a:pPr>
            <a:r>
              <a:rPr lang="ru-RU" dirty="0"/>
              <a:t>}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b="1" dirty="0"/>
              <a:t>Что показывает:</a:t>
            </a:r>
            <a:r>
              <a:rPr lang="ru-RU" dirty="0"/>
              <a:t> структура FILE занимает </a:t>
            </a:r>
            <a:r>
              <a:rPr lang="ru-RU" b="1" dirty="0"/>
              <a:t>фиксированный объём памяти</a:t>
            </a:r>
            <a:r>
              <a:rPr lang="ru-RU" dirty="0"/>
              <a:t>. На разных системах — разный, но обычно </a:t>
            </a:r>
            <a:r>
              <a:rPr lang="ru-RU" b="1" dirty="0"/>
              <a:t>от 100 до 500 байт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510062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3D8B8E-82E2-C00B-BC27-02F0DD317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3. Позиция в файле через </a:t>
            </a:r>
            <a:r>
              <a:rPr lang="ru-RU" dirty="0" err="1">
                <a:effectLst/>
              </a:rPr>
              <a:t>ftell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4BB4644-EE2A-686D-B0AF-E621B81334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ru-RU" sz="3800" dirty="0"/>
              <a:t>#include &lt;</a:t>
            </a:r>
            <a:r>
              <a:rPr lang="ru-RU" sz="3800" dirty="0" err="1"/>
              <a:t>stdio.h</a:t>
            </a:r>
            <a:r>
              <a:rPr lang="ru-RU" sz="3800" dirty="0"/>
              <a:t>&gt;</a:t>
            </a:r>
          </a:p>
          <a:p>
            <a:pPr marL="0" indent="0">
              <a:buNone/>
            </a:pPr>
            <a:endParaRPr lang="ru-RU" sz="3800" dirty="0"/>
          </a:p>
          <a:p>
            <a:pPr marL="0" indent="0">
              <a:buNone/>
            </a:pPr>
            <a:r>
              <a:rPr lang="ru-RU" sz="3800" dirty="0" err="1"/>
              <a:t>int</a:t>
            </a:r>
            <a:r>
              <a:rPr lang="ru-RU" sz="3800" dirty="0"/>
              <a:t> main(</a:t>
            </a:r>
            <a:r>
              <a:rPr lang="ru-RU" sz="3800" dirty="0" err="1"/>
              <a:t>void</a:t>
            </a:r>
            <a:r>
              <a:rPr lang="ru-RU" sz="3800" dirty="0"/>
              <a:t>) {</a:t>
            </a:r>
          </a:p>
          <a:p>
            <a:pPr marL="0" indent="0">
              <a:buNone/>
            </a:pPr>
            <a:r>
              <a:rPr lang="ru-RU" sz="3800" dirty="0"/>
              <a:t>    FILE *</a:t>
            </a:r>
            <a:r>
              <a:rPr lang="ru-RU" sz="3800" dirty="0" err="1"/>
              <a:t>fp</a:t>
            </a:r>
            <a:r>
              <a:rPr lang="ru-RU" sz="3800" dirty="0"/>
              <a:t> = </a:t>
            </a:r>
            <a:r>
              <a:rPr lang="ru-RU" sz="3800" dirty="0" err="1"/>
              <a:t>fopen</a:t>
            </a:r>
            <a:r>
              <a:rPr lang="ru-RU" sz="3800" dirty="0"/>
              <a:t>("hello.txt", "r");</a:t>
            </a:r>
          </a:p>
          <a:p>
            <a:pPr marL="0" indent="0">
              <a:buNone/>
            </a:pPr>
            <a:r>
              <a:rPr lang="ru-RU" sz="3800" dirty="0"/>
              <a:t>    </a:t>
            </a:r>
            <a:r>
              <a:rPr lang="ru-RU" sz="3800" dirty="0" err="1"/>
              <a:t>if</a:t>
            </a:r>
            <a:r>
              <a:rPr lang="ru-RU" sz="3800" dirty="0"/>
              <a:t> (!</a:t>
            </a:r>
            <a:r>
              <a:rPr lang="ru-RU" sz="3800" dirty="0" err="1"/>
              <a:t>fp</a:t>
            </a:r>
            <a:r>
              <a:rPr lang="ru-RU" sz="3800" dirty="0"/>
              <a:t>) return 1;</a:t>
            </a:r>
          </a:p>
          <a:p>
            <a:pPr marL="0" indent="0">
              <a:buNone/>
            </a:pPr>
            <a:endParaRPr lang="ru-RU" sz="3800" dirty="0"/>
          </a:p>
          <a:p>
            <a:pPr marL="0" indent="0">
              <a:buNone/>
            </a:pPr>
            <a:r>
              <a:rPr lang="ru-RU" sz="3800" dirty="0"/>
              <a:t>    </a:t>
            </a:r>
            <a:r>
              <a:rPr lang="ru-RU" sz="3800" dirty="0" err="1"/>
              <a:t>int</a:t>
            </a:r>
            <a:r>
              <a:rPr lang="ru-RU" sz="3800" dirty="0"/>
              <a:t> c;</a:t>
            </a:r>
          </a:p>
          <a:p>
            <a:pPr marL="0" indent="0">
              <a:buNone/>
            </a:pPr>
            <a:r>
              <a:rPr lang="ru-RU" sz="3800" dirty="0"/>
              <a:t>    </a:t>
            </a:r>
            <a:r>
              <a:rPr lang="ru-RU" sz="3800" dirty="0" err="1"/>
              <a:t>while</a:t>
            </a:r>
            <a:r>
              <a:rPr lang="ru-RU" sz="3800" dirty="0"/>
              <a:t> ((c = </a:t>
            </a:r>
            <a:r>
              <a:rPr lang="ru-RU" sz="3800" dirty="0" err="1"/>
              <a:t>fgetc</a:t>
            </a:r>
            <a:r>
              <a:rPr lang="ru-RU" sz="3800" dirty="0"/>
              <a:t>(</a:t>
            </a:r>
            <a:r>
              <a:rPr lang="ru-RU" sz="3800" dirty="0" err="1"/>
              <a:t>fp</a:t>
            </a:r>
            <a:r>
              <a:rPr lang="ru-RU" sz="3800" dirty="0"/>
              <a:t>)) != EOF) {</a:t>
            </a:r>
          </a:p>
          <a:p>
            <a:pPr marL="0" indent="0">
              <a:buNone/>
            </a:pPr>
            <a:r>
              <a:rPr lang="ru-RU" sz="3800" dirty="0"/>
              <a:t>        </a:t>
            </a:r>
            <a:r>
              <a:rPr lang="ru-RU" sz="3800" dirty="0" err="1"/>
              <a:t>long</a:t>
            </a:r>
            <a:r>
              <a:rPr lang="ru-RU" sz="3800" dirty="0"/>
              <a:t> </a:t>
            </a:r>
            <a:r>
              <a:rPr lang="ru-RU" sz="3800" dirty="0" err="1"/>
              <a:t>pos</a:t>
            </a:r>
            <a:r>
              <a:rPr lang="ru-RU" sz="3800" dirty="0"/>
              <a:t> = </a:t>
            </a:r>
            <a:r>
              <a:rPr lang="ru-RU" sz="3800" dirty="0" err="1"/>
              <a:t>ftell</a:t>
            </a:r>
            <a:r>
              <a:rPr lang="ru-RU" sz="3800" dirty="0"/>
              <a:t>(</a:t>
            </a:r>
            <a:r>
              <a:rPr lang="ru-RU" sz="3800" dirty="0" err="1"/>
              <a:t>fp</a:t>
            </a:r>
            <a:r>
              <a:rPr lang="ru-RU" sz="3800" dirty="0"/>
              <a:t>);</a:t>
            </a:r>
          </a:p>
          <a:p>
            <a:pPr marL="0" indent="0">
              <a:buNone/>
            </a:pPr>
            <a:r>
              <a:rPr lang="ru-RU" sz="3800" dirty="0"/>
              <a:t>        </a:t>
            </a:r>
            <a:r>
              <a:rPr lang="ru-RU" sz="3800" dirty="0" err="1"/>
              <a:t>printf</a:t>
            </a:r>
            <a:r>
              <a:rPr lang="ru-RU" sz="3800" dirty="0"/>
              <a:t>("Символ '%c' на позиции %</a:t>
            </a:r>
            <a:r>
              <a:rPr lang="ru-RU" sz="3800" dirty="0" err="1"/>
              <a:t>ld</a:t>
            </a:r>
            <a:r>
              <a:rPr lang="ru-RU" sz="3800" dirty="0"/>
              <a:t>\n", c, </a:t>
            </a:r>
            <a:r>
              <a:rPr lang="ru-RU" sz="3800" dirty="0" err="1"/>
              <a:t>pos</a:t>
            </a:r>
            <a:r>
              <a:rPr lang="ru-RU" sz="3800" dirty="0"/>
              <a:t>);</a:t>
            </a:r>
          </a:p>
          <a:p>
            <a:pPr marL="0" indent="0">
              <a:buNone/>
            </a:pPr>
            <a:r>
              <a:rPr lang="ru-RU" sz="3800" dirty="0"/>
              <a:t>    }</a:t>
            </a:r>
          </a:p>
          <a:p>
            <a:pPr marL="0" indent="0">
              <a:buNone/>
            </a:pPr>
            <a:endParaRPr lang="ru-RU" sz="3800" dirty="0"/>
          </a:p>
          <a:p>
            <a:pPr marL="0" indent="0">
              <a:buNone/>
            </a:pPr>
            <a:r>
              <a:rPr lang="ru-RU" sz="3800" dirty="0"/>
              <a:t>    </a:t>
            </a:r>
            <a:r>
              <a:rPr lang="ru-RU" sz="3800" dirty="0" err="1"/>
              <a:t>fclose</a:t>
            </a:r>
            <a:r>
              <a:rPr lang="ru-RU" sz="3800" dirty="0"/>
              <a:t>(</a:t>
            </a:r>
            <a:r>
              <a:rPr lang="ru-RU" sz="3800" dirty="0" err="1"/>
              <a:t>fp</a:t>
            </a:r>
            <a:r>
              <a:rPr lang="ru-RU" sz="3800" dirty="0"/>
              <a:t>);</a:t>
            </a:r>
          </a:p>
          <a:p>
            <a:pPr marL="0" indent="0">
              <a:buNone/>
            </a:pPr>
            <a:r>
              <a:rPr lang="ru-RU" sz="3800" dirty="0"/>
              <a:t>    return 0;</a:t>
            </a:r>
          </a:p>
          <a:p>
            <a:pPr marL="0" indent="0">
              <a:buNone/>
            </a:pPr>
            <a:r>
              <a:rPr lang="ru-RU" sz="3800" dirty="0"/>
              <a:t>}</a:t>
            </a:r>
          </a:p>
          <a:p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00FF7E-D880-E84E-9AF0-7338BD971FF3}"/>
              </a:ext>
            </a:extLst>
          </p:cNvPr>
          <p:cNvSpPr txBox="1"/>
          <p:nvPr/>
        </p:nvSpPr>
        <p:spPr>
          <a:xfrm>
            <a:off x="960120" y="5913120"/>
            <a:ext cx="8535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chemeClr val="accent1">
                    <a:lumMod val="50000"/>
                  </a:schemeClr>
                </a:solidFill>
              </a:rPr>
              <a:t>Что показывает: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</a:rPr>
              <a:t> внутри FILE хранится </a:t>
            </a:r>
            <a:r>
              <a:rPr lang="ru-RU" b="1" dirty="0">
                <a:solidFill>
                  <a:schemeClr val="accent1">
                    <a:lumMod val="50000"/>
                  </a:schemeClr>
                </a:solidFill>
              </a:rPr>
              <a:t>текущая позиция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</a:rPr>
              <a:t> в файле. </a:t>
            </a:r>
            <a:r>
              <a:rPr lang="ru-RU" dirty="0" err="1">
                <a:solidFill>
                  <a:schemeClr val="accent1">
                    <a:lumMod val="50000"/>
                  </a:schemeClr>
                </a:solidFill>
              </a:rPr>
              <a:t>ftell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</a:rPr>
              <a:t> её возвращает.</a:t>
            </a:r>
          </a:p>
        </p:txBody>
      </p:sp>
    </p:spTree>
    <p:extLst>
      <p:ext uri="{BB962C8B-B14F-4D97-AF65-F5344CB8AC3E}">
        <p14:creationId xmlns:p14="http://schemas.microsoft.com/office/powerpoint/2010/main" val="24873688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E5AE39-8676-7218-18B5-3E5947E32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4. Флаги состояния: </a:t>
            </a:r>
            <a:r>
              <a:rPr lang="ru-RU" dirty="0" err="1">
                <a:effectLst/>
              </a:rPr>
              <a:t>feof</a:t>
            </a:r>
            <a:r>
              <a:rPr lang="ru-RU" dirty="0">
                <a:effectLst/>
              </a:rPr>
              <a:t> и </a:t>
            </a:r>
            <a:r>
              <a:rPr lang="ru-RU" dirty="0" err="1">
                <a:effectLst/>
              </a:rPr>
              <a:t>ferror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7339E48-8ADA-3476-CB50-0B58F442C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stdio.h</a:t>
            </a:r>
            <a:r>
              <a:rPr lang="ru-RU" dirty="0"/>
              <a:t>&gt;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err="1"/>
              <a:t>int</a:t>
            </a:r>
            <a:r>
              <a:rPr lang="ru-RU" dirty="0"/>
              <a:t> main(</a:t>
            </a:r>
            <a:r>
              <a:rPr lang="ru-RU" dirty="0" err="1"/>
              <a:t>void</a:t>
            </a:r>
            <a:r>
              <a:rPr lang="ru-RU" dirty="0"/>
              <a:t>) {</a:t>
            </a:r>
          </a:p>
          <a:p>
            <a:pPr marL="0" indent="0">
              <a:buNone/>
            </a:pPr>
            <a:r>
              <a:rPr lang="ru-RU" dirty="0"/>
              <a:t>    FILE *</a:t>
            </a:r>
            <a:r>
              <a:rPr lang="ru-RU" dirty="0" err="1"/>
              <a:t>fp</a:t>
            </a:r>
            <a:r>
              <a:rPr lang="ru-RU" dirty="0"/>
              <a:t> = </a:t>
            </a:r>
            <a:r>
              <a:rPr lang="ru-RU" dirty="0" err="1"/>
              <a:t>fopen</a:t>
            </a:r>
            <a:r>
              <a:rPr lang="ru-RU" dirty="0"/>
              <a:t>("hello.txt", "r");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if</a:t>
            </a:r>
            <a:r>
              <a:rPr lang="ru-RU" dirty="0"/>
              <a:t> (!</a:t>
            </a:r>
            <a:r>
              <a:rPr lang="ru-RU" dirty="0" err="1"/>
              <a:t>fp</a:t>
            </a:r>
            <a:r>
              <a:rPr lang="ru-RU" dirty="0"/>
              <a:t>) return 1;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while</a:t>
            </a:r>
            <a:r>
              <a:rPr lang="ru-RU" dirty="0"/>
              <a:t> (</a:t>
            </a:r>
            <a:r>
              <a:rPr lang="ru-RU" dirty="0" err="1"/>
              <a:t>fgetc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) != EOF) { }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if</a:t>
            </a:r>
            <a:r>
              <a:rPr lang="ru-RU" dirty="0"/>
              <a:t> (</a:t>
            </a:r>
            <a:r>
              <a:rPr lang="ru-RU" dirty="0" err="1"/>
              <a:t>feof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))   </a:t>
            </a:r>
            <a:r>
              <a:rPr lang="ru-RU" dirty="0" err="1"/>
              <a:t>printf</a:t>
            </a:r>
            <a:r>
              <a:rPr lang="ru-RU" dirty="0"/>
              <a:t>("Достигнут конец файла\n");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if</a:t>
            </a:r>
            <a:r>
              <a:rPr lang="ru-RU" dirty="0"/>
              <a:t> (</a:t>
            </a:r>
            <a:r>
              <a:rPr lang="ru-RU" dirty="0" err="1"/>
              <a:t>ferror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)) </a:t>
            </a:r>
            <a:r>
              <a:rPr lang="ru-RU" dirty="0" err="1"/>
              <a:t>printf</a:t>
            </a:r>
            <a:r>
              <a:rPr lang="ru-RU" dirty="0"/>
              <a:t>("Произошла ошибка\n");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fclose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dirty="0"/>
              <a:t>    return 0;</a:t>
            </a:r>
          </a:p>
          <a:p>
            <a:pPr marL="0" indent="0">
              <a:buNone/>
            </a:pPr>
            <a:r>
              <a:rPr lang="ru-RU" dirty="0"/>
              <a:t>}</a:t>
            </a:r>
          </a:p>
          <a:p>
            <a:pPr marL="0" indent="0">
              <a:buNone/>
            </a:pPr>
            <a:r>
              <a:rPr lang="ru-RU" b="1" dirty="0"/>
              <a:t>Что показывает:</a:t>
            </a:r>
            <a:r>
              <a:rPr lang="ru-RU" dirty="0"/>
              <a:t> в FILE есть </a:t>
            </a:r>
            <a:r>
              <a:rPr lang="ru-RU" b="1" dirty="0"/>
              <a:t>флаги состояния</a:t>
            </a:r>
            <a:r>
              <a:rPr lang="ru-RU" dirty="0"/>
              <a:t> — EOF и </a:t>
            </a:r>
            <a:r>
              <a:rPr lang="ru-RU" dirty="0" err="1"/>
              <a:t>error</a:t>
            </a:r>
            <a:r>
              <a:rPr lang="ru-RU" dirty="0"/>
              <a:t>. Их проверяют через </a:t>
            </a:r>
            <a:r>
              <a:rPr lang="ru-RU" dirty="0" err="1"/>
              <a:t>feof</a:t>
            </a:r>
            <a:r>
              <a:rPr lang="ru-RU" dirty="0"/>
              <a:t> и </a:t>
            </a:r>
            <a:r>
              <a:rPr lang="ru-RU" dirty="0" err="1"/>
              <a:t>ferror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805697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AECC70-469F-EBA0-C86D-94CD72470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5. Сброс буфера через </a:t>
            </a:r>
            <a:r>
              <a:rPr lang="ru-RU" dirty="0" err="1">
                <a:effectLst/>
              </a:rPr>
              <a:t>fflush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6379843-E1A0-644C-3781-6B14544737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stdio.h</a:t>
            </a:r>
            <a:r>
              <a:rPr lang="ru-RU" dirty="0"/>
              <a:t>&gt;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err="1"/>
              <a:t>int</a:t>
            </a:r>
            <a:r>
              <a:rPr lang="ru-RU" dirty="0"/>
              <a:t> main(</a:t>
            </a:r>
            <a:r>
              <a:rPr lang="ru-RU" dirty="0" err="1"/>
              <a:t>void</a:t>
            </a:r>
            <a:r>
              <a:rPr lang="ru-RU" dirty="0"/>
              <a:t>) {</a:t>
            </a:r>
          </a:p>
          <a:p>
            <a:pPr marL="0" indent="0">
              <a:buNone/>
            </a:pPr>
            <a:r>
              <a:rPr lang="ru-RU" dirty="0"/>
              <a:t>    FILE *</a:t>
            </a:r>
            <a:r>
              <a:rPr lang="ru-RU" dirty="0" err="1"/>
              <a:t>fp</a:t>
            </a:r>
            <a:r>
              <a:rPr lang="ru-RU" dirty="0"/>
              <a:t> = </a:t>
            </a:r>
            <a:r>
              <a:rPr lang="ru-RU" dirty="0" err="1"/>
              <a:t>fopen</a:t>
            </a:r>
            <a:r>
              <a:rPr lang="ru-RU" dirty="0"/>
              <a:t>("out.txt", "w");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if</a:t>
            </a:r>
            <a:r>
              <a:rPr lang="ru-RU" dirty="0"/>
              <a:t> (!</a:t>
            </a:r>
            <a:r>
              <a:rPr lang="ru-RU" dirty="0" err="1"/>
              <a:t>fp</a:t>
            </a:r>
            <a:r>
              <a:rPr lang="ru-RU" dirty="0"/>
              <a:t>) return 1;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fputs</a:t>
            </a:r>
            <a:r>
              <a:rPr lang="ru-RU" dirty="0"/>
              <a:t>("Данные в буфере", </a:t>
            </a:r>
            <a:r>
              <a:rPr lang="ru-RU" dirty="0" err="1"/>
              <a:t>fp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fflush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);   // сброс буфера на диск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printf</a:t>
            </a:r>
            <a:r>
              <a:rPr lang="ru-RU" dirty="0"/>
              <a:t>("Буфер сброшен\n");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fclose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dirty="0"/>
              <a:t>    return 0;</a:t>
            </a:r>
          </a:p>
          <a:p>
            <a:pPr marL="0" indent="0">
              <a:buNone/>
            </a:pPr>
            <a:r>
              <a:rPr lang="ru-RU" dirty="0"/>
              <a:t>}</a:t>
            </a:r>
          </a:p>
          <a:p>
            <a:pPr marL="0" indent="0">
              <a:buNone/>
            </a:pPr>
            <a:r>
              <a:rPr lang="ru-RU" b="1" dirty="0"/>
              <a:t>Что показывает:</a:t>
            </a:r>
            <a:r>
              <a:rPr lang="ru-RU" dirty="0"/>
              <a:t> FILE содержит </a:t>
            </a:r>
            <a:r>
              <a:rPr lang="ru-RU" b="1" dirty="0"/>
              <a:t>буфер</a:t>
            </a:r>
            <a:r>
              <a:rPr lang="ru-RU" dirty="0"/>
              <a:t>. </a:t>
            </a:r>
            <a:r>
              <a:rPr lang="ru-RU" dirty="0" err="1"/>
              <a:t>fflush</a:t>
            </a:r>
            <a:r>
              <a:rPr lang="ru-RU" dirty="0"/>
              <a:t> принудительно записывает его содержимое на диск.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539156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469C76-311C-A4B3-971D-CA5228E25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6. Буферизация: </a:t>
            </a:r>
            <a:r>
              <a:rPr lang="ru-RU" dirty="0" err="1">
                <a:effectLst/>
              </a:rPr>
              <a:t>setvbuf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0070C6A-267B-0B5C-B27F-D7CB4234C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ru-RU" sz="1600" dirty="0"/>
              <a:t>#include &lt;</a:t>
            </a:r>
            <a:r>
              <a:rPr lang="ru-RU" sz="1600" dirty="0" err="1"/>
              <a:t>stdio.h</a:t>
            </a:r>
            <a:r>
              <a:rPr lang="ru-RU" sz="1600" dirty="0"/>
              <a:t>&gt;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 err="1"/>
              <a:t>int</a:t>
            </a:r>
            <a:r>
              <a:rPr lang="ru-RU" sz="1600" dirty="0"/>
              <a:t> main(</a:t>
            </a:r>
            <a:r>
              <a:rPr lang="ru-RU" sz="1600" dirty="0" err="1"/>
              <a:t>void</a:t>
            </a:r>
            <a:r>
              <a:rPr lang="ru-RU" sz="1600" dirty="0"/>
              <a:t>) {</a:t>
            </a:r>
          </a:p>
          <a:p>
            <a:pPr marL="0" indent="0">
              <a:buNone/>
            </a:pPr>
            <a:r>
              <a:rPr lang="ru-RU" sz="1600" dirty="0"/>
              <a:t>    FILE *</a:t>
            </a:r>
            <a:r>
              <a:rPr lang="ru-RU" sz="1600" dirty="0" err="1"/>
              <a:t>fp</a:t>
            </a:r>
            <a:r>
              <a:rPr lang="ru-RU" sz="1600" dirty="0"/>
              <a:t> = </a:t>
            </a:r>
            <a:r>
              <a:rPr lang="ru-RU" sz="1600" dirty="0" err="1"/>
              <a:t>fopen</a:t>
            </a:r>
            <a:r>
              <a:rPr lang="ru-RU" sz="1600" dirty="0"/>
              <a:t>("out.txt", "w");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if</a:t>
            </a:r>
            <a:r>
              <a:rPr lang="ru-RU" sz="1600" dirty="0"/>
              <a:t> (!</a:t>
            </a:r>
            <a:r>
              <a:rPr lang="ru-RU" sz="1600" dirty="0" err="1"/>
              <a:t>fp</a:t>
            </a:r>
            <a:r>
              <a:rPr lang="ru-RU" sz="1600" dirty="0"/>
              <a:t>) return 1;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char</a:t>
            </a:r>
            <a:r>
              <a:rPr lang="ru-RU" sz="1600" dirty="0"/>
              <a:t> </a:t>
            </a:r>
            <a:r>
              <a:rPr lang="ru-RU" sz="1600" dirty="0" err="1"/>
              <a:t>buf</a:t>
            </a:r>
            <a:r>
              <a:rPr lang="ru-RU" sz="1600" dirty="0"/>
              <a:t>[1024];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setvbuf</a:t>
            </a:r>
            <a:r>
              <a:rPr lang="ru-RU" sz="1600" dirty="0"/>
              <a:t>(</a:t>
            </a:r>
            <a:r>
              <a:rPr lang="ru-RU" sz="1600" dirty="0" err="1"/>
              <a:t>fp</a:t>
            </a:r>
            <a:r>
              <a:rPr lang="ru-RU" sz="1600" dirty="0"/>
              <a:t>, </a:t>
            </a:r>
            <a:r>
              <a:rPr lang="ru-RU" sz="1600" dirty="0" err="1"/>
              <a:t>buf</a:t>
            </a:r>
            <a:r>
              <a:rPr lang="ru-RU" sz="1600" dirty="0"/>
              <a:t>, _IOFBF, </a:t>
            </a:r>
            <a:r>
              <a:rPr lang="ru-RU" sz="1600" dirty="0" err="1"/>
              <a:t>sizeof</a:t>
            </a:r>
            <a:r>
              <a:rPr lang="ru-RU" sz="1600" dirty="0"/>
              <a:t>(</a:t>
            </a:r>
            <a:r>
              <a:rPr lang="ru-RU" sz="1600" dirty="0" err="1"/>
              <a:t>buf</a:t>
            </a:r>
            <a:r>
              <a:rPr lang="ru-RU" sz="1600" dirty="0"/>
              <a:t>));   // полная буферизация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fputs</a:t>
            </a:r>
            <a:r>
              <a:rPr lang="ru-RU" sz="1600" dirty="0"/>
              <a:t>("Данные", </a:t>
            </a:r>
            <a:r>
              <a:rPr lang="ru-RU" sz="1600" dirty="0" err="1"/>
              <a:t>fp</a:t>
            </a:r>
            <a:r>
              <a:rPr lang="ru-RU" sz="1600" dirty="0"/>
              <a:t>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fclose</a:t>
            </a:r>
            <a:r>
              <a:rPr lang="ru-RU" sz="1600" dirty="0"/>
              <a:t>(</a:t>
            </a:r>
            <a:r>
              <a:rPr lang="ru-RU" sz="1600" dirty="0" err="1"/>
              <a:t>fp</a:t>
            </a:r>
            <a:r>
              <a:rPr lang="ru-RU" sz="1600" dirty="0"/>
              <a:t>);</a:t>
            </a:r>
          </a:p>
          <a:p>
            <a:pPr marL="0" indent="0">
              <a:buNone/>
            </a:pPr>
            <a:r>
              <a:rPr lang="ru-RU" sz="1600" dirty="0"/>
              <a:t>    return 0;</a:t>
            </a:r>
          </a:p>
          <a:p>
            <a:pPr marL="0" indent="0">
              <a:buNone/>
            </a:pPr>
            <a:r>
              <a:rPr lang="ru-RU" sz="1600" dirty="0"/>
              <a:t>}</a:t>
            </a:r>
          </a:p>
          <a:p>
            <a:pPr marL="0" indent="0">
              <a:buNone/>
            </a:pPr>
            <a:r>
              <a:rPr lang="ru-RU" sz="1600" b="1" dirty="0"/>
              <a:t>Что показывает:</a:t>
            </a:r>
            <a:r>
              <a:rPr lang="ru-RU" sz="1600" dirty="0"/>
              <a:t> можно </a:t>
            </a:r>
            <a:r>
              <a:rPr lang="ru-RU" sz="1600" b="1" dirty="0"/>
              <a:t>управлять буфером</a:t>
            </a:r>
            <a:r>
              <a:rPr lang="ru-RU" sz="1600" dirty="0"/>
              <a:t> FILE через </a:t>
            </a:r>
            <a:r>
              <a:rPr lang="ru-RU" sz="1600" dirty="0" err="1"/>
              <a:t>setvbuf</a:t>
            </a:r>
            <a:r>
              <a:rPr lang="ru-RU" sz="1600" dirty="0"/>
              <a:t>. Режимы:</a:t>
            </a:r>
          </a:p>
          <a:p>
            <a:pPr marL="0" lvl="0" indent="0">
              <a:buNone/>
            </a:pPr>
            <a:r>
              <a:rPr lang="ru-RU" sz="1600" dirty="0"/>
              <a:t>_IOFBF — полная буферизация.</a:t>
            </a:r>
          </a:p>
          <a:p>
            <a:pPr marL="0" lvl="0" indent="0">
              <a:buNone/>
            </a:pPr>
            <a:r>
              <a:rPr lang="ru-RU" sz="1600" dirty="0"/>
              <a:t>_IOLBF — построчная.</a:t>
            </a:r>
          </a:p>
          <a:p>
            <a:pPr marL="0" lvl="0" indent="0">
              <a:buNone/>
            </a:pPr>
            <a:r>
              <a:rPr lang="ru-RU" sz="1600" dirty="0"/>
              <a:t>_IONBF — без буферизации.</a:t>
            </a:r>
          </a:p>
          <a:p>
            <a:pPr marL="0" indent="0">
              <a:buNone/>
            </a:pP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0221747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F4138F-8163-8541-F1DB-0212F4397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7. Временный файл через </a:t>
            </a:r>
            <a:r>
              <a:rPr lang="ru-RU" dirty="0" err="1">
                <a:effectLst/>
              </a:rPr>
              <a:t>tmpfile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F738760-58AE-64A0-DB0B-5248B47FC9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ru-RU" sz="1600" dirty="0"/>
              <a:t>#include &lt;</a:t>
            </a:r>
            <a:r>
              <a:rPr lang="ru-RU" sz="1600" dirty="0" err="1"/>
              <a:t>stdio.h</a:t>
            </a:r>
            <a:r>
              <a:rPr lang="ru-RU" sz="1600" dirty="0"/>
              <a:t>&gt;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 err="1"/>
              <a:t>int</a:t>
            </a:r>
            <a:r>
              <a:rPr lang="ru-RU" sz="1600" dirty="0"/>
              <a:t> main(</a:t>
            </a:r>
            <a:r>
              <a:rPr lang="ru-RU" sz="1600" dirty="0" err="1"/>
              <a:t>void</a:t>
            </a:r>
            <a:r>
              <a:rPr lang="ru-RU" sz="1600" dirty="0"/>
              <a:t>) {</a:t>
            </a:r>
          </a:p>
          <a:p>
            <a:pPr marL="0" indent="0">
              <a:buNone/>
            </a:pPr>
            <a:r>
              <a:rPr lang="ru-RU" sz="1600" dirty="0"/>
              <a:t>    FILE *</a:t>
            </a:r>
            <a:r>
              <a:rPr lang="ru-RU" sz="1600" dirty="0" err="1"/>
              <a:t>fp</a:t>
            </a:r>
            <a:r>
              <a:rPr lang="ru-RU" sz="1600" dirty="0"/>
              <a:t> = </a:t>
            </a:r>
            <a:r>
              <a:rPr lang="ru-RU" sz="1600" dirty="0" err="1"/>
              <a:t>tmpfile</a:t>
            </a:r>
            <a:r>
              <a:rPr lang="ru-RU" sz="1600" dirty="0"/>
              <a:t>();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if</a:t>
            </a:r>
            <a:r>
              <a:rPr lang="ru-RU" sz="1600" dirty="0"/>
              <a:t> (!</a:t>
            </a:r>
            <a:r>
              <a:rPr lang="ru-RU" sz="1600" dirty="0" err="1"/>
              <a:t>fp</a:t>
            </a:r>
            <a:r>
              <a:rPr lang="ru-RU" sz="1600" dirty="0"/>
              <a:t>) return 1;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fputs</a:t>
            </a:r>
            <a:r>
              <a:rPr lang="ru-RU" sz="1600" dirty="0"/>
              <a:t>("Временные данные", </a:t>
            </a:r>
            <a:r>
              <a:rPr lang="ru-RU" sz="1600" dirty="0" err="1"/>
              <a:t>fp</a:t>
            </a:r>
            <a:r>
              <a:rPr lang="ru-RU" sz="1600" dirty="0"/>
              <a:t>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rewind</a:t>
            </a:r>
            <a:r>
              <a:rPr lang="ru-RU" sz="1600" dirty="0"/>
              <a:t>(</a:t>
            </a:r>
            <a:r>
              <a:rPr lang="ru-RU" sz="1600" dirty="0" err="1"/>
              <a:t>fp</a:t>
            </a:r>
            <a:r>
              <a:rPr lang="ru-RU" sz="1600" dirty="0"/>
              <a:t>);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char</a:t>
            </a:r>
            <a:r>
              <a:rPr lang="ru-RU" sz="1600" dirty="0"/>
              <a:t> </a:t>
            </a:r>
            <a:r>
              <a:rPr lang="ru-RU" sz="1600" dirty="0" err="1"/>
              <a:t>buf</a:t>
            </a:r>
            <a:r>
              <a:rPr lang="ru-RU" sz="1600" dirty="0"/>
              <a:t>[100];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fgets</a:t>
            </a:r>
            <a:r>
              <a:rPr lang="ru-RU" sz="1600" dirty="0"/>
              <a:t>(</a:t>
            </a:r>
            <a:r>
              <a:rPr lang="ru-RU" sz="1600" dirty="0" err="1"/>
              <a:t>buf</a:t>
            </a:r>
            <a:r>
              <a:rPr lang="ru-RU" sz="1600" dirty="0"/>
              <a:t>, </a:t>
            </a:r>
            <a:r>
              <a:rPr lang="ru-RU" sz="1600" dirty="0" err="1"/>
              <a:t>sizeof</a:t>
            </a:r>
            <a:r>
              <a:rPr lang="ru-RU" sz="1600" dirty="0"/>
              <a:t>(</a:t>
            </a:r>
            <a:r>
              <a:rPr lang="ru-RU" sz="1600" dirty="0" err="1"/>
              <a:t>buf</a:t>
            </a:r>
            <a:r>
              <a:rPr lang="ru-RU" sz="1600" dirty="0"/>
              <a:t>), </a:t>
            </a:r>
            <a:r>
              <a:rPr lang="ru-RU" sz="1600" dirty="0" err="1"/>
              <a:t>fp</a:t>
            </a:r>
            <a:r>
              <a:rPr lang="ru-RU" sz="1600" dirty="0"/>
              <a:t>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printf</a:t>
            </a:r>
            <a:r>
              <a:rPr lang="ru-RU" sz="1600" dirty="0"/>
              <a:t>("Прочитано: %s\n", </a:t>
            </a:r>
            <a:r>
              <a:rPr lang="ru-RU" sz="1600" dirty="0" err="1"/>
              <a:t>buf</a:t>
            </a:r>
            <a:r>
              <a:rPr lang="ru-RU" sz="1600" dirty="0"/>
              <a:t>);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fclose</a:t>
            </a:r>
            <a:r>
              <a:rPr lang="ru-RU" sz="1600" dirty="0"/>
              <a:t>(</a:t>
            </a:r>
            <a:r>
              <a:rPr lang="ru-RU" sz="1600" dirty="0" err="1"/>
              <a:t>fp</a:t>
            </a:r>
            <a:r>
              <a:rPr lang="ru-RU" sz="1600" dirty="0"/>
              <a:t>);   // файл автоматически удаляется</a:t>
            </a:r>
          </a:p>
          <a:p>
            <a:pPr marL="0" indent="0">
              <a:buNone/>
            </a:pPr>
            <a:r>
              <a:rPr lang="ru-RU" sz="1600" dirty="0"/>
              <a:t>    return 0;</a:t>
            </a:r>
          </a:p>
          <a:p>
            <a:pPr marL="0" indent="0">
              <a:buNone/>
            </a:pPr>
            <a:r>
              <a:rPr lang="ru-RU" sz="1600" dirty="0"/>
              <a:t>}</a:t>
            </a:r>
          </a:p>
          <a:p>
            <a:pPr marL="0" indent="0">
              <a:buNone/>
            </a:pPr>
            <a:r>
              <a:rPr lang="ru-RU" sz="1600" b="1" dirty="0"/>
              <a:t>Что показывает:</a:t>
            </a:r>
            <a:r>
              <a:rPr lang="ru-RU" sz="1600" dirty="0"/>
              <a:t> </a:t>
            </a:r>
            <a:r>
              <a:rPr lang="ru-RU" sz="1600" dirty="0" err="1"/>
              <a:t>tmpfile</a:t>
            </a:r>
            <a:r>
              <a:rPr lang="ru-RU" sz="1600" dirty="0"/>
              <a:t> создаёт </a:t>
            </a:r>
            <a:r>
              <a:rPr lang="ru-RU" sz="1600" b="1" dirty="0"/>
              <a:t>временный файл</a:t>
            </a:r>
            <a:r>
              <a:rPr lang="ru-RU" sz="1600" dirty="0"/>
              <a:t>, который автоматически удаляется при закрытии. Структура FILE хранит его дескриптор.</a:t>
            </a:r>
          </a:p>
          <a:p>
            <a:pPr marL="0" indent="0">
              <a:buNone/>
            </a:pP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1905029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F0692AD-75E3-E00A-1847-F6371B66197D}"/>
              </a:ext>
            </a:extLst>
          </p:cNvPr>
          <p:cNvSpPr txBox="1"/>
          <p:nvPr/>
        </p:nvSpPr>
        <p:spPr>
          <a:xfrm>
            <a:off x="487680" y="1234440"/>
            <a:ext cx="865632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ru-RU" sz="6600" b="1" i="0" dirty="0">
                <a:solidFill>
                  <a:schemeClr val="tx2">
                    <a:lumMod val="75000"/>
                  </a:schemeClr>
                </a:solidFill>
                <a:effectLst/>
                <a:latin typeface="+mn-lt"/>
              </a:rPr>
              <a:t>Часть 2. Файловый дескриптор (примеры 8–12)</a:t>
            </a:r>
            <a:endParaRPr lang="ru-RU" sz="6600" b="1" i="0" dirty="0">
              <a:solidFill>
                <a:schemeClr val="tx2">
                  <a:lumMod val="75000"/>
                </a:schemeClr>
              </a:solidFill>
              <a:effectLst/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6005421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B34F38-1F54-8D38-D677-D880FE31A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effectLst/>
              </a:rPr>
              <a:t>Пример 8. Получение дескриптора из FILE через </a:t>
            </a:r>
            <a:r>
              <a:rPr lang="ru-RU" dirty="0" err="1">
                <a:effectLst/>
              </a:rPr>
              <a:t>fileno</a:t>
            </a:r>
            <a:br>
              <a:rPr lang="ru-RU" dirty="0">
                <a:effectLst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9B2E198-8F8A-2D86-6DFF-9256509021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ru-RU" sz="2000" dirty="0"/>
              <a:t>#include &lt;</a:t>
            </a:r>
            <a:r>
              <a:rPr lang="ru-RU" sz="2000" dirty="0" err="1"/>
              <a:t>stdio.h</a:t>
            </a:r>
            <a:r>
              <a:rPr lang="ru-RU" sz="2000" dirty="0"/>
              <a:t>&gt;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r>
              <a:rPr lang="ru-RU" sz="2000" dirty="0" err="1"/>
              <a:t>int</a:t>
            </a:r>
            <a:r>
              <a:rPr lang="ru-RU" sz="2000" dirty="0"/>
              <a:t> main(</a:t>
            </a:r>
            <a:r>
              <a:rPr lang="ru-RU" sz="2000" dirty="0" err="1"/>
              <a:t>void</a:t>
            </a:r>
            <a:r>
              <a:rPr lang="ru-RU" sz="2000" dirty="0"/>
              <a:t>) {</a:t>
            </a:r>
          </a:p>
          <a:p>
            <a:pPr marL="0" indent="0">
              <a:buNone/>
            </a:pPr>
            <a:r>
              <a:rPr lang="ru-RU" sz="2000" dirty="0"/>
              <a:t>    FILE *</a:t>
            </a:r>
            <a:r>
              <a:rPr lang="ru-RU" sz="2000" dirty="0" err="1"/>
              <a:t>fp</a:t>
            </a:r>
            <a:r>
              <a:rPr lang="ru-RU" sz="2000" dirty="0"/>
              <a:t> = </a:t>
            </a:r>
            <a:r>
              <a:rPr lang="ru-RU" sz="2000" dirty="0" err="1"/>
              <a:t>fopen</a:t>
            </a:r>
            <a:r>
              <a:rPr lang="ru-RU" sz="2000" dirty="0"/>
              <a:t>("hello.txt", "r");</a:t>
            </a:r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if</a:t>
            </a:r>
            <a:r>
              <a:rPr lang="ru-RU" sz="2000" dirty="0"/>
              <a:t> (!</a:t>
            </a:r>
            <a:r>
              <a:rPr lang="ru-RU" sz="2000" dirty="0" err="1"/>
              <a:t>fp</a:t>
            </a:r>
            <a:r>
              <a:rPr lang="ru-RU" sz="2000" dirty="0"/>
              <a:t>) return 1;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int</a:t>
            </a:r>
            <a:r>
              <a:rPr lang="ru-RU" sz="2000" dirty="0"/>
              <a:t> </a:t>
            </a:r>
            <a:r>
              <a:rPr lang="ru-RU" sz="2000" dirty="0" err="1"/>
              <a:t>fd</a:t>
            </a:r>
            <a:r>
              <a:rPr lang="ru-RU" sz="2000" dirty="0"/>
              <a:t> = </a:t>
            </a:r>
            <a:r>
              <a:rPr lang="ru-RU" sz="2000" dirty="0" err="1"/>
              <a:t>fileno</a:t>
            </a:r>
            <a:r>
              <a:rPr lang="ru-RU" sz="2000" dirty="0"/>
              <a:t>(</a:t>
            </a:r>
            <a:r>
              <a:rPr lang="ru-RU" sz="2000" dirty="0" err="1"/>
              <a:t>fp</a:t>
            </a:r>
            <a:r>
              <a:rPr lang="ru-RU" sz="2000" dirty="0"/>
              <a:t>);</a:t>
            </a:r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printf</a:t>
            </a:r>
            <a:r>
              <a:rPr lang="ru-RU" sz="2000" dirty="0"/>
              <a:t>("Файловый дескриптор: %d\n", </a:t>
            </a:r>
            <a:r>
              <a:rPr lang="ru-RU" sz="2000" dirty="0" err="1"/>
              <a:t>fd</a:t>
            </a:r>
            <a:r>
              <a:rPr lang="ru-RU" sz="2000" dirty="0"/>
              <a:t>);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fclose</a:t>
            </a:r>
            <a:r>
              <a:rPr lang="ru-RU" sz="2000" dirty="0"/>
              <a:t>(</a:t>
            </a:r>
            <a:r>
              <a:rPr lang="ru-RU" sz="2000" dirty="0" err="1"/>
              <a:t>fp</a:t>
            </a:r>
            <a:r>
              <a:rPr lang="ru-RU" sz="2000" dirty="0"/>
              <a:t>);</a:t>
            </a:r>
          </a:p>
          <a:p>
            <a:pPr marL="0" indent="0">
              <a:buNone/>
            </a:pPr>
            <a:r>
              <a:rPr lang="ru-RU" sz="2000" dirty="0"/>
              <a:t>    return 0;</a:t>
            </a:r>
          </a:p>
          <a:p>
            <a:pPr marL="0" indent="0">
              <a:buNone/>
            </a:pPr>
            <a:r>
              <a:rPr lang="ru-RU" sz="2000" dirty="0"/>
              <a:t>}</a:t>
            </a:r>
          </a:p>
          <a:p>
            <a:pPr marL="0" indent="0">
              <a:buNone/>
            </a:pPr>
            <a:r>
              <a:rPr lang="ru-RU" sz="2000" b="1" dirty="0"/>
              <a:t>Что показывает:</a:t>
            </a:r>
            <a:r>
              <a:rPr lang="ru-RU" sz="2000" dirty="0"/>
              <a:t> внутри FILE хранится </a:t>
            </a:r>
            <a:r>
              <a:rPr lang="ru-RU" sz="2000" b="1" dirty="0"/>
              <a:t>файловый дескриптор</a:t>
            </a:r>
            <a:r>
              <a:rPr lang="ru-RU" sz="2000" dirty="0"/>
              <a:t> (</a:t>
            </a:r>
            <a:r>
              <a:rPr lang="ru-RU" sz="2000" dirty="0" err="1"/>
              <a:t>int</a:t>
            </a:r>
            <a:r>
              <a:rPr lang="ru-RU" sz="2000" dirty="0"/>
              <a:t>). </a:t>
            </a:r>
            <a:r>
              <a:rPr lang="ru-RU" sz="2000" dirty="0" err="1"/>
              <a:t>fileno</a:t>
            </a:r>
            <a:r>
              <a:rPr lang="ru-RU" sz="2000" dirty="0"/>
              <a:t> его возвращает.</a:t>
            </a:r>
          </a:p>
          <a:p>
            <a:pPr marL="0" indent="0">
              <a:buNone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0438821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3DE06A-BA5B-BB40-8668-BBC383AF7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9. Стандартные дескрипторы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9F8FE2-0851-F9C7-EA24-7A607E8B9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stdio.h</a:t>
            </a:r>
            <a:r>
              <a:rPr lang="ru-RU" dirty="0"/>
              <a:t>&gt;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err="1"/>
              <a:t>int</a:t>
            </a:r>
            <a:r>
              <a:rPr lang="ru-RU" dirty="0"/>
              <a:t> main(</a:t>
            </a:r>
            <a:r>
              <a:rPr lang="ru-RU" dirty="0" err="1"/>
              <a:t>void</a:t>
            </a:r>
            <a:r>
              <a:rPr lang="ru-RU" dirty="0"/>
              <a:t>) {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printf</a:t>
            </a:r>
            <a:r>
              <a:rPr lang="ru-RU" dirty="0"/>
              <a:t>("</a:t>
            </a:r>
            <a:r>
              <a:rPr lang="ru-RU" dirty="0" err="1"/>
              <a:t>stdin</a:t>
            </a:r>
            <a:r>
              <a:rPr lang="ru-RU" dirty="0"/>
              <a:t>:  </a:t>
            </a:r>
            <a:r>
              <a:rPr lang="ru-RU" dirty="0" err="1"/>
              <a:t>fd</a:t>
            </a:r>
            <a:r>
              <a:rPr lang="ru-RU" dirty="0"/>
              <a:t> = %d\n", </a:t>
            </a:r>
            <a:r>
              <a:rPr lang="ru-RU" dirty="0" err="1"/>
              <a:t>fileno</a:t>
            </a:r>
            <a:r>
              <a:rPr lang="ru-RU" dirty="0"/>
              <a:t>(</a:t>
            </a:r>
            <a:r>
              <a:rPr lang="ru-RU" dirty="0" err="1"/>
              <a:t>stdin</a:t>
            </a:r>
            <a:r>
              <a:rPr lang="ru-RU" dirty="0"/>
              <a:t>));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printf</a:t>
            </a:r>
            <a:r>
              <a:rPr lang="ru-RU" dirty="0"/>
              <a:t>("</a:t>
            </a:r>
            <a:r>
              <a:rPr lang="ru-RU" dirty="0" err="1"/>
              <a:t>stdout</a:t>
            </a:r>
            <a:r>
              <a:rPr lang="ru-RU" dirty="0"/>
              <a:t>: </a:t>
            </a:r>
            <a:r>
              <a:rPr lang="ru-RU" dirty="0" err="1"/>
              <a:t>fd</a:t>
            </a:r>
            <a:r>
              <a:rPr lang="ru-RU" dirty="0"/>
              <a:t> = %d\n", </a:t>
            </a:r>
            <a:r>
              <a:rPr lang="ru-RU" dirty="0" err="1"/>
              <a:t>fileno</a:t>
            </a:r>
            <a:r>
              <a:rPr lang="ru-RU" dirty="0"/>
              <a:t>(</a:t>
            </a:r>
            <a:r>
              <a:rPr lang="ru-RU" dirty="0" err="1"/>
              <a:t>stdout</a:t>
            </a:r>
            <a:r>
              <a:rPr lang="ru-RU" dirty="0"/>
              <a:t>));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printf</a:t>
            </a:r>
            <a:r>
              <a:rPr lang="ru-RU" dirty="0"/>
              <a:t>("</a:t>
            </a:r>
            <a:r>
              <a:rPr lang="ru-RU" dirty="0" err="1"/>
              <a:t>stderr</a:t>
            </a:r>
            <a:r>
              <a:rPr lang="ru-RU" dirty="0"/>
              <a:t>: </a:t>
            </a:r>
            <a:r>
              <a:rPr lang="ru-RU" dirty="0" err="1"/>
              <a:t>fd</a:t>
            </a:r>
            <a:r>
              <a:rPr lang="ru-RU" dirty="0"/>
              <a:t> = %d\n", </a:t>
            </a:r>
            <a:r>
              <a:rPr lang="ru-RU" dirty="0" err="1"/>
              <a:t>fileno</a:t>
            </a:r>
            <a:r>
              <a:rPr lang="ru-RU" dirty="0"/>
              <a:t>(</a:t>
            </a:r>
            <a:r>
              <a:rPr lang="ru-RU" dirty="0" err="1"/>
              <a:t>stderr</a:t>
            </a:r>
            <a:r>
              <a:rPr lang="ru-RU" dirty="0"/>
              <a:t>));</a:t>
            </a:r>
          </a:p>
          <a:p>
            <a:pPr marL="0" indent="0">
              <a:buNone/>
            </a:pPr>
            <a:r>
              <a:rPr lang="ru-RU" dirty="0"/>
              <a:t>    return 0;</a:t>
            </a:r>
          </a:p>
          <a:p>
            <a:pPr marL="0" indent="0">
              <a:buNone/>
            </a:pPr>
            <a:r>
              <a:rPr lang="ru-RU" dirty="0"/>
              <a:t>}</a:t>
            </a:r>
          </a:p>
          <a:p>
            <a:pPr marL="0" indent="0">
              <a:buNone/>
            </a:pPr>
            <a:r>
              <a:rPr lang="ru-RU" b="1" dirty="0"/>
              <a:t>Что показывает:</a:t>
            </a:r>
            <a:r>
              <a:rPr lang="ru-RU" dirty="0"/>
              <a:t> по умолчанию открыты </a:t>
            </a:r>
            <a:r>
              <a:rPr lang="ru-RU" b="1" dirty="0"/>
              <a:t>три дескриптора</a:t>
            </a:r>
            <a:r>
              <a:rPr lang="ru-RU" dirty="0"/>
              <a:t>:</a:t>
            </a:r>
          </a:p>
          <a:p>
            <a:pPr marL="0" lvl="0" indent="0">
              <a:buNone/>
            </a:pPr>
            <a:r>
              <a:rPr lang="ru-RU" dirty="0"/>
              <a:t>0 — </a:t>
            </a:r>
            <a:r>
              <a:rPr lang="ru-RU" dirty="0" err="1"/>
              <a:t>stdin</a:t>
            </a:r>
            <a:r>
              <a:rPr lang="ru-RU" dirty="0"/>
              <a:t>,</a:t>
            </a:r>
          </a:p>
          <a:p>
            <a:pPr marL="0" lvl="0" indent="0">
              <a:buNone/>
            </a:pPr>
            <a:r>
              <a:rPr lang="ru-RU" dirty="0"/>
              <a:t>1 — </a:t>
            </a:r>
            <a:r>
              <a:rPr lang="ru-RU" dirty="0" err="1"/>
              <a:t>stdout</a:t>
            </a:r>
            <a:r>
              <a:rPr lang="ru-RU" dirty="0"/>
              <a:t>,</a:t>
            </a:r>
          </a:p>
          <a:p>
            <a:pPr marL="0" lvl="0" indent="0">
              <a:buNone/>
            </a:pPr>
            <a:r>
              <a:rPr lang="ru-RU" dirty="0"/>
              <a:t>2 — </a:t>
            </a:r>
            <a:r>
              <a:rPr lang="ru-RU" dirty="0" err="1"/>
              <a:t>stderr</a:t>
            </a:r>
            <a:r>
              <a:rPr lang="ru-RU" dirty="0"/>
              <a:t>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485942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5BE57E-72A9-AEE8-B26F-E90D492A7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effectLst/>
              </a:rPr>
              <a:t>Пример 10. Дескриптор через </a:t>
            </a:r>
            <a:r>
              <a:rPr lang="ru-RU" dirty="0" err="1">
                <a:effectLst/>
              </a:rPr>
              <a:t>open</a:t>
            </a:r>
            <a:r>
              <a:rPr lang="ru-RU" dirty="0">
                <a:effectLst/>
              </a:rPr>
              <a:t> (системный вызов)</a:t>
            </a:r>
            <a:br>
              <a:rPr lang="ru-RU" dirty="0">
                <a:effectLst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DFC62AC-699E-2646-22CD-F73ECA18D2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fcntl.h</a:t>
            </a:r>
            <a:r>
              <a:rPr lang="ru-RU" dirty="0"/>
              <a:t>&gt;</a:t>
            </a:r>
          </a:p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unistd.h</a:t>
            </a:r>
            <a:r>
              <a:rPr lang="ru-RU" dirty="0"/>
              <a:t>&gt;</a:t>
            </a:r>
          </a:p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stdio.h</a:t>
            </a:r>
            <a:r>
              <a:rPr lang="ru-RU" dirty="0"/>
              <a:t>&gt;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err="1"/>
              <a:t>int</a:t>
            </a:r>
            <a:r>
              <a:rPr lang="ru-RU" dirty="0"/>
              <a:t> main(</a:t>
            </a:r>
            <a:r>
              <a:rPr lang="ru-RU" dirty="0" err="1"/>
              <a:t>void</a:t>
            </a:r>
            <a:r>
              <a:rPr lang="ru-RU" dirty="0"/>
              <a:t>) {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int</a:t>
            </a:r>
            <a:r>
              <a:rPr lang="ru-RU" dirty="0"/>
              <a:t> </a:t>
            </a:r>
            <a:r>
              <a:rPr lang="ru-RU" dirty="0" err="1"/>
              <a:t>fd</a:t>
            </a:r>
            <a:r>
              <a:rPr lang="ru-RU" dirty="0"/>
              <a:t> = </a:t>
            </a:r>
            <a:r>
              <a:rPr lang="ru-RU" dirty="0" err="1"/>
              <a:t>open</a:t>
            </a:r>
            <a:r>
              <a:rPr lang="ru-RU" dirty="0"/>
              <a:t>("hello.txt", O_RDONLY);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if</a:t>
            </a:r>
            <a:r>
              <a:rPr lang="ru-RU" dirty="0"/>
              <a:t> (</a:t>
            </a:r>
            <a:r>
              <a:rPr lang="ru-RU" dirty="0" err="1"/>
              <a:t>fd</a:t>
            </a:r>
            <a:r>
              <a:rPr lang="ru-RU" dirty="0"/>
              <a:t> == -1) {</a:t>
            </a:r>
          </a:p>
          <a:p>
            <a:pPr marL="0" indent="0">
              <a:buNone/>
            </a:pPr>
            <a:r>
              <a:rPr lang="ru-RU" dirty="0"/>
              <a:t>        </a:t>
            </a:r>
            <a:r>
              <a:rPr lang="ru-RU" dirty="0" err="1"/>
              <a:t>perror</a:t>
            </a:r>
            <a:r>
              <a:rPr lang="ru-RU" dirty="0"/>
              <a:t>("</a:t>
            </a:r>
            <a:r>
              <a:rPr lang="ru-RU" dirty="0" err="1"/>
              <a:t>open</a:t>
            </a:r>
            <a:r>
              <a:rPr lang="ru-RU" dirty="0"/>
              <a:t>");</a:t>
            </a:r>
          </a:p>
          <a:p>
            <a:pPr marL="0" indent="0">
              <a:buNone/>
            </a:pPr>
            <a:r>
              <a:rPr lang="ru-RU" dirty="0"/>
              <a:t>        return 1;</a:t>
            </a:r>
          </a:p>
          <a:p>
            <a:pPr marL="0" indent="0">
              <a:buNone/>
            </a:pPr>
            <a:r>
              <a:rPr lang="ru-RU" dirty="0"/>
              <a:t>    }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printf</a:t>
            </a:r>
            <a:r>
              <a:rPr lang="ru-RU" dirty="0"/>
              <a:t>("Дескриптор: %d\n", </a:t>
            </a:r>
            <a:r>
              <a:rPr lang="ru-RU" dirty="0" err="1"/>
              <a:t>fd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close</a:t>
            </a:r>
            <a:r>
              <a:rPr lang="ru-RU" dirty="0"/>
              <a:t>(</a:t>
            </a:r>
            <a:r>
              <a:rPr lang="ru-RU" dirty="0" err="1"/>
              <a:t>fd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dirty="0"/>
              <a:t>    return 0;</a:t>
            </a:r>
          </a:p>
          <a:p>
            <a:pPr marL="0" indent="0">
              <a:buNone/>
            </a:pPr>
            <a:r>
              <a:rPr lang="ru-RU" dirty="0"/>
              <a:t>}</a:t>
            </a:r>
          </a:p>
          <a:p>
            <a:pPr marL="0" indent="0">
              <a:buNone/>
            </a:pPr>
            <a:r>
              <a:rPr lang="ru-RU" b="1" dirty="0"/>
              <a:t>Что показывает:</a:t>
            </a:r>
            <a:r>
              <a:rPr lang="ru-RU" dirty="0"/>
              <a:t> системный вызов </a:t>
            </a:r>
            <a:r>
              <a:rPr lang="ru-RU" dirty="0" err="1"/>
              <a:t>open</a:t>
            </a:r>
            <a:r>
              <a:rPr lang="ru-RU" dirty="0"/>
              <a:t> возвращает </a:t>
            </a:r>
            <a:r>
              <a:rPr lang="ru-RU" b="1" dirty="0"/>
              <a:t>дескриптор</a:t>
            </a:r>
            <a:r>
              <a:rPr lang="ru-RU" dirty="0"/>
              <a:t> — целое число, индекс в таблице открытых файлов процесса.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391853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7A8A18D-9570-5615-45B2-AA4D57E2B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effectLst/>
              </a:rPr>
              <a:t>Пример 11. Обёртка FILE вокруг дескриптора через </a:t>
            </a:r>
            <a:r>
              <a:rPr lang="ru-RU" dirty="0" err="1">
                <a:effectLst/>
              </a:rPr>
              <a:t>fdopen</a:t>
            </a:r>
            <a:br>
              <a:rPr lang="ru-RU" dirty="0">
                <a:effectLst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FF8A390-B412-46CA-97C6-E7DC8135EC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417639"/>
            <a:ext cx="10972800" cy="470852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1600" dirty="0"/>
              <a:t>#include &lt;</a:t>
            </a:r>
            <a:r>
              <a:rPr lang="ru-RU" sz="1600" dirty="0" err="1"/>
              <a:t>fcntl.h</a:t>
            </a:r>
            <a:r>
              <a:rPr lang="ru-RU" sz="1600" dirty="0"/>
              <a:t>&gt;</a:t>
            </a:r>
          </a:p>
          <a:p>
            <a:pPr marL="0" indent="0">
              <a:buNone/>
            </a:pPr>
            <a:r>
              <a:rPr lang="ru-RU" sz="1600" dirty="0"/>
              <a:t>#include &lt;</a:t>
            </a:r>
            <a:r>
              <a:rPr lang="ru-RU" sz="1600" dirty="0" err="1"/>
              <a:t>unistd.h</a:t>
            </a:r>
            <a:r>
              <a:rPr lang="ru-RU" sz="1600" dirty="0"/>
              <a:t>&gt;</a:t>
            </a:r>
          </a:p>
          <a:p>
            <a:pPr marL="0" indent="0">
              <a:buNone/>
            </a:pPr>
            <a:r>
              <a:rPr lang="ru-RU" sz="1600" dirty="0"/>
              <a:t>#include &lt;</a:t>
            </a:r>
            <a:r>
              <a:rPr lang="ru-RU" sz="1600" dirty="0" err="1"/>
              <a:t>stdio.h</a:t>
            </a:r>
            <a:r>
              <a:rPr lang="ru-RU" sz="1600" dirty="0"/>
              <a:t>&gt;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 err="1"/>
              <a:t>int</a:t>
            </a:r>
            <a:r>
              <a:rPr lang="ru-RU" sz="1600" dirty="0"/>
              <a:t> main(</a:t>
            </a:r>
            <a:r>
              <a:rPr lang="ru-RU" sz="1600" dirty="0" err="1"/>
              <a:t>void</a:t>
            </a:r>
            <a:r>
              <a:rPr lang="ru-RU" sz="1600" dirty="0"/>
              <a:t>) {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int</a:t>
            </a:r>
            <a:r>
              <a:rPr lang="ru-RU" sz="1600" dirty="0"/>
              <a:t> </a:t>
            </a:r>
            <a:r>
              <a:rPr lang="ru-RU" sz="1600" dirty="0" err="1"/>
              <a:t>fd</a:t>
            </a:r>
            <a:r>
              <a:rPr lang="ru-RU" sz="1600" dirty="0"/>
              <a:t> = </a:t>
            </a:r>
            <a:r>
              <a:rPr lang="ru-RU" sz="1600" dirty="0" err="1"/>
              <a:t>open</a:t>
            </a:r>
            <a:r>
              <a:rPr lang="ru-RU" sz="1600" dirty="0"/>
              <a:t>("hello.txt", O_RDONLY);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if</a:t>
            </a:r>
            <a:r>
              <a:rPr lang="ru-RU" sz="1600" dirty="0"/>
              <a:t> (</a:t>
            </a:r>
            <a:r>
              <a:rPr lang="ru-RU" sz="1600" dirty="0" err="1"/>
              <a:t>fd</a:t>
            </a:r>
            <a:r>
              <a:rPr lang="ru-RU" sz="1600" dirty="0"/>
              <a:t> == -1) return 1;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FILE *</a:t>
            </a:r>
            <a:r>
              <a:rPr lang="ru-RU" sz="1600" dirty="0" err="1"/>
              <a:t>fp</a:t>
            </a:r>
            <a:r>
              <a:rPr lang="ru-RU" sz="1600" dirty="0"/>
              <a:t> = </a:t>
            </a:r>
            <a:r>
              <a:rPr lang="ru-RU" sz="1600" dirty="0" err="1"/>
              <a:t>fdopen</a:t>
            </a:r>
            <a:r>
              <a:rPr lang="ru-RU" sz="1600" dirty="0"/>
              <a:t>(</a:t>
            </a:r>
            <a:r>
              <a:rPr lang="ru-RU" sz="1600" dirty="0" err="1"/>
              <a:t>fd</a:t>
            </a:r>
            <a:r>
              <a:rPr lang="ru-RU" sz="1600" dirty="0"/>
              <a:t>, "r");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if</a:t>
            </a:r>
            <a:r>
              <a:rPr lang="ru-RU" sz="1600" dirty="0"/>
              <a:t> (!</a:t>
            </a:r>
            <a:r>
              <a:rPr lang="ru-RU" sz="1600" dirty="0" err="1"/>
              <a:t>fp</a:t>
            </a:r>
            <a:r>
              <a:rPr lang="ru-RU" sz="1600" dirty="0"/>
              <a:t>) return 1;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int</a:t>
            </a:r>
            <a:r>
              <a:rPr lang="ru-RU" sz="1600" dirty="0"/>
              <a:t> c;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while</a:t>
            </a:r>
            <a:r>
              <a:rPr lang="ru-RU" sz="1600" dirty="0"/>
              <a:t> ((c = </a:t>
            </a:r>
            <a:r>
              <a:rPr lang="ru-RU" sz="1600" dirty="0" err="1"/>
              <a:t>fgetc</a:t>
            </a:r>
            <a:r>
              <a:rPr lang="ru-RU" sz="1600" dirty="0"/>
              <a:t>(</a:t>
            </a:r>
            <a:r>
              <a:rPr lang="ru-RU" sz="1600" dirty="0" err="1"/>
              <a:t>fp</a:t>
            </a:r>
            <a:r>
              <a:rPr lang="ru-RU" sz="1600" dirty="0"/>
              <a:t>)) != EOF) </a:t>
            </a:r>
            <a:r>
              <a:rPr lang="ru-RU" sz="1600" dirty="0" err="1"/>
              <a:t>putchar</a:t>
            </a:r>
            <a:r>
              <a:rPr lang="ru-RU" sz="1600" dirty="0"/>
              <a:t>(c);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fclose</a:t>
            </a:r>
            <a:r>
              <a:rPr lang="ru-RU" sz="1600" dirty="0"/>
              <a:t>(</a:t>
            </a:r>
            <a:r>
              <a:rPr lang="ru-RU" sz="1600" dirty="0" err="1"/>
              <a:t>fp</a:t>
            </a:r>
            <a:r>
              <a:rPr lang="ru-RU" sz="1600" dirty="0"/>
              <a:t>);   // закрывает и </a:t>
            </a:r>
            <a:r>
              <a:rPr lang="ru-RU" sz="1600" dirty="0" err="1"/>
              <a:t>fp</a:t>
            </a:r>
            <a:r>
              <a:rPr lang="ru-RU" sz="1600" dirty="0"/>
              <a:t>, и </a:t>
            </a:r>
            <a:r>
              <a:rPr lang="ru-RU" sz="1600" dirty="0" err="1"/>
              <a:t>fd</a:t>
            </a: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return 0;</a:t>
            </a:r>
          </a:p>
          <a:p>
            <a:pPr marL="0" indent="0">
              <a:buNone/>
            </a:pPr>
            <a:r>
              <a:rPr lang="ru-RU" sz="1600" dirty="0"/>
              <a:t>}</a:t>
            </a:r>
          </a:p>
          <a:p>
            <a:pPr marL="0" indent="0">
              <a:buNone/>
            </a:pPr>
            <a:r>
              <a:rPr lang="ru-RU" sz="1600" b="1" dirty="0"/>
              <a:t>Что показывает:</a:t>
            </a:r>
            <a:r>
              <a:rPr lang="ru-RU" sz="1600" dirty="0"/>
              <a:t> можно </a:t>
            </a:r>
            <a:r>
              <a:rPr lang="ru-RU" sz="1600" b="1" dirty="0"/>
              <a:t>обернуть</a:t>
            </a:r>
            <a:r>
              <a:rPr lang="ru-RU" sz="1600" dirty="0"/>
              <a:t> низкоуровневый дескриптор в высокоуровневую структуру FILE через </a:t>
            </a:r>
            <a:r>
              <a:rPr lang="ru-RU" sz="1600" dirty="0" err="1"/>
              <a:t>fdopen</a:t>
            </a:r>
            <a:r>
              <a:rPr lang="ru-RU" sz="1600" dirty="0"/>
              <a:t>.</a:t>
            </a:r>
          </a:p>
          <a:p>
            <a:pPr marL="0" indent="0">
              <a:buNone/>
            </a:pP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4643174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267AE6-0CEA-1200-BDDA-CC402C2EE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effectLst/>
              </a:rPr>
              <a:t>Пример 12. Дублирование дескриптора через </a:t>
            </a:r>
            <a:r>
              <a:rPr lang="ru-RU" dirty="0" err="1">
                <a:effectLst/>
              </a:rPr>
              <a:t>dup</a:t>
            </a:r>
            <a:br>
              <a:rPr lang="ru-RU" dirty="0">
                <a:effectLst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7BE186F-8058-0A6D-6EC3-95FBB769A1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fcntl.h</a:t>
            </a:r>
            <a:r>
              <a:rPr lang="ru-RU" dirty="0"/>
              <a:t>&gt;</a:t>
            </a:r>
          </a:p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unistd.h</a:t>
            </a:r>
            <a:r>
              <a:rPr lang="ru-RU" dirty="0"/>
              <a:t>&gt;</a:t>
            </a:r>
          </a:p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stdio.h</a:t>
            </a:r>
            <a:r>
              <a:rPr lang="ru-RU" dirty="0"/>
              <a:t>&gt;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err="1"/>
              <a:t>int</a:t>
            </a:r>
            <a:r>
              <a:rPr lang="ru-RU" dirty="0"/>
              <a:t> main(</a:t>
            </a:r>
            <a:r>
              <a:rPr lang="ru-RU" dirty="0" err="1"/>
              <a:t>void</a:t>
            </a:r>
            <a:r>
              <a:rPr lang="ru-RU" dirty="0"/>
              <a:t>) {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int</a:t>
            </a:r>
            <a:r>
              <a:rPr lang="ru-RU" dirty="0"/>
              <a:t> fd1 = </a:t>
            </a:r>
            <a:r>
              <a:rPr lang="ru-RU" dirty="0" err="1"/>
              <a:t>open</a:t>
            </a:r>
            <a:r>
              <a:rPr lang="ru-RU" dirty="0"/>
              <a:t>("hello.txt", O_RDONLY);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if</a:t>
            </a:r>
            <a:r>
              <a:rPr lang="ru-RU" dirty="0"/>
              <a:t> (fd1 == -1) return 1;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int</a:t>
            </a:r>
            <a:r>
              <a:rPr lang="ru-RU" dirty="0"/>
              <a:t> fd2 = </a:t>
            </a:r>
            <a:r>
              <a:rPr lang="ru-RU" dirty="0" err="1"/>
              <a:t>dup</a:t>
            </a:r>
            <a:r>
              <a:rPr lang="ru-RU" dirty="0"/>
              <a:t>(fd1);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printf</a:t>
            </a:r>
            <a:r>
              <a:rPr lang="ru-RU" dirty="0"/>
              <a:t>("fd1 = %d, fd2 = %d\n", fd1, fd2);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close</a:t>
            </a:r>
            <a:r>
              <a:rPr lang="ru-RU" dirty="0"/>
              <a:t>(fd1);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close</a:t>
            </a:r>
            <a:r>
              <a:rPr lang="ru-RU" dirty="0"/>
              <a:t>(fd2);</a:t>
            </a:r>
          </a:p>
          <a:p>
            <a:pPr marL="0" indent="0">
              <a:buNone/>
            </a:pPr>
            <a:r>
              <a:rPr lang="ru-RU" dirty="0"/>
              <a:t>    return 0;</a:t>
            </a:r>
          </a:p>
          <a:p>
            <a:pPr marL="0" indent="0">
              <a:buNone/>
            </a:pPr>
            <a:r>
              <a:rPr lang="ru-RU" dirty="0"/>
              <a:t>}</a:t>
            </a:r>
          </a:p>
          <a:p>
            <a:pPr marL="0" indent="0">
              <a:buNone/>
            </a:pPr>
            <a:r>
              <a:rPr lang="ru-RU" b="1" dirty="0"/>
              <a:t>Что показывает:</a:t>
            </a:r>
            <a:r>
              <a:rPr lang="ru-RU" dirty="0"/>
              <a:t> </a:t>
            </a:r>
            <a:r>
              <a:rPr lang="ru-RU" dirty="0" err="1"/>
              <a:t>dup</a:t>
            </a:r>
            <a:r>
              <a:rPr lang="ru-RU" dirty="0"/>
              <a:t> создаёт </a:t>
            </a:r>
            <a:r>
              <a:rPr lang="ru-RU" b="1" dirty="0"/>
              <a:t>копию дескриптора</a:t>
            </a:r>
            <a:r>
              <a:rPr lang="ru-RU" dirty="0"/>
              <a:t>, указывающую на тот же файл. Оба дескриптора независимы, но разделяют позицию.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069637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249BF4-6A40-D899-406D-B2CEDECF82A8}"/>
              </a:ext>
            </a:extLst>
          </p:cNvPr>
          <p:cNvSpPr txBox="1"/>
          <p:nvPr/>
        </p:nvSpPr>
        <p:spPr>
          <a:xfrm>
            <a:off x="1051560" y="960120"/>
            <a:ext cx="809244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ru-RU" sz="7200" b="1" i="0" dirty="0">
                <a:solidFill>
                  <a:schemeClr val="tx2">
                    <a:lumMod val="75000"/>
                  </a:schemeClr>
                </a:solidFill>
                <a:effectLst/>
                <a:latin typeface="+mn-lt"/>
              </a:rPr>
              <a:t>Часть 3. Структура </a:t>
            </a:r>
            <a:r>
              <a:rPr lang="ru-RU" sz="7200" b="1" i="0" dirty="0" err="1">
                <a:solidFill>
                  <a:schemeClr val="tx2">
                    <a:lumMod val="75000"/>
                  </a:schemeClr>
                </a:solidFill>
                <a:effectLst/>
                <a:latin typeface="+mn-lt"/>
              </a:rPr>
              <a:t>struct</a:t>
            </a:r>
            <a:r>
              <a:rPr lang="ru-RU" sz="7200" b="1" i="0" dirty="0">
                <a:solidFill>
                  <a:schemeClr val="tx2">
                    <a:lumMod val="75000"/>
                  </a:schemeClr>
                </a:solidFill>
                <a:effectLst/>
                <a:latin typeface="+mn-lt"/>
              </a:rPr>
              <a:t> </a:t>
            </a:r>
            <a:r>
              <a:rPr lang="ru-RU" sz="7200" b="1" i="0" dirty="0" err="1">
                <a:solidFill>
                  <a:schemeClr val="tx2">
                    <a:lumMod val="75000"/>
                  </a:schemeClr>
                </a:solidFill>
                <a:effectLst/>
                <a:latin typeface="+mn-lt"/>
              </a:rPr>
              <a:t>stat</a:t>
            </a:r>
            <a:r>
              <a:rPr lang="ru-RU" sz="7200" b="1" i="0" dirty="0">
                <a:solidFill>
                  <a:schemeClr val="tx2">
                    <a:lumMod val="75000"/>
                  </a:schemeClr>
                </a:solidFill>
                <a:effectLst/>
                <a:latin typeface="+mn-lt"/>
              </a:rPr>
              <a:t> (примеры 13–17)</a:t>
            </a:r>
            <a:endParaRPr lang="ru-RU" sz="7200" b="1" i="0" dirty="0">
              <a:solidFill>
                <a:schemeClr val="tx2">
                  <a:lumMod val="75000"/>
                </a:schemeClr>
              </a:solidFill>
              <a:effectLst/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40192592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0F45E9-F0EA-7BAD-3E5F-DCD81793C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effectLst/>
              </a:rPr>
              <a:t>Пример 13. Получение метаданных через </a:t>
            </a:r>
            <a:r>
              <a:rPr lang="ru-RU" dirty="0" err="1">
                <a:effectLst/>
              </a:rPr>
              <a:t>stat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92706F9-F52D-0FA2-ED4E-516D5D2823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stdio.h</a:t>
            </a:r>
            <a:r>
              <a:rPr lang="ru-RU" dirty="0"/>
              <a:t>&gt;</a:t>
            </a:r>
          </a:p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sys</a:t>
            </a:r>
            <a:r>
              <a:rPr lang="ru-RU" dirty="0"/>
              <a:t>/</a:t>
            </a:r>
            <a:r>
              <a:rPr lang="ru-RU" dirty="0" err="1"/>
              <a:t>stat.h</a:t>
            </a:r>
            <a:r>
              <a:rPr lang="ru-RU" dirty="0"/>
              <a:t>&gt;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err="1"/>
              <a:t>int</a:t>
            </a:r>
            <a:r>
              <a:rPr lang="ru-RU" dirty="0"/>
              <a:t> main(</a:t>
            </a:r>
            <a:r>
              <a:rPr lang="ru-RU" dirty="0" err="1"/>
              <a:t>void</a:t>
            </a:r>
            <a:r>
              <a:rPr lang="ru-RU" dirty="0"/>
              <a:t>) {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struct</a:t>
            </a:r>
            <a:r>
              <a:rPr lang="ru-RU" dirty="0"/>
              <a:t> </a:t>
            </a:r>
            <a:r>
              <a:rPr lang="ru-RU" dirty="0" err="1"/>
              <a:t>stat</a:t>
            </a:r>
            <a:r>
              <a:rPr lang="ru-RU" dirty="0"/>
              <a:t> </a:t>
            </a:r>
            <a:r>
              <a:rPr lang="ru-RU" dirty="0" err="1"/>
              <a:t>st</a:t>
            </a:r>
            <a:r>
              <a:rPr lang="ru-RU" dirty="0"/>
              <a:t>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if</a:t>
            </a:r>
            <a:r>
              <a:rPr lang="ru-RU" dirty="0"/>
              <a:t> (</a:t>
            </a:r>
            <a:r>
              <a:rPr lang="ru-RU" dirty="0" err="1"/>
              <a:t>stat</a:t>
            </a:r>
            <a:r>
              <a:rPr lang="ru-RU" dirty="0"/>
              <a:t>("hello.txt", &amp;</a:t>
            </a:r>
            <a:r>
              <a:rPr lang="ru-RU" dirty="0" err="1"/>
              <a:t>st</a:t>
            </a:r>
            <a:r>
              <a:rPr lang="ru-RU" dirty="0"/>
              <a:t>) == -1) {</a:t>
            </a:r>
          </a:p>
          <a:p>
            <a:pPr marL="0" indent="0">
              <a:buNone/>
            </a:pPr>
            <a:r>
              <a:rPr lang="ru-RU" dirty="0"/>
              <a:t>        </a:t>
            </a:r>
            <a:r>
              <a:rPr lang="ru-RU" dirty="0" err="1"/>
              <a:t>perror</a:t>
            </a:r>
            <a:r>
              <a:rPr lang="ru-RU" dirty="0"/>
              <a:t>("</a:t>
            </a:r>
            <a:r>
              <a:rPr lang="ru-RU" dirty="0" err="1"/>
              <a:t>stat</a:t>
            </a:r>
            <a:r>
              <a:rPr lang="ru-RU" dirty="0"/>
              <a:t>");</a:t>
            </a:r>
          </a:p>
          <a:p>
            <a:pPr marL="0" indent="0">
              <a:buNone/>
            </a:pPr>
            <a:r>
              <a:rPr lang="ru-RU" dirty="0"/>
              <a:t>        return 1;</a:t>
            </a:r>
          </a:p>
          <a:p>
            <a:pPr marL="0" indent="0">
              <a:buNone/>
            </a:pPr>
            <a:r>
              <a:rPr lang="ru-RU" dirty="0"/>
              <a:t>    }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printf</a:t>
            </a:r>
            <a:r>
              <a:rPr lang="ru-RU" dirty="0"/>
              <a:t>("Размер: %</a:t>
            </a:r>
            <a:r>
              <a:rPr lang="ru-RU" dirty="0" err="1"/>
              <a:t>ld</a:t>
            </a:r>
            <a:r>
              <a:rPr lang="ru-RU" dirty="0"/>
              <a:t> байт\n", (</a:t>
            </a:r>
            <a:r>
              <a:rPr lang="ru-RU" dirty="0" err="1"/>
              <a:t>long</a:t>
            </a:r>
            <a:r>
              <a:rPr lang="ru-RU" dirty="0"/>
              <a:t>)</a:t>
            </a:r>
            <a:r>
              <a:rPr lang="ru-RU" dirty="0" err="1"/>
              <a:t>st.st_size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printf</a:t>
            </a:r>
            <a:r>
              <a:rPr lang="ru-RU" dirty="0"/>
              <a:t>("</a:t>
            </a:r>
            <a:r>
              <a:rPr lang="ru-RU" dirty="0" err="1"/>
              <a:t>Inode</a:t>
            </a:r>
            <a:r>
              <a:rPr lang="ru-RU" dirty="0"/>
              <a:t>: %</a:t>
            </a:r>
            <a:r>
              <a:rPr lang="ru-RU" dirty="0" err="1"/>
              <a:t>ld</a:t>
            </a:r>
            <a:r>
              <a:rPr lang="ru-RU" dirty="0"/>
              <a:t>\n", (</a:t>
            </a:r>
            <a:r>
              <a:rPr lang="ru-RU" dirty="0" err="1"/>
              <a:t>long</a:t>
            </a:r>
            <a:r>
              <a:rPr lang="ru-RU" dirty="0"/>
              <a:t>)</a:t>
            </a:r>
            <a:r>
              <a:rPr lang="ru-RU" dirty="0" err="1"/>
              <a:t>st.st_ino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printf</a:t>
            </a:r>
            <a:r>
              <a:rPr lang="ru-RU" dirty="0"/>
              <a:t>("Ссылок: %</a:t>
            </a:r>
            <a:r>
              <a:rPr lang="ru-RU" dirty="0" err="1"/>
              <a:t>ld</a:t>
            </a:r>
            <a:r>
              <a:rPr lang="ru-RU" dirty="0"/>
              <a:t>\n", (</a:t>
            </a:r>
            <a:r>
              <a:rPr lang="ru-RU" dirty="0" err="1"/>
              <a:t>long</a:t>
            </a:r>
            <a:r>
              <a:rPr lang="ru-RU" dirty="0"/>
              <a:t>)</a:t>
            </a:r>
            <a:r>
              <a:rPr lang="ru-RU" dirty="0" err="1"/>
              <a:t>st.st_nlink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dirty="0"/>
              <a:t>    return 0;</a:t>
            </a:r>
          </a:p>
          <a:p>
            <a:pPr marL="0" indent="0">
              <a:buNone/>
            </a:pPr>
            <a:r>
              <a:rPr lang="ru-RU" dirty="0"/>
              <a:t>}</a:t>
            </a:r>
          </a:p>
          <a:p>
            <a:pPr marL="0" indent="0">
              <a:buNone/>
            </a:pPr>
            <a:r>
              <a:rPr lang="ru-RU" b="1" dirty="0"/>
              <a:t>Что показывает:</a:t>
            </a:r>
            <a:r>
              <a:rPr lang="ru-RU" dirty="0"/>
              <a:t> структура </a:t>
            </a:r>
            <a:r>
              <a:rPr lang="ru-RU" dirty="0" err="1"/>
              <a:t>struct</a:t>
            </a:r>
            <a:r>
              <a:rPr lang="ru-RU" dirty="0"/>
              <a:t> </a:t>
            </a:r>
            <a:r>
              <a:rPr lang="ru-RU" dirty="0" err="1"/>
              <a:t>stat</a:t>
            </a:r>
            <a:r>
              <a:rPr lang="ru-RU" dirty="0"/>
              <a:t> хранит </a:t>
            </a:r>
            <a:r>
              <a:rPr lang="ru-RU" b="1" dirty="0"/>
              <a:t>метаданные файла</a:t>
            </a:r>
            <a:r>
              <a:rPr lang="ru-RU" dirty="0"/>
              <a:t>: размер, </a:t>
            </a:r>
            <a:r>
              <a:rPr lang="ru-RU" dirty="0" err="1"/>
              <a:t>inode</a:t>
            </a:r>
            <a:r>
              <a:rPr lang="ru-RU" dirty="0"/>
              <a:t>, число ссылок.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016212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7EC970-2CE9-597C-E1F3-75ACBA7B0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14. Тип файла через </a:t>
            </a:r>
            <a:r>
              <a:rPr lang="ru-RU" dirty="0" err="1">
                <a:effectLst/>
              </a:rPr>
              <a:t>st_mode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6914CAA-2D0A-B233-7FFD-C8BF9B1FBF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ru-RU" sz="1600" dirty="0"/>
              <a:t>#include &lt;</a:t>
            </a:r>
            <a:r>
              <a:rPr lang="ru-RU" sz="1600" dirty="0" err="1"/>
              <a:t>stdio.h</a:t>
            </a:r>
            <a:r>
              <a:rPr lang="ru-RU" sz="1600" dirty="0"/>
              <a:t>&gt;</a:t>
            </a:r>
          </a:p>
          <a:p>
            <a:pPr marL="0" indent="0">
              <a:buNone/>
            </a:pPr>
            <a:r>
              <a:rPr lang="ru-RU" sz="1600" dirty="0"/>
              <a:t>#include &lt;</a:t>
            </a:r>
            <a:r>
              <a:rPr lang="ru-RU" sz="1600" dirty="0" err="1"/>
              <a:t>sys</a:t>
            </a:r>
            <a:r>
              <a:rPr lang="ru-RU" sz="1600" dirty="0"/>
              <a:t>/</a:t>
            </a:r>
            <a:r>
              <a:rPr lang="ru-RU" sz="1600" dirty="0" err="1"/>
              <a:t>stat.h</a:t>
            </a:r>
            <a:r>
              <a:rPr lang="ru-RU" sz="1600" dirty="0"/>
              <a:t>&gt;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 err="1"/>
              <a:t>int</a:t>
            </a:r>
            <a:r>
              <a:rPr lang="ru-RU" sz="1600" dirty="0"/>
              <a:t> main(</a:t>
            </a:r>
            <a:r>
              <a:rPr lang="ru-RU" sz="1600" dirty="0" err="1"/>
              <a:t>void</a:t>
            </a:r>
            <a:r>
              <a:rPr lang="ru-RU" sz="1600" dirty="0"/>
              <a:t>) {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struct</a:t>
            </a:r>
            <a:r>
              <a:rPr lang="ru-RU" sz="1600" dirty="0"/>
              <a:t> </a:t>
            </a:r>
            <a:r>
              <a:rPr lang="ru-RU" sz="1600" dirty="0" err="1"/>
              <a:t>stat</a:t>
            </a:r>
            <a:r>
              <a:rPr lang="ru-RU" sz="1600" dirty="0"/>
              <a:t> </a:t>
            </a:r>
            <a:r>
              <a:rPr lang="ru-RU" sz="1600" dirty="0" err="1"/>
              <a:t>st</a:t>
            </a:r>
            <a:r>
              <a:rPr lang="ru-RU" sz="1600" dirty="0"/>
              <a:t>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if</a:t>
            </a:r>
            <a:r>
              <a:rPr lang="ru-RU" sz="1600" dirty="0"/>
              <a:t> (</a:t>
            </a:r>
            <a:r>
              <a:rPr lang="ru-RU" sz="1600" dirty="0" err="1"/>
              <a:t>stat</a:t>
            </a:r>
            <a:r>
              <a:rPr lang="ru-RU" sz="1600" dirty="0"/>
              <a:t>("hello.txt", &amp;</a:t>
            </a:r>
            <a:r>
              <a:rPr lang="ru-RU" sz="1600" dirty="0" err="1"/>
              <a:t>st</a:t>
            </a:r>
            <a:r>
              <a:rPr lang="ru-RU" sz="1600" dirty="0"/>
              <a:t>) == -1) return 1;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printf</a:t>
            </a:r>
            <a:r>
              <a:rPr lang="ru-RU" sz="1600" dirty="0"/>
              <a:t>("Тип: ");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if</a:t>
            </a:r>
            <a:r>
              <a:rPr lang="ru-RU" sz="1600" dirty="0"/>
              <a:t> (S_ISREG(</a:t>
            </a:r>
            <a:r>
              <a:rPr lang="ru-RU" sz="1600" dirty="0" err="1"/>
              <a:t>st.st_mode</a:t>
            </a:r>
            <a:r>
              <a:rPr lang="ru-RU" sz="1600" dirty="0"/>
              <a:t>))       </a:t>
            </a:r>
            <a:r>
              <a:rPr lang="ru-RU" sz="1600" dirty="0" err="1"/>
              <a:t>printf</a:t>
            </a:r>
            <a:r>
              <a:rPr lang="ru-RU" sz="1600" dirty="0"/>
              <a:t>("обычный файл\n");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else</a:t>
            </a:r>
            <a:r>
              <a:rPr lang="ru-RU" sz="1600" dirty="0"/>
              <a:t> </a:t>
            </a:r>
            <a:r>
              <a:rPr lang="ru-RU" sz="1600" dirty="0" err="1"/>
              <a:t>if</a:t>
            </a:r>
            <a:r>
              <a:rPr lang="ru-RU" sz="1600" dirty="0"/>
              <a:t> (S_ISDIR(</a:t>
            </a:r>
            <a:r>
              <a:rPr lang="ru-RU" sz="1600" dirty="0" err="1"/>
              <a:t>st.st_mode</a:t>
            </a:r>
            <a:r>
              <a:rPr lang="ru-RU" sz="1600" dirty="0"/>
              <a:t>))  </a:t>
            </a:r>
            <a:r>
              <a:rPr lang="ru-RU" sz="1600" dirty="0" err="1"/>
              <a:t>printf</a:t>
            </a:r>
            <a:r>
              <a:rPr lang="ru-RU" sz="1600" dirty="0"/>
              <a:t>("каталог\n");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else</a:t>
            </a:r>
            <a:r>
              <a:rPr lang="ru-RU" sz="1600" dirty="0"/>
              <a:t> </a:t>
            </a:r>
            <a:r>
              <a:rPr lang="ru-RU" sz="1600" dirty="0" err="1"/>
              <a:t>if</a:t>
            </a:r>
            <a:r>
              <a:rPr lang="ru-RU" sz="1600" dirty="0"/>
              <a:t> (S_ISLNK(</a:t>
            </a:r>
            <a:r>
              <a:rPr lang="ru-RU" sz="1600" dirty="0" err="1"/>
              <a:t>st.st_mode</a:t>
            </a:r>
            <a:r>
              <a:rPr lang="ru-RU" sz="1600" dirty="0"/>
              <a:t>))  </a:t>
            </a:r>
            <a:r>
              <a:rPr lang="ru-RU" sz="1600" dirty="0" err="1"/>
              <a:t>printf</a:t>
            </a:r>
            <a:r>
              <a:rPr lang="ru-RU" sz="1600" dirty="0"/>
              <a:t>("символьная ссылка\n");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else</a:t>
            </a:r>
            <a:r>
              <a:rPr lang="ru-RU" sz="1600" dirty="0"/>
              <a:t>                            </a:t>
            </a:r>
            <a:r>
              <a:rPr lang="ru-RU" sz="1600" dirty="0" err="1"/>
              <a:t>printf</a:t>
            </a:r>
            <a:r>
              <a:rPr lang="ru-RU" sz="1600" dirty="0"/>
              <a:t>("другое\n");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return 0;</a:t>
            </a:r>
          </a:p>
          <a:p>
            <a:pPr marL="0" indent="0">
              <a:buNone/>
            </a:pPr>
            <a:r>
              <a:rPr lang="ru-RU" sz="1600" dirty="0"/>
              <a:t>}</a:t>
            </a:r>
          </a:p>
          <a:p>
            <a:pPr marL="0" indent="0">
              <a:buNone/>
            </a:pPr>
            <a:r>
              <a:rPr lang="ru-RU" sz="1600" b="1" dirty="0"/>
              <a:t>Что показывает:</a:t>
            </a:r>
            <a:r>
              <a:rPr lang="ru-RU" sz="1600" dirty="0"/>
              <a:t> поле </a:t>
            </a:r>
            <a:r>
              <a:rPr lang="ru-RU" sz="1600" dirty="0" err="1"/>
              <a:t>st_mode</a:t>
            </a:r>
            <a:r>
              <a:rPr lang="ru-RU" sz="1600" dirty="0"/>
              <a:t> хранит </a:t>
            </a:r>
            <a:r>
              <a:rPr lang="ru-RU" sz="1600" b="1" dirty="0"/>
              <a:t>тип файла</a:t>
            </a:r>
            <a:r>
              <a:rPr lang="ru-RU" sz="1600" dirty="0"/>
              <a:t>. Проверяется макросами S_ISREG, S_ISDIR, S_ISLNK.</a:t>
            </a:r>
          </a:p>
          <a:p>
            <a:pPr marL="0" indent="0">
              <a:buNone/>
            </a:pPr>
            <a:br>
              <a:rPr lang="ru-RU" sz="1600" dirty="0"/>
            </a:b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12172538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7781F8-994A-1394-4D66-70CD775A3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15. Права доступа через </a:t>
            </a:r>
            <a:r>
              <a:rPr lang="ru-RU" dirty="0" err="1">
                <a:effectLst/>
              </a:rPr>
              <a:t>st_mode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04120D4-A1A4-FA4A-4152-2F259A3A02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95401"/>
            <a:ext cx="10972800" cy="483076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1400" dirty="0"/>
              <a:t>#include &lt;</a:t>
            </a:r>
            <a:r>
              <a:rPr lang="ru-RU" sz="1400" dirty="0" err="1"/>
              <a:t>stdio.h</a:t>
            </a:r>
            <a:r>
              <a:rPr lang="ru-RU" sz="1400" dirty="0"/>
              <a:t>&gt;</a:t>
            </a:r>
          </a:p>
          <a:p>
            <a:pPr marL="0" indent="0">
              <a:buNone/>
            </a:pPr>
            <a:r>
              <a:rPr lang="ru-RU" sz="1400" dirty="0"/>
              <a:t>#include &lt;</a:t>
            </a:r>
            <a:r>
              <a:rPr lang="ru-RU" sz="1400" dirty="0" err="1"/>
              <a:t>sys</a:t>
            </a:r>
            <a:r>
              <a:rPr lang="ru-RU" sz="1400" dirty="0"/>
              <a:t>/</a:t>
            </a:r>
            <a:r>
              <a:rPr lang="ru-RU" sz="1400" dirty="0" err="1"/>
              <a:t>stat.h</a:t>
            </a:r>
            <a:r>
              <a:rPr lang="ru-RU" sz="1400" dirty="0"/>
              <a:t>&gt;</a:t>
            </a:r>
          </a:p>
          <a:p>
            <a:pPr marL="0" indent="0">
              <a:buNone/>
            </a:pPr>
            <a:endParaRPr lang="ru-RU" sz="1400" dirty="0"/>
          </a:p>
          <a:p>
            <a:pPr marL="0" indent="0">
              <a:buNone/>
            </a:pPr>
            <a:r>
              <a:rPr lang="ru-RU" sz="1400" dirty="0" err="1"/>
              <a:t>int</a:t>
            </a:r>
            <a:r>
              <a:rPr lang="ru-RU" sz="1400" dirty="0"/>
              <a:t> main(</a:t>
            </a:r>
            <a:r>
              <a:rPr lang="ru-RU" sz="1400" dirty="0" err="1"/>
              <a:t>void</a:t>
            </a:r>
            <a:r>
              <a:rPr lang="ru-RU" sz="1400" dirty="0"/>
              <a:t>) {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struct</a:t>
            </a:r>
            <a:r>
              <a:rPr lang="ru-RU" sz="1400" dirty="0"/>
              <a:t> </a:t>
            </a:r>
            <a:r>
              <a:rPr lang="ru-RU" sz="1400" dirty="0" err="1"/>
              <a:t>stat</a:t>
            </a:r>
            <a:r>
              <a:rPr lang="ru-RU" sz="1400" dirty="0"/>
              <a:t> </a:t>
            </a:r>
            <a:r>
              <a:rPr lang="ru-RU" sz="1400" dirty="0" err="1"/>
              <a:t>st</a:t>
            </a:r>
            <a:r>
              <a:rPr lang="ru-RU" sz="1400" dirty="0"/>
              <a:t>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if</a:t>
            </a:r>
            <a:r>
              <a:rPr lang="ru-RU" sz="1400" dirty="0"/>
              <a:t> (</a:t>
            </a:r>
            <a:r>
              <a:rPr lang="ru-RU" sz="1400" dirty="0" err="1"/>
              <a:t>stat</a:t>
            </a:r>
            <a:r>
              <a:rPr lang="ru-RU" sz="1400" dirty="0"/>
              <a:t>("hello.txt", &amp;</a:t>
            </a:r>
            <a:r>
              <a:rPr lang="ru-RU" sz="1400" dirty="0" err="1"/>
              <a:t>st</a:t>
            </a:r>
            <a:r>
              <a:rPr lang="ru-RU" sz="1400" dirty="0"/>
              <a:t>) == -1) return 1;</a:t>
            </a:r>
          </a:p>
          <a:p>
            <a:pPr marL="0" indent="0">
              <a:buNone/>
            </a:pPr>
            <a:endParaRPr lang="ru-RU" sz="1400" dirty="0"/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printf</a:t>
            </a:r>
            <a:r>
              <a:rPr lang="ru-RU" sz="1400" dirty="0"/>
              <a:t>("Права: ");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printf</a:t>
            </a:r>
            <a:r>
              <a:rPr lang="ru-RU" sz="1400" dirty="0"/>
              <a:t>("%c", (</a:t>
            </a:r>
            <a:r>
              <a:rPr lang="ru-RU" sz="1400" dirty="0" err="1"/>
              <a:t>st.st_mode</a:t>
            </a:r>
            <a:r>
              <a:rPr lang="ru-RU" sz="1400" dirty="0"/>
              <a:t> &amp; S_IRUSR) ? 'r' : '-');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printf</a:t>
            </a:r>
            <a:r>
              <a:rPr lang="ru-RU" sz="1400" dirty="0"/>
              <a:t>("%c", (</a:t>
            </a:r>
            <a:r>
              <a:rPr lang="ru-RU" sz="1400" dirty="0" err="1"/>
              <a:t>st.st_mode</a:t>
            </a:r>
            <a:r>
              <a:rPr lang="ru-RU" sz="1400" dirty="0"/>
              <a:t> &amp; S_IWUSR) ? 'w' : '-');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printf</a:t>
            </a:r>
            <a:r>
              <a:rPr lang="ru-RU" sz="1400" dirty="0"/>
              <a:t>("%c", (</a:t>
            </a:r>
            <a:r>
              <a:rPr lang="ru-RU" sz="1400" dirty="0" err="1"/>
              <a:t>st.st_mode</a:t>
            </a:r>
            <a:r>
              <a:rPr lang="ru-RU" sz="1400" dirty="0"/>
              <a:t> &amp; S_IXUSR) ? 'x' : '-');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printf</a:t>
            </a:r>
            <a:r>
              <a:rPr lang="ru-RU" sz="1400" dirty="0"/>
              <a:t>("%c", (</a:t>
            </a:r>
            <a:r>
              <a:rPr lang="ru-RU" sz="1400" dirty="0" err="1"/>
              <a:t>st.st_mode</a:t>
            </a:r>
            <a:r>
              <a:rPr lang="ru-RU" sz="1400" dirty="0"/>
              <a:t> &amp; S_IRGRP) ? 'r' : '-');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printf</a:t>
            </a:r>
            <a:r>
              <a:rPr lang="ru-RU" sz="1400" dirty="0"/>
              <a:t>("%c", (</a:t>
            </a:r>
            <a:r>
              <a:rPr lang="ru-RU" sz="1400" dirty="0" err="1"/>
              <a:t>st.st_mode</a:t>
            </a:r>
            <a:r>
              <a:rPr lang="ru-RU" sz="1400" dirty="0"/>
              <a:t> &amp; S_IWGRP) ? 'w' : '-');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printf</a:t>
            </a:r>
            <a:r>
              <a:rPr lang="ru-RU" sz="1400" dirty="0"/>
              <a:t>("%c", (</a:t>
            </a:r>
            <a:r>
              <a:rPr lang="ru-RU" sz="1400" dirty="0" err="1"/>
              <a:t>st.st_mode</a:t>
            </a:r>
            <a:r>
              <a:rPr lang="ru-RU" sz="1400" dirty="0"/>
              <a:t> &amp; S_IXGRP) ? 'x' : '-');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printf</a:t>
            </a:r>
            <a:r>
              <a:rPr lang="ru-RU" sz="1400" dirty="0"/>
              <a:t>("%c", (</a:t>
            </a:r>
            <a:r>
              <a:rPr lang="ru-RU" sz="1400" dirty="0" err="1"/>
              <a:t>st.st_mode</a:t>
            </a:r>
            <a:r>
              <a:rPr lang="ru-RU" sz="1400" dirty="0"/>
              <a:t> &amp; S_IROTH) ? 'r' : '-');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printf</a:t>
            </a:r>
            <a:r>
              <a:rPr lang="ru-RU" sz="1400" dirty="0"/>
              <a:t>("%c", (</a:t>
            </a:r>
            <a:r>
              <a:rPr lang="ru-RU" sz="1400" dirty="0" err="1"/>
              <a:t>st.st_mode</a:t>
            </a:r>
            <a:r>
              <a:rPr lang="ru-RU" sz="1400" dirty="0"/>
              <a:t> &amp; S_IWOTH) ? 'w' : '-');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printf</a:t>
            </a:r>
            <a:r>
              <a:rPr lang="ru-RU" sz="1400" dirty="0"/>
              <a:t>("%c\n", (</a:t>
            </a:r>
            <a:r>
              <a:rPr lang="ru-RU" sz="1400" dirty="0" err="1"/>
              <a:t>st.st_mode</a:t>
            </a:r>
            <a:r>
              <a:rPr lang="ru-RU" sz="1400" dirty="0"/>
              <a:t> &amp; S_IXOTH) ? 'x' : '-');</a:t>
            </a:r>
          </a:p>
          <a:p>
            <a:pPr marL="0" indent="0">
              <a:buNone/>
            </a:pPr>
            <a:endParaRPr lang="ru-RU" sz="1400" dirty="0"/>
          </a:p>
          <a:p>
            <a:pPr marL="0" indent="0">
              <a:buNone/>
            </a:pPr>
            <a:r>
              <a:rPr lang="ru-RU" sz="1400" dirty="0"/>
              <a:t>    return 0;</a:t>
            </a:r>
          </a:p>
          <a:p>
            <a:pPr marL="0" indent="0">
              <a:buNone/>
            </a:pPr>
            <a:r>
              <a:rPr lang="ru-RU" sz="1400" dirty="0"/>
              <a:t>}</a:t>
            </a:r>
          </a:p>
          <a:p>
            <a:pPr marL="0" indent="0">
              <a:buNone/>
            </a:pPr>
            <a:r>
              <a:rPr lang="ru-RU" sz="1400" b="1" dirty="0"/>
              <a:t>Что показывает:</a:t>
            </a:r>
            <a:r>
              <a:rPr lang="ru-RU" sz="1400" dirty="0"/>
              <a:t> права доступа </a:t>
            </a:r>
            <a:r>
              <a:rPr lang="ru-RU" sz="1400" b="1" dirty="0"/>
              <a:t>упакованы</a:t>
            </a:r>
            <a:r>
              <a:rPr lang="ru-RU" sz="1400" dirty="0"/>
              <a:t> в </a:t>
            </a:r>
            <a:r>
              <a:rPr lang="ru-RU" sz="1400" dirty="0" err="1"/>
              <a:t>st_mode</a:t>
            </a:r>
            <a:r>
              <a:rPr lang="ru-RU" sz="1400" dirty="0"/>
              <a:t> — три группы по три бита (владелец, группа, остальные).</a:t>
            </a:r>
          </a:p>
          <a:p>
            <a:pPr marL="0" indent="0">
              <a:buNone/>
            </a:pPr>
            <a:br>
              <a:rPr lang="ru-RU" sz="1400" dirty="0"/>
            </a:b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41785207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D10B3A-3C7C-BB2C-BA7E-16E22245E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16. Временные метки файла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A97831C-3847-1A8F-6948-445173E79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ru-RU" sz="1600" dirty="0"/>
              <a:t>#include &lt;</a:t>
            </a:r>
            <a:r>
              <a:rPr lang="ru-RU" sz="1600" dirty="0" err="1"/>
              <a:t>stdio.h</a:t>
            </a:r>
            <a:r>
              <a:rPr lang="ru-RU" sz="1600" dirty="0"/>
              <a:t>&gt;</a:t>
            </a:r>
          </a:p>
          <a:p>
            <a:pPr marL="0" indent="0">
              <a:buNone/>
            </a:pPr>
            <a:r>
              <a:rPr lang="ru-RU" sz="1600" dirty="0"/>
              <a:t>#include &lt;</a:t>
            </a:r>
            <a:r>
              <a:rPr lang="ru-RU" sz="1600" dirty="0" err="1"/>
              <a:t>sys</a:t>
            </a:r>
            <a:r>
              <a:rPr lang="ru-RU" sz="1600" dirty="0"/>
              <a:t>/</a:t>
            </a:r>
            <a:r>
              <a:rPr lang="ru-RU" sz="1600" dirty="0" err="1"/>
              <a:t>stat.h</a:t>
            </a:r>
            <a:r>
              <a:rPr lang="ru-RU" sz="1600" dirty="0"/>
              <a:t>&gt;</a:t>
            </a:r>
          </a:p>
          <a:p>
            <a:pPr marL="0" indent="0">
              <a:buNone/>
            </a:pPr>
            <a:r>
              <a:rPr lang="ru-RU" sz="1600" dirty="0"/>
              <a:t>#include &lt;</a:t>
            </a:r>
            <a:r>
              <a:rPr lang="ru-RU" sz="1600" dirty="0" err="1"/>
              <a:t>time.h</a:t>
            </a:r>
            <a:r>
              <a:rPr lang="ru-RU" sz="1600" dirty="0"/>
              <a:t>&gt;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 err="1"/>
              <a:t>int</a:t>
            </a:r>
            <a:r>
              <a:rPr lang="ru-RU" sz="1600" dirty="0"/>
              <a:t> main(</a:t>
            </a:r>
            <a:r>
              <a:rPr lang="ru-RU" sz="1600" dirty="0" err="1"/>
              <a:t>void</a:t>
            </a:r>
            <a:r>
              <a:rPr lang="ru-RU" sz="1600" dirty="0"/>
              <a:t>) {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struct</a:t>
            </a:r>
            <a:r>
              <a:rPr lang="ru-RU" sz="1600" dirty="0"/>
              <a:t> </a:t>
            </a:r>
            <a:r>
              <a:rPr lang="ru-RU" sz="1600" dirty="0" err="1"/>
              <a:t>stat</a:t>
            </a:r>
            <a:r>
              <a:rPr lang="ru-RU" sz="1600" dirty="0"/>
              <a:t> </a:t>
            </a:r>
            <a:r>
              <a:rPr lang="ru-RU" sz="1600" dirty="0" err="1"/>
              <a:t>st</a:t>
            </a:r>
            <a:r>
              <a:rPr lang="ru-RU" sz="1600" dirty="0"/>
              <a:t>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if</a:t>
            </a:r>
            <a:r>
              <a:rPr lang="ru-RU" sz="1600" dirty="0"/>
              <a:t> (</a:t>
            </a:r>
            <a:r>
              <a:rPr lang="ru-RU" sz="1600" dirty="0" err="1"/>
              <a:t>stat</a:t>
            </a:r>
            <a:r>
              <a:rPr lang="ru-RU" sz="1600" dirty="0"/>
              <a:t>("hello.txt", &amp;</a:t>
            </a:r>
            <a:r>
              <a:rPr lang="ru-RU" sz="1600" dirty="0" err="1"/>
              <a:t>st</a:t>
            </a:r>
            <a:r>
              <a:rPr lang="ru-RU" sz="1600" dirty="0"/>
              <a:t>) == -1) return 1;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printf</a:t>
            </a:r>
            <a:r>
              <a:rPr lang="ru-RU" sz="1600" dirty="0"/>
              <a:t>("Последний доступ:  %s", </a:t>
            </a:r>
            <a:r>
              <a:rPr lang="ru-RU" sz="1600" dirty="0" err="1"/>
              <a:t>ctime</a:t>
            </a:r>
            <a:r>
              <a:rPr lang="ru-RU" sz="1600" dirty="0"/>
              <a:t>(&amp;</a:t>
            </a:r>
            <a:r>
              <a:rPr lang="ru-RU" sz="1600" dirty="0" err="1"/>
              <a:t>st.st_atime</a:t>
            </a:r>
            <a:r>
              <a:rPr lang="ru-RU" sz="1600" dirty="0"/>
              <a:t>));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printf</a:t>
            </a:r>
            <a:r>
              <a:rPr lang="ru-RU" sz="1600" dirty="0"/>
              <a:t>("Последнее изменение: %s", </a:t>
            </a:r>
            <a:r>
              <a:rPr lang="ru-RU" sz="1600" dirty="0" err="1"/>
              <a:t>ctime</a:t>
            </a:r>
            <a:r>
              <a:rPr lang="ru-RU" sz="1600" dirty="0"/>
              <a:t>(&amp;</a:t>
            </a:r>
            <a:r>
              <a:rPr lang="ru-RU" sz="1600" dirty="0" err="1"/>
              <a:t>st.st_mtime</a:t>
            </a:r>
            <a:r>
              <a:rPr lang="ru-RU" sz="1600" dirty="0"/>
              <a:t>));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printf</a:t>
            </a:r>
            <a:r>
              <a:rPr lang="ru-RU" sz="1600" dirty="0"/>
              <a:t>("Изменение </a:t>
            </a:r>
            <a:r>
              <a:rPr lang="ru-RU" sz="1600" dirty="0" err="1"/>
              <a:t>inode</a:t>
            </a:r>
            <a:r>
              <a:rPr lang="ru-RU" sz="1600" dirty="0"/>
              <a:t>:     %s", </a:t>
            </a:r>
            <a:r>
              <a:rPr lang="ru-RU" sz="1600" dirty="0" err="1"/>
              <a:t>ctime</a:t>
            </a:r>
            <a:r>
              <a:rPr lang="ru-RU" sz="1600" dirty="0"/>
              <a:t>(&amp;</a:t>
            </a:r>
            <a:r>
              <a:rPr lang="ru-RU" sz="1600" dirty="0" err="1"/>
              <a:t>st.st_ctime</a:t>
            </a:r>
            <a:r>
              <a:rPr lang="ru-RU" sz="1600" dirty="0"/>
              <a:t>));</a:t>
            </a:r>
          </a:p>
          <a:p>
            <a:pPr marL="0" indent="0">
              <a:buNone/>
            </a:pPr>
            <a:r>
              <a:rPr lang="ru-RU" sz="1600" dirty="0"/>
              <a:t>    return 0;</a:t>
            </a:r>
          </a:p>
          <a:p>
            <a:pPr marL="0" indent="0">
              <a:buNone/>
            </a:pPr>
            <a:r>
              <a:rPr lang="ru-RU" sz="1600" dirty="0"/>
              <a:t>}</a:t>
            </a:r>
          </a:p>
          <a:p>
            <a:pPr marL="0" indent="0">
              <a:buNone/>
            </a:pPr>
            <a:r>
              <a:rPr lang="ru-RU" sz="1600" b="1" dirty="0"/>
              <a:t>Что показывает:</a:t>
            </a:r>
            <a:r>
              <a:rPr lang="ru-RU" sz="1600" dirty="0"/>
              <a:t> </a:t>
            </a:r>
            <a:r>
              <a:rPr lang="ru-RU" sz="1600" dirty="0" err="1"/>
              <a:t>struct</a:t>
            </a:r>
            <a:r>
              <a:rPr lang="ru-RU" sz="1600" dirty="0"/>
              <a:t> </a:t>
            </a:r>
            <a:r>
              <a:rPr lang="ru-RU" sz="1600" dirty="0" err="1"/>
              <a:t>stat</a:t>
            </a:r>
            <a:r>
              <a:rPr lang="ru-RU" sz="1600" dirty="0"/>
              <a:t> хранит </a:t>
            </a:r>
            <a:r>
              <a:rPr lang="ru-RU" sz="1600" b="1" dirty="0"/>
              <a:t>три времени</a:t>
            </a:r>
            <a:r>
              <a:rPr lang="ru-RU" sz="1600" dirty="0"/>
              <a:t>:</a:t>
            </a:r>
          </a:p>
          <a:p>
            <a:pPr marL="0" lvl="0" indent="0">
              <a:buNone/>
            </a:pPr>
            <a:r>
              <a:rPr lang="ru-RU" sz="1600" dirty="0" err="1"/>
              <a:t>st_atime</a:t>
            </a:r>
            <a:r>
              <a:rPr lang="ru-RU" sz="1600" dirty="0"/>
              <a:t> — доступ,</a:t>
            </a:r>
          </a:p>
          <a:p>
            <a:pPr marL="0" lvl="0" indent="0">
              <a:buNone/>
            </a:pPr>
            <a:r>
              <a:rPr lang="ru-RU" sz="1600" dirty="0" err="1"/>
              <a:t>st_mtime</a:t>
            </a:r>
            <a:r>
              <a:rPr lang="ru-RU" sz="1600" dirty="0"/>
              <a:t> — изменение содержимого,</a:t>
            </a:r>
          </a:p>
          <a:p>
            <a:pPr marL="0" lvl="0" indent="0">
              <a:buNone/>
            </a:pPr>
            <a:r>
              <a:rPr lang="ru-RU" sz="1600" dirty="0" err="1"/>
              <a:t>st_ctime</a:t>
            </a:r>
            <a:r>
              <a:rPr lang="ru-RU" sz="1600" dirty="0"/>
              <a:t> — изменение </a:t>
            </a:r>
            <a:r>
              <a:rPr lang="ru-RU" sz="1600" dirty="0" err="1"/>
              <a:t>inode</a:t>
            </a:r>
            <a:r>
              <a:rPr lang="ru-RU" sz="1600" dirty="0"/>
              <a:t>.</a:t>
            </a:r>
          </a:p>
          <a:p>
            <a:pPr marL="0" indent="0">
              <a:buNone/>
            </a:pP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10415144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D5880A-9FDE-716D-12EA-0E602B03B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effectLst/>
              </a:rPr>
              <a:t>Пример 17. </a:t>
            </a:r>
            <a:r>
              <a:rPr lang="ru-RU" dirty="0" err="1">
                <a:effectLst/>
              </a:rPr>
              <a:t>fstat</a:t>
            </a:r>
            <a:r>
              <a:rPr lang="ru-RU" dirty="0">
                <a:effectLst/>
              </a:rPr>
              <a:t> — метаданные по дескриптору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CCB8EAE-4BF1-065D-F9BB-E7262CC744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ru-RU" sz="1600" dirty="0"/>
              <a:t>#include &lt;</a:t>
            </a:r>
            <a:r>
              <a:rPr lang="ru-RU" sz="1600" dirty="0" err="1"/>
              <a:t>fcntl.h</a:t>
            </a:r>
            <a:r>
              <a:rPr lang="ru-RU" sz="1600" dirty="0"/>
              <a:t>&gt;</a:t>
            </a:r>
          </a:p>
          <a:p>
            <a:pPr marL="0" indent="0">
              <a:buNone/>
            </a:pPr>
            <a:r>
              <a:rPr lang="ru-RU" sz="1600" dirty="0"/>
              <a:t>#include &lt;</a:t>
            </a:r>
            <a:r>
              <a:rPr lang="ru-RU" sz="1600" dirty="0" err="1"/>
              <a:t>sys</a:t>
            </a:r>
            <a:r>
              <a:rPr lang="ru-RU" sz="1600" dirty="0"/>
              <a:t>/</a:t>
            </a:r>
            <a:r>
              <a:rPr lang="ru-RU" sz="1600" dirty="0" err="1"/>
              <a:t>stat.h</a:t>
            </a:r>
            <a:r>
              <a:rPr lang="ru-RU" sz="1600" dirty="0"/>
              <a:t>&gt;</a:t>
            </a:r>
          </a:p>
          <a:p>
            <a:pPr marL="0" indent="0">
              <a:buNone/>
            </a:pPr>
            <a:r>
              <a:rPr lang="ru-RU" sz="1600" dirty="0"/>
              <a:t>#include &lt;</a:t>
            </a:r>
            <a:r>
              <a:rPr lang="ru-RU" sz="1600" dirty="0" err="1"/>
              <a:t>unistd.h</a:t>
            </a:r>
            <a:r>
              <a:rPr lang="ru-RU" sz="1600" dirty="0"/>
              <a:t>&gt;</a:t>
            </a:r>
          </a:p>
          <a:p>
            <a:pPr marL="0" indent="0">
              <a:buNone/>
            </a:pPr>
            <a:r>
              <a:rPr lang="ru-RU" sz="1600" dirty="0"/>
              <a:t>#include &lt;</a:t>
            </a:r>
            <a:r>
              <a:rPr lang="ru-RU" sz="1600" dirty="0" err="1"/>
              <a:t>stdio.h</a:t>
            </a:r>
            <a:r>
              <a:rPr lang="ru-RU" sz="1600" dirty="0"/>
              <a:t>&gt;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 err="1"/>
              <a:t>int</a:t>
            </a:r>
            <a:r>
              <a:rPr lang="ru-RU" sz="1600" dirty="0"/>
              <a:t> main(</a:t>
            </a:r>
            <a:r>
              <a:rPr lang="ru-RU" sz="1600" dirty="0" err="1"/>
              <a:t>void</a:t>
            </a:r>
            <a:r>
              <a:rPr lang="ru-RU" sz="1600" dirty="0"/>
              <a:t>) {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int</a:t>
            </a:r>
            <a:r>
              <a:rPr lang="ru-RU" sz="1600" dirty="0"/>
              <a:t> </a:t>
            </a:r>
            <a:r>
              <a:rPr lang="ru-RU" sz="1600" dirty="0" err="1"/>
              <a:t>fd</a:t>
            </a:r>
            <a:r>
              <a:rPr lang="ru-RU" sz="1600" dirty="0"/>
              <a:t> = </a:t>
            </a:r>
            <a:r>
              <a:rPr lang="ru-RU" sz="1600" dirty="0" err="1"/>
              <a:t>open</a:t>
            </a:r>
            <a:r>
              <a:rPr lang="ru-RU" sz="1600" dirty="0"/>
              <a:t>("hello.txt", O_RDONLY);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if</a:t>
            </a:r>
            <a:r>
              <a:rPr lang="ru-RU" sz="1600" dirty="0"/>
              <a:t> (</a:t>
            </a:r>
            <a:r>
              <a:rPr lang="ru-RU" sz="1600" dirty="0" err="1"/>
              <a:t>fd</a:t>
            </a:r>
            <a:r>
              <a:rPr lang="ru-RU" sz="1600" dirty="0"/>
              <a:t> == -1) return 1;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struct</a:t>
            </a:r>
            <a:r>
              <a:rPr lang="ru-RU" sz="1600" dirty="0"/>
              <a:t> </a:t>
            </a:r>
            <a:r>
              <a:rPr lang="ru-RU" sz="1600" dirty="0" err="1"/>
              <a:t>stat</a:t>
            </a:r>
            <a:r>
              <a:rPr lang="ru-RU" sz="1600" dirty="0"/>
              <a:t> </a:t>
            </a:r>
            <a:r>
              <a:rPr lang="ru-RU" sz="1600" dirty="0" err="1"/>
              <a:t>st</a:t>
            </a:r>
            <a:r>
              <a:rPr lang="ru-RU" sz="1600" dirty="0"/>
              <a:t>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if</a:t>
            </a:r>
            <a:r>
              <a:rPr lang="ru-RU" sz="1600" dirty="0"/>
              <a:t> (</a:t>
            </a:r>
            <a:r>
              <a:rPr lang="ru-RU" sz="1600" dirty="0" err="1"/>
              <a:t>fstat</a:t>
            </a:r>
            <a:r>
              <a:rPr lang="ru-RU" sz="1600" dirty="0"/>
              <a:t>(</a:t>
            </a:r>
            <a:r>
              <a:rPr lang="ru-RU" sz="1600" dirty="0" err="1"/>
              <a:t>fd</a:t>
            </a:r>
            <a:r>
              <a:rPr lang="ru-RU" sz="1600" dirty="0"/>
              <a:t>, &amp;</a:t>
            </a:r>
            <a:r>
              <a:rPr lang="ru-RU" sz="1600" dirty="0" err="1"/>
              <a:t>st</a:t>
            </a:r>
            <a:r>
              <a:rPr lang="ru-RU" sz="1600" dirty="0"/>
              <a:t>) == -1) return 1;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printf</a:t>
            </a:r>
            <a:r>
              <a:rPr lang="ru-RU" sz="1600" dirty="0"/>
              <a:t>("Размер: %</a:t>
            </a:r>
            <a:r>
              <a:rPr lang="ru-RU" sz="1600" dirty="0" err="1"/>
              <a:t>ld</a:t>
            </a:r>
            <a:r>
              <a:rPr lang="ru-RU" sz="1600" dirty="0"/>
              <a:t>\n", (</a:t>
            </a:r>
            <a:r>
              <a:rPr lang="ru-RU" sz="1600" dirty="0" err="1"/>
              <a:t>long</a:t>
            </a:r>
            <a:r>
              <a:rPr lang="ru-RU" sz="1600" dirty="0"/>
              <a:t>)</a:t>
            </a:r>
            <a:r>
              <a:rPr lang="ru-RU" sz="1600" dirty="0" err="1"/>
              <a:t>st.st_size</a:t>
            </a:r>
            <a:r>
              <a:rPr lang="ru-RU" sz="1600" dirty="0"/>
              <a:t>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close</a:t>
            </a:r>
            <a:r>
              <a:rPr lang="ru-RU" sz="1600" dirty="0"/>
              <a:t>(</a:t>
            </a:r>
            <a:r>
              <a:rPr lang="ru-RU" sz="1600" dirty="0" err="1"/>
              <a:t>fd</a:t>
            </a:r>
            <a:r>
              <a:rPr lang="ru-RU" sz="1600" dirty="0"/>
              <a:t>);</a:t>
            </a:r>
          </a:p>
          <a:p>
            <a:pPr marL="0" indent="0">
              <a:buNone/>
            </a:pPr>
            <a:r>
              <a:rPr lang="ru-RU" sz="1600" dirty="0"/>
              <a:t>    return 0;</a:t>
            </a:r>
          </a:p>
          <a:p>
            <a:pPr marL="0" indent="0">
              <a:buNone/>
            </a:pPr>
            <a:r>
              <a:rPr lang="ru-RU" sz="1600" dirty="0"/>
              <a:t>}</a:t>
            </a:r>
          </a:p>
          <a:p>
            <a:pPr marL="0" indent="0">
              <a:buNone/>
            </a:pPr>
            <a:r>
              <a:rPr lang="ru-RU" sz="1600" b="1" dirty="0"/>
              <a:t>Что показывает:</a:t>
            </a:r>
            <a:r>
              <a:rPr lang="ru-RU" sz="1600" dirty="0"/>
              <a:t> </a:t>
            </a:r>
            <a:r>
              <a:rPr lang="ru-RU" sz="1600" dirty="0" err="1"/>
              <a:t>fstat</a:t>
            </a:r>
            <a:r>
              <a:rPr lang="ru-RU" sz="1600" dirty="0"/>
              <a:t> работает </a:t>
            </a:r>
            <a:r>
              <a:rPr lang="ru-RU" sz="1600" b="1" dirty="0"/>
              <a:t>по дескриптору</a:t>
            </a:r>
            <a:r>
              <a:rPr lang="ru-RU" sz="1600" dirty="0"/>
              <a:t>, а не по имени файла. Полезно, когда файл уже открыт.</a:t>
            </a:r>
          </a:p>
          <a:p>
            <a:pPr marL="0" indent="0">
              <a:buNone/>
            </a:pP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1390758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4737450-6D3C-5D97-D813-F58D0F2D325C}"/>
              </a:ext>
            </a:extLst>
          </p:cNvPr>
          <p:cNvSpPr txBox="1"/>
          <p:nvPr/>
        </p:nvSpPr>
        <p:spPr>
          <a:xfrm>
            <a:off x="807720" y="640080"/>
            <a:ext cx="833628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ru-RU" sz="6600" b="1" i="0" dirty="0">
                <a:solidFill>
                  <a:schemeClr val="tx2">
                    <a:lumMod val="75000"/>
                  </a:schemeClr>
                </a:solidFill>
                <a:effectLst/>
                <a:latin typeface="+mn-lt"/>
              </a:rPr>
              <a:t>Часть 4. Специальные структуры (примеры 18–20)</a:t>
            </a:r>
            <a:endParaRPr lang="ru-RU" sz="6600" b="1" i="0" dirty="0">
              <a:solidFill>
                <a:schemeClr val="tx2">
                  <a:lumMod val="75000"/>
                </a:schemeClr>
              </a:solidFill>
              <a:effectLst/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25896512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6E1374-5263-9D3E-BF25-02A697E5A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18. Структура DIR для каталогов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C40FE2D-EEB2-BAFB-DE98-785254D1EF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stdio.h</a:t>
            </a:r>
            <a:r>
              <a:rPr lang="ru-RU" dirty="0"/>
              <a:t>&gt;</a:t>
            </a:r>
          </a:p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dirent.h</a:t>
            </a:r>
            <a:r>
              <a:rPr lang="ru-RU" dirty="0"/>
              <a:t>&gt;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err="1"/>
              <a:t>int</a:t>
            </a:r>
            <a:r>
              <a:rPr lang="ru-RU" dirty="0"/>
              <a:t> main(</a:t>
            </a:r>
            <a:r>
              <a:rPr lang="ru-RU" dirty="0" err="1"/>
              <a:t>void</a:t>
            </a:r>
            <a:r>
              <a:rPr lang="ru-RU" dirty="0"/>
              <a:t>) {</a:t>
            </a:r>
          </a:p>
          <a:p>
            <a:pPr marL="0" indent="0">
              <a:buNone/>
            </a:pPr>
            <a:r>
              <a:rPr lang="ru-RU" dirty="0"/>
              <a:t>    DIR *</a:t>
            </a:r>
            <a:r>
              <a:rPr lang="ru-RU" dirty="0" err="1"/>
              <a:t>dir</a:t>
            </a:r>
            <a:r>
              <a:rPr lang="ru-RU" dirty="0"/>
              <a:t> = </a:t>
            </a:r>
            <a:r>
              <a:rPr lang="ru-RU" dirty="0" err="1"/>
              <a:t>opendir</a:t>
            </a:r>
            <a:r>
              <a:rPr lang="ru-RU" dirty="0"/>
              <a:t>(".");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if</a:t>
            </a:r>
            <a:r>
              <a:rPr lang="ru-RU" dirty="0"/>
              <a:t> (!</a:t>
            </a:r>
            <a:r>
              <a:rPr lang="ru-RU" dirty="0" err="1"/>
              <a:t>dir</a:t>
            </a:r>
            <a:r>
              <a:rPr lang="ru-RU" dirty="0"/>
              <a:t>) return 1;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struct</a:t>
            </a:r>
            <a:r>
              <a:rPr lang="ru-RU" dirty="0"/>
              <a:t> </a:t>
            </a:r>
            <a:r>
              <a:rPr lang="ru-RU" dirty="0" err="1"/>
              <a:t>dirent</a:t>
            </a:r>
            <a:r>
              <a:rPr lang="ru-RU" dirty="0"/>
              <a:t> *</a:t>
            </a:r>
            <a:r>
              <a:rPr lang="ru-RU" dirty="0" err="1"/>
              <a:t>entry</a:t>
            </a:r>
            <a:r>
              <a:rPr lang="ru-RU" dirty="0"/>
              <a:t>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while</a:t>
            </a:r>
            <a:r>
              <a:rPr lang="ru-RU" dirty="0"/>
              <a:t> ((</a:t>
            </a:r>
            <a:r>
              <a:rPr lang="ru-RU" dirty="0" err="1"/>
              <a:t>entry</a:t>
            </a:r>
            <a:r>
              <a:rPr lang="ru-RU" dirty="0"/>
              <a:t> = </a:t>
            </a:r>
            <a:r>
              <a:rPr lang="ru-RU" dirty="0" err="1"/>
              <a:t>readdir</a:t>
            </a:r>
            <a:r>
              <a:rPr lang="ru-RU" dirty="0"/>
              <a:t>(</a:t>
            </a:r>
            <a:r>
              <a:rPr lang="ru-RU" dirty="0" err="1"/>
              <a:t>dir</a:t>
            </a:r>
            <a:r>
              <a:rPr lang="ru-RU" dirty="0"/>
              <a:t>)) != NULL)</a:t>
            </a:r>
          </a:p>
          <a:p>
            <a:pPr marL="0" indent="0">
              <a:buNone/>
            </a:pPr>
            <a:r>
              <a:rPr lang="ru-RU" dirty="0"/>
              <a:t>        </a:t>
            </a:r>
            <a:r>
              <a:rPr lang="ru-RU" dirty="0" err="1"/>
              <a:t>printf</a:t>
            </a:r>
            <a:r>
              <a:rPr lang="ru-RU" dirty="0"/>
              <a:t>("%s\n", </a:t>
            </a:r>
            <a:r>
              <a:rPr lang="ru-RU" dirty="0" err="1"/>
              <a:t>entry</a:t>
            </a:r>
            <a:r>
              <a:rPr lang="ru-RU" dirty="0"/>
              <a:t>-&gt;</a:t>
            </a:r>
            <a:r>
              <a:rPr lang="ru-RU" dirty="0" err="1"/>
              <a:t>d_name</a:t>
            </a:r>
            <a:r>
              <a:rPr lang="ru-RU" dirty="0"/>
              <a:t>);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closedir</a:t>
            </a:r>
            <a:r>
              <a:rPr lang="ru-RU" dirty="0"/>
              <a:t>(</a:t>
            </a:r>
            <a:r>
              <a:rPr lang="ru-RU" dirty="0" err="1"/>
              <a:t>dir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dirty="0"/>
              <a:t>    return 0;</a:t>
            </a:r>
          </a:p>
          <a:p>
            <a:pPr marL="0" indent="0">
              <a:buNone/>
            </a:pPr>
            <a:r>
              <a:rPr lang="ru-RU" dirty="0"/>
              <a:t>}</a:t>
            </a:r>
          </a:p>
          <a:p>
            <a:pPr marL="0" indent="0">
              <a:buNone/>
            </a:pPr>
            <a:r>
              <a:rPr lang="ru-RU" b="1" dirty="0"/>
              <a:t>Что показывает:</a:t>
            </a:r>
            <a:r>
              <a:rPr lang="ru-RU" dirty="0"/>
              <a:t> для каталогов используется </a:t>
            </a:r>
            <a:r>
              <a:rPr lang="ru-RU" b="1" dirty="0"/>
              <a:t>своя структура</a:t>
            </a:r>
            <a:r>
              <a:rPr lang="ru-RU" dirty="0"/>
              <a:t> — DIR и </a:t>
            </a:r>
            <a:r>
              <a:rPr lang="ru-RU" dirty="0" err="1"/>
              <a:t>struct</a:t>
            </a:r>
            <a:r>
              <a:rPr lang="ru-RU" dirty="0"/>
              <a:t> </a:t>
            </a:r>
            <a:r>
              <a:rPr lang="ru-RU" dirty="0" err="1"/>
              <a:t>dirent</a:t>
            </a:r>
            <a:r>
              <a:rPr lang="ru-RU" dirty="0"/>
              <a:t>. Поле </a:t>
            </a:r>
            <a:r>
              <a:rPr lang="ru-RU" dirty="0" err="1"/>
              <a:t>d_name</a:t>
            </a:r>
            <a:r>
              <a:rPr lang="ru-RU" dirty="0"/>
              <a:t> хранит имя файла.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38105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ED7ADE-8885-FBEA-86D6-2CD9CD400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effectLst/>
              </a:rPr>
              <a:t>Пример 19. Структура </a:t>
            </a:r>
            <a:r>
              <a:rPr lang="ru-RU" dirty="0" err="1">
                <a:effectLst/>
              </a:rPr>
              <a:t>passwd</a:t>
            </a:r>
            <a:r>
              <a:rPr lang="ru-RU" dirty="0">
                <a:effectLst/>
              </a:rPr>
              <a:t> — информация о пользователе</a:t>
            </a:r>
            <a:br>
              <a:rPr lang="ru-RU" dirty="0">
                <a:effectLst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F33130A-96DF-DD63-E54F-BF7B472748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stdio.h</a:t>
            </a:r>
            <a:r>
              <a:rPr lang="ru-RU" dirty="0"/>
              <a:t>&gt;</a:t>
            </a:r>
          </a:p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pwd.h</a:t>
            </a:r>
            <a:r>
              <a:rPr lang="ru-RU" dirty="0"/>
              <a:t>&gt;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err="1"/>
              <a:t>int</a:t>
            </a:r>
            <a:r>
              <a:rPr lang="ru-RU" dirty="0"/>
              <a:t> main(</a:t>
            </a:r>
            <a:r>
              <a:rPr lang="ru-RU" dirty="0" err="1"/>
              <a:t>void</a:t>
            </a:r>
            <a:r>
              <a:rPr lang="ru-RU" dirty="0"/>
              <a:t>) {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struct</a:t>
            </a:r>
            <a:r>
              <a:rPr lang="ru-RU" dirty="0"/>
              <a:t> </a:t>
            </a:r>
            <a:r>
              <a:rPr lang="ru-RU" dirty="0" err="1"/>
              <a:t>passwd</a:t>
            </a:r>
            <a:r>
              <a:rPr lang="ru-RU" dirty="0"/>
              <a:t> *</a:t>
            </a:r>
            <a:r>
              <a:rPr lang="ru-RU" dirty="0" err="1"/>
              <a:t>pw</a:t>
            </a:r>
            <a:r>
              <a:rPr lang="ru-RU" dirty="0"/>
              <a:t> = </a:t>
            </a:r>
            <a:r>
              <a:rPr lang="ru-RU" dirty="0" err="1"/>
              <a:t>getpwuid</a:t>
            </a:r>
            <a:r>
              <a:rPr lang="ru-RU" dirty="0"/>
              <a:t>(</a:t>
            </a:r>
            <a:r>
              <a:rPr lang="ru-RU" dirty="0" err="1"/>
              <a:t>getuid</a:t>
            </a:r>
            <a:r>
              <a:rPr lang="ru-RU" dirty="0"/>
              <a:t>());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if</a:t>
            </a:r>
            <a:r>
              <a:rPr lang="ru-RU" dirty="0"/>
              <a:t> (!</a:t>
            </a:r>
            <a:r>
              <a:rPr lang="ru-RU" dirty="0" err="1"/>
              <a:t>pw</a:t>
            </a:r>
            <a:r>
              <a:rPr lang="ru-RU" dirty="0"/>
              <a:t>) return 1;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printf</a:t>
            </a:r>
            <a:r>
              <a:rPr lang="ru-RU" dirty="0"/>
              <a:t>("Пользователь: %s\n", </a:t>
            </a:r>
            <a:r>
              <a:rPr lang="ru-RU" dirty="0" err="1"/>
              <a:t>pw</a:t>
            </a:r>
            <a:r>
              <a:rPr lang="ru-RU" dirty="0"/>
              <a:t>-&gt;</a:t>
            </a:r>
            <a:r>
              <a:rPr lang="ru-RU" dirty="0" err="1"/>
              <a:t>pw_name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printf</a:t>
            </a:r>
            <a:r>
              <a:rPr lang="ru-RU" dirty="0"/>
              <a:t>("UID: %d\n", </a:t>
            </a:r>
            <a:r>
              <a:rPr lang="ru-RU" dirty="0" err="1"/>
              <a:t>pw</a:t>
            </a:r>
            <a:r>
              <a:rPr lang="ru-RU" dirty="0"/>
              <a:t>-&gt;</a:t>
            </a:r>
            <a:r>
              <a:rPr lang="ru-RU" dirty="0" err="1"/>
              <a:t>pw_uid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printf</a:t>
            </a:r>
            <a:r>
              <a:rPr lang="ru-RU" dirty="0"/>
              <a:t>("Домашний каталог: %s\n", </a:t>
            </a:r>
            <a:r>
              <a:rPr lang="ru-RU" dirty="0" err="1"/>
              <a:t>pw</a:t>
            </a:r>
            <a:r>
              <a:rPr lang="ru-RU" dirty="0"/>
              <a:t>-&gt;</a:t>
            </a:r>
            <a:r>
              <a:rPr lang="ru-RU" dirty="0" err="1"/>
              <a:t>pw_dir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dirty="0"/>
              <a:t>    return 0;</a:t>
            </a:r>
          </a:p>
          <a:p>
            <a:pPr marL="0" indent="0">
              <a:buNone/>
            </a:pPr>
            <a:r>
              <a:rPr lang="ru-RU" dirty="0"/>
              <a:t>}</a:t>
            </a:r>
          </a:p>
          <a:p>
            <a:pPr marL="0" indent="0">
              <a:buNone/>
            </a:pPr>
            <a:r>
              <a:rPr lang="ru-RU" b="1" dirty="0"/>
              <a:t>Что показывает:</a:t>
            </a:r>
            <a:r>
              <a:rPr lang="ru-RU" dirty="0"/>
              <a:t> в системе есть </a:t>
            </a:r>
            <a:r>
              <a:rPr lang="ru-RU" b="1" dirty="0"/>
              <a:t>другие структуры</a:t>
            </a:r>
            <a:r>
              <a:rPr lang="ru-RU" dirty="0"/>
              <a:t> для информации о пользователях, группах, устройствах. </a:t>
            </a:r>
            <a:r>
              <a:rPr lang="ru-RU" dirty="0" err="1"/>
              <a:t>struct</a:t>
            </a:r>
            <a:r>
              <a:rPr lang="ru-RU" dirty="0"/>
              <a:t> </a:t>
            </a:r>
            <a:r>
              <a:rPr lang="ru-RU" dirty="0" err="1"/>
              <a:t>passwd</a:t>
            </a:r>
            <a:r>
              <a:rPr lang="ru-RU" dirty="0"/>
              <a:t> — одна из них.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23346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301CD7-E8BC-8215-8EB0-7EE464AE1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20. Сводная информация о файле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0BA86A-A2CF-9B5B-3E3C-F5052BCA7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ru-RU" sz="1400" dirty="0"/>
              <a:t>#include &lt;</a:t>
            </a:r>
            <a:r>
              <a:rPr lang="ru-RU" sz="1400" dirty="0" err="1"/>
              <a:t>stdio.h</a:t>
            </a:r>
            <a:r>
              <a:rPr lang="ru-RU" sz="1400" dirty="0"/>
              <a:t>&gt;</a:t>
            </a:r>
          </a:p>
          <a:p>
            <a:pPr marL="0" indent="0">
              <a:buNone/>
            </a:pPr>
            <a:r>
              <a:rPr lang="ru-RU" sz="1400" dirty="0"/>
              <a:t>#include &lt;</a:t>
            </a:r>
            <a:r>
              <a:rPr lang="ru-RU" sz="1400" dirty="0" err="1"/>
              <a:t>sys</a:t>
            </a:r>
            <a:r>
              <a:rPr lang="ru-RU" sz="1400" dirty="0"/>
              <a:t>/</a:t>
            </a:r>
            <a:r>
              <a:rPr lang="ru-RU" sz="1400" dirty="0" err="1"/>
              <a:t>stat.h</a:t>
            </a:r>
            <a:r>
              <a:rPr lang="ru-RU" sz="1400" dirty="0"/>
              <a:t>&gt;</a:t>
            </a:r>
          </a:p>
          <a:p>
            <a:pPr marL="0" indent="0">
              <a:buNone/>
            </a:pPr>
            <a:endParaRPr lang="ru-RU" sz="1400" dirty="0"/>
          </a:p>
          <a:p>
            <a:pPr marL="0" indent="0">
              <a:buNone/>
            </a:pPr>
            <a:r>
              <a:rPr lang="ru-RU" sz="1400" dirty="0" err="1"/>
              <a:t>int</a:t>
            </a:r>
            <a:r>
              <a:rPr lang="ru-RU" sz="1400" dirty="0"/>
              <a:t> main(</a:t>
            </a:r>
            <a:r>
              <a:rPr lang="ru-RU" sz="1400" dirty="0" err="1"/>
              <a:t>void</a:t>
            </a:r>
            <a:r>
              <a:rPr lang="ru-RU" sz="1400" dirty="0"/>
              <a:t>) {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struct</a:t>
            </a:r>
            <a:r>
              <a:rPr lang="ru-RU" sz="1400" dirty="0"/>
              <a:t> </a:t>
            </a:r>
            <a:r>
              <a:rPr lang="ru-RU" sz="1400" dirty="0" err="1"/>
              <a:t>stat</a:t>
            </a:r>
            <a:r>
              <a:rPr lang="ru-RU" sz="1400" dirty="0"/>
              <a:t> </a:t>
            </a:r>
            <a:r>
              <a:rPr lang="ru-RU" sz="1400" dirty="0" err="1"/>
              <a:t>st</a:t>
            </a:r>
            <a:r>
              <a:rPr lang="ru-RU" sz="1400" dirty="0"/>
              <a:t>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if</a:t>
            </a:r>
            <a:r>
              <a:rPr lang="ru-RU" sz="1400" dirty="0"/>
              <a:t> (</a:t>
            </a:r>
            <a:r>
              <a:rPr lang="ru-RU" sz="1400" dirty="0" err="1"/>
              <a:t>stat</a:t>
            </a:r>
            <a:r>
              <a:rPr lang="ru-RU" sz="1400" dirty="0"/>
              <a:t>("hello.txt", &amp;</a:t>
            </a:r>
            <a:r>
              <a:rPr lang="ru-RU" sz="1400" dirty="0" err="1"/>
              <a:t>st</a:t>
            </a:r>
            <a:r>
              <a:rPr lang="ru-RU" sz="1400" dirty="0"/>
              <a:t>) == -1) return 1;</a:t>
            </a:r>
          </a:p>
          <a:p>
            <a:pPr marL="0" indent="0">
              <a:buNone/>
            </a:pPr>
            <a:endParaRPr lang="ru-RU" sz="1400" dirty="0"/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printf</a:t>
            </a:r>
            <a:r>
              <a:rPr lang="ru-RU" sz="1400" dirty="0"/>
              <a:t>("=== Информация о файле ===\n");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printf</a:t>
            </a:r>
            <a:r>
              <a:rPr lang="ru-RU" sz="1400" dirty="0"/>
              <a:t>("Размер:       %</a:t>
            </a:r>
            <a:r>
              <a:rPr lang="ru-RU" sz="1400" dirty="0" err="1"/>
              <a:t>ld</a:t>
            </a:r>
            <a:r>
              <a:rPr lang="ru-RU" sz="1400" dirty="0"/>
              <a:t> байт\n", (</a:t>
            </a:r>
            <a:r>
              <a:rPr lang="ru-RU" sz="1400" dirty="0" err="1"/>
              <a:t>long</a:t>
            </a:r>
            <a:r>
              <a:rPr lang="ru-RU" sz="1400" dirty="0"/>
              <a:t>)</a:t>
            </a:r>
            <a:r>
              <a:rPr lang="ru-RU" sz="1400" dirty="0" err="1"/>
              <a:t>st.st_size</a:t>
            </a:r>
            <a:r>
              <a:rPr lang="ru-RU" sz="1400" dirty="0"/>
              <a:t>);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printf</a:t>
            </a:r>
            <a:r>
              <a:rPr lang="ru-RU" sz="1400" dirty="0"/>
              <a:t>("</a:t>
            </a:r>
            <a:r>
              <a:rPr lang="ru-RU" sz="1400" dirty="0" err="1"/>
              <a:t>Inode</a:t>
            </a:r>
            <a:r>
              <a:rPr lang="ru-RU" sz="1400" dirty="0"/>
              <a:t>:        %</a:t>
            </a:r>
            <a:r>
              <a:rPr lang="ru-RU" sz="1400" dirty="0" err="1"/>
              <a:t>ld</a:t>
            </a:r>
            <a:r>
              <a:rPr lang="ru-RU" sz="1400" dirty="0"/>
              <a:t>\n", (</a:t>
            </a:r>
            <a:r>
              <a:rPr lang="ru-RU" sz="1400" dirty="0" err="1"/>
              <a:t>long</a:t>
            </a:r>
            <a:r>
              <a:rPr lang="ru-RU" sz="1400" dirty="0"/>
              <a:t>)</a:t>
            </a:r>
            <a:r>
              <a:rPr lang="ru-RU" sz="1400" dirty="0" err="1"/>
              <a:t>st.st_ino</a:t>
            </a:r>
            <a:r>
              <a:rPr lang="ru-RU" sz="1400" dirty="0"/>
              <a:t>);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printf</a:t>
            </a:r>
            <a:r>
              <a:rPr lang="ru-RU" sz="1400" dirty="0"/>
              <a:t>("Устройство:   %</a:t>
            </a:r>
            <a:r>
              <a:rPr lang="ru-RU" sz="1400" dirty="0" err="1"/>
              <a:t>ld</a:t>
            </a:r>
            <a:r>
              <a:rPr lang="ru-RU" sz="1400" dirty="0"/>
              <a:t>\n", (</a:t>
            </a:r>
            <a:r>
              <a:rPr lang="ru-RU" sz="1400" dirty="0" err="1"/>
              <a:t>long</a:t>
            </a:r>
            <a:r>
              <a:rPr lang="ru-RU" sz="1400" dirty="0"/>
              <a:t>)</a:t>
            </a:r>
            <a:r>
              <a:rPr lang="ru-RU" sz="1400" dirty="0" err="1"/>
              <a:t>st.st_dev</a:t>
            </a:r>
            <a:r>
              <a:rPr lang="ru-RU" sz="1400" dirty="0"/>
              <a:t>);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printf</a:t>
            </a:r>
            <a:r>
              <a:rPr lang="ru-RU" sz="1400" dirty="0"/>
              <a:t>("Ссылок:       %</a:t>
            </a:r>
            <a:r>
              <a:rPr lang="ru-RU" sz="1400" dirty="0" err="1"/>
              <a:t>ld</a:t>
            </a:r>
            <a:r>
              <a:rPr lang="ru-RU" sz="1400" dirty="0"/>
              <a:t>\n", (</a:t>
            </a:r>
            <a:r>
              <a:rPr lang="ru-RU" sz="1400" dirty="0" err="1"/>
              <a:t>long</a:t>
            </a:r>
            <a:r>
              <a:rPr lang="ru-RU" sz="1400" dirty="0"/>
              <a:t>)</a:t>
            </a:r>
            <a:r>
              <a:rPr lang="ru-RU" sz="1400" dirty="0" err="1"/>
              <a:t>st.st_nlink</a:t>
            </a:r>
            <a:r>
              <a:rPr lang="ru-RU" sz="1400" dirty="0"/>
              <a:t>);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printf</a:t>
            </a:r>
            <a:r>
              <a:rPr lang="ru-RU" sz="1400" dirty="0"/>
              <a:t>("UID:          %d\n", </a:t>
            </a:r>
            <a:r>
              <a:rPr lang="ru-RU" sz="1400" dirty="0" err="1"/>
              <a:t>st.st_uid</a:t>
            </a:r>
            <a:r>
              <a:rPr lang="ru-RU" sz="1400" dirty="0"/>
              <a:t>);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printf</a:t>
            </a:r>
            <a:r>
              <a:rPr lang="ru-RU" sz="1400" dirty="0"/>
              <a:t>("GID:          %d\n", </a:t>
            </a:r>
            <a:r>
              <a:rPr lang="ru-RU" sz="1400" dirty="0" err="1"/>
              <a:t>st.st_gid</a:t>
            </a:r>
            <a:r>
              <a:rPr lang="ru-RU" sz="1400" dirty="0"/>
              <a:t>);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printf</a:t>
            </a:r>
            <a:r>
              <a:rPr lang="ru-RU" sz="1400" dirty="0"/>
              <a:t>("Блоков:       %</a:t>
            </a:r>
            <a:r>
              <a:rPr lang="ru-RU" sz="1400" dirty="0" err="1"/>
              <a:t>ld</a:t>
            </a:r>
            <a:r>
              <a:rPr lang="ru-RU" sz="1400" dirty="0"/>
              <a:t>\n", (</a:t>
            </a:r>
            <a:r>
              <a:rPr lang="ru-RU" sz="1400" dirty="0" err="1"/>
              <a:t>long</a:t>
            </a:r>
            <a:r>
              <a:rPr lang="ru-RU" sz="1400" dirty="0"/>
              <a:t>)</a:t>
            </a:r>
            <a:r>
              <a:rPr lang="ru-RU" sz="1400" dirty="0" err="1"/>
              <a:t>st.st_blocks</a:t>
            </a:r>
            <a:r>
              <a:rPr lang="ru-RU" sz="1400" dirty="0"/>
              <a:t>);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printf</a:t>
            </a:r>
            <a:r>
              <a:rPr lang="ru-RU" sz="1400" dirty="0"/>
              <a:t>("Размер блока: %</a:t>
            </a:r>
            <a:r>
              <a:rPr lang="ru-RU" sz="1400" dirty="0" err="1"/>
              <a:t>ld</a:t>
            </a:r>
            <a:r>
              <a:rPr lang="ru-RU" sz="1400" dirty="0"/>
              <a:t>\n", (</a:t>
            </a:r>
            <a:r>
              <a:rPr lang="ru-RU" sz="1400" dirty="0" err="1"/>
              <a:t>long</a:t>
            </a:r>
            <a:r>
              <a:rPr lang="ru-RU" sz="1400" dirty="0"/>
              <a:t>)</a:t>
            </a:r>
            <a:r>
              <a:rPr lang="ru-RU" sz="1400" dirty="0" err="1"/>
              <a:t>st.st_blksize</a:t>
            </a:r>
            <a:r>
              <a:rPr lang="ru-RU" sz="1400" dirty="0"/>
              <a:t>);</a:t>
            </a:r>
          </a:p>
          <a:p>
            <a:pPr marL="0" indent="0">
              <a:buNone/>
            </a:pPr>
            <a:endParaRPr lang="ru-RU" sz="1400" dirty="0"/>
          </a:p>
          <a:p>
            <a:pPr marL="0" indent="0">
              <a:buNone/>
            </a:pPr>
            <a:r>
              <a:rPr lang="ru-RU" sz="1400" dirty="0"/>
              <a:t>    return 0;</a:t>
            </a:r>
          </a:p>
          <a:p>
            <a:pPr marL="0" indent="0">
              <a:buNone/>
            </a:pPr>
            <a:r>
              <a:rPr lang="ru-RU" sz="1400" dirty="0"/>
              <a:t>}</a:t>
            </a:r>
          </a:p>
          <a:p>
            <a:pPr marL="0" indent="0">
              <a:buNone/>
            </a:pPr>
            <a:r>
              <a:rPr lang="ru-RU" sz="1400" b="1" dirty="0"/>
              <a:t>Что показывает:</a:t>
            </a:r>
            <a:r>
              <a:rPr lang="ru-RU" sz="1400" dirty="0"/>
              <a:t> все основные поля </a:t>
            </a:r>
            <a:r>
              <a:rPr lang="ru-RU" sz="1400" dirty="0" err="1"/>
              <a:t>struct</a:t>
            </a:r>
            <a:r>
              <a:rPr lang="ru-RU" sz="1400" dirty="0"/>
              <a:t> </a:t>
            </a:r>
            <a:r>
              <a:rPr lang="ru-RU" sz="1400" dirty="0" err="1"/>
              <a:t>stat</a:t>
            </a:r>
            <a:r>
              <a:rPr lang="ru-RU" sz="1400" dirty="0"/>
              <a:t> в одном примере — </a:t>
            </a:r>
            <a:r>
              <a:rPr lang="ru-RU" sz="1400" b="1" dirty="0"/>
              <a:t>полный «паспорт» файла</a:t>
            </a:r>
            <a:r>
              <a:rPr lang="ru-RU" sz="1400" dirty="0"/>
              <a:t>.</a:t>
            </a:r>
          </a:p>
          <a:p>
            <a:pPr marL="0" indent="0">
              <a:buNone/>
            </a:pP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3528765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C41D1F-9E73-BF7A-BEEB-66DF99B23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effectLst/>
              </a:rPr>
              <a:t>Сводная таблица: структуры и их назначение</a:t>
            </a:r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3D7BB002-341E-2437-302B-4D82269E45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58240" y="1431072"/>
            <a:ext cx="9415135" cy="4637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9283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FFFEAE-3CEC-1DF2-66C5-554FDB3ED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Что важно запомнить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A2219DA-6C84-27E0-AA4D-78F2C65294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>
              <a:buNone/>
            </a:pPr>
            <a:r>
              <a:rPr lang="ru-RU" sz="3600" b="1" dirty="0"/>
              <a:t>FILE — непрозрачная структура.</a:t>
            </a:r>
            <a:r>
              <a:rPr lang="ru-RU" sz="3600" dirty="0"/>
              <a:t> Её поля нельзя читать напрямую — только через функции.</a:t>
            </a:r>
          </a:p>
          <a:p>
            <a:pPr marL="0" lvl="0" indent="0">
              <a:buNone/>
            </a:pPr>
            <a:r>
              <a:rPr lang="ru-RU" sz="3600" b="1" dirty="0" err="1"/>
              <a:t>struct</a:t>
            </a:r>
            <a:r>
              <a:rPr lang="ru-RU" sz="3600" b="1" dirty="0"/>
              <a:t> </a:t>
            </a:r>
            <a:r>
              <a:rPr lang="ru-RU" sz="3600" b="1" dirty="0" err="1"/>
              <a:t>stat</a:t>
            </a:r>
            <a:r>
              <a:rPr lang="ru-RU" sz="3600" dirty="0"/>
              <a:t> — основной источник </a:t>
            </a:r>
            <a:r>
              <a:rPr lang="ru-RU" sz="3600" b="1" dirty="0"/>
              <a:t>метаданных</a:t>
            </a:r>
            <a:r>
              <a:rPr lang="ru-RU" sz="3600" dirty="0"/>
              <a:t> файла.</a:t>
            </a:r>
          </a:p>
          <a:p>
            <a:pPr marL="0" lvl="0" indent="0">
              <a:buNone/>
            </a:pPr>
            <a:r>
              <a:rPr lang="ru-RU" sz="3600" b="1" dirty="0"/>
              <a:t>Дескриптор (</a:t>
            </a:r>
            <a:r>
              <a:rPr lang="ru-RU" sz="3600" b="1" dirty="0" err="1"/>
              <a:t>int</a:t>
            </a:r>
            <a:r>
              <a:rPr lang="ru-RU" sz="3600" b="1" dirty="0"/>
              <a:t> </a:t>
            </a:r>
            <a:r>
              <a:rPr lang="ru-RU" sz="3600" b="1" dirty="0" err="1"/>
              <a:t>fd</a:t>
            </a:r>
            <a:r>
              <a:rPr lang="ru-RU" sz="3600" b="1" dirty="0"/>
              <a:t>)</a:t>
            </a:r>
            <a:r>
              <a:rPr lang="ru-RU" sz="3600" dirty="0"/>
              <a:t> — низкоуровневый «пропуск» к файлу.</a:t>
            </a:r>
          </a:p>
          <a:p>
            <a:pPr marL="0" lvl="0" indent="0">
              <a:buNone/>
            </a:pPr>
            <a:r>
              <a:rPr lang="ru-RU" sz="3600" b="1" dirty="0" err="1"/>
              <a:t>fileno</a:t>
            </a:r>
            <a:r>
              <a:rPr lang="ru-RU" sz="3600" dirty="0"/>
              <a:t> связывает FILE и дескриптор.</a:t>
            </a:r>
          </a:p>
          <a:p>
            <a:pPr marL="0" lvl="0" indent="0">
              <a:buNone/>
            </a:pPr>
            <a:r>
              <a:rPr lang="ru-RU" sz="3600" b="1" dirty="0" err="1"/>
              <a:t>fdopen</a:t>
            </a:r>
            <a:r>
              <a:rPr lang="ru-RU" sz="3600" dirty="0"/>
              <a:t> делает обратное — оборачивает дескриптор в FILE.</a:t>
            </a:r>
          </a:p>
          <a:p>
            <a:pPr marL="0" indent="0">
              <a:buNone/>
            </a:pPr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55412107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C16307-A463-5B52-EF2E-7EC419912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Итог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6EAC53E-FC53-5EA2-3729-2BB0AC0EB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ru-RU" sz="3600" dirty="0"/>
              <a:t>20 примеров покрывают:</a:t>
            </a:r>
          </a:p>
          <a:p>
            <a:pPr lvl="0"/>
            <a:r>
              <a:rPr lang="ru-RU" sz="3600" b="1" dirty="0"/>
              <a:t>FILE *</a:t>
            </a:r>
            <a:r>
              <a:rPr lang="ru-RU" sz="3600" dirty="0"/>
              <a:t> — высокоуровневая структура,</a:t>
            </a:r>
          </a:p>
          <a:p>
            <a:pPr lvl="0"/>
            <a:r>
              <a:rPr lang="ru-RU" sz="3600" b="1" dirty="0"/>
              <a:t>файловые дескрипторы</a:t>
            </a:r>
            <a:r>
              <a:rPr lang="ru-RU" sz="3600" dirty="0"/>
              <a:t> — низкоуровневый доступ,</a:t>
            </a:r>
          </a:p>
          <a:p>
            <a:pPr lvl="0"/>
            <a:r>
              <a:rPr lang="ru-RU" sz="3600" b="1" dirty="0" err="1"/>
              <a:t>struct</a:t>
            </a:r>
            <a:r>
              <a:rPr lang="ru-RU" sz="3600" b="1" dirty="0"/>
              <a:t> </a:t>
            </a:r>
            <a:r>
              <a:rPr lang="ru-RU" sz="3600" b="1" dirty="0" err="1"/>
              <a:t>stat</a:t>
            </a:r>
            <a:r>
              <a:rPr lang="ru-RU" sz="3600" dirty="0"/>
              <a:t> — метаданные,</a:t>
            </a:r>
          </a:p>
          <a:p>
            <a:pPr lvl="0"/>
            <a:r>
              <a:rPr lang="ru-RU" sz="3600" b="1" dirty="0"/>
              <a:t>DIR / </a:t>
            </a:r>
            <a:r>
              <a:rPr lang="ru-RU" sz="3600" b="1" dirty="0" err="1"/>
              <a:t>dirent</a:t>
            </a:r>
            <a:r>
              <a:rPr lang="ru-RU" sz="3600" dirty="0"/>
              <a:t> — каталоги,</a:t>
            </a:r>
          </a:p>
          <a:p>
            <a:pPr lvl="0"/>
            <a:r>
              <a:rPr lang="ru-RU" sz="3600" b="1" dirty="0" err="1"/>
              <a:t>passwd</a:t>
            </a:r>
            <a:r>
              <a:rPr lang="ru-RU" sz="3600" dirty="0"/>
              <a:t> — пользователи.</a:t>
            </a:r>
          </a:p>
          <a:p>
            <a:pPr marL="0" indent="0">
              <a:buNone/>
            </a:pPr>
            <a:r>
              <a:rPr lang="ru-RU" sz="3600" dirty="0"/>
              <a:t>Эти примеры можно использовать как шаблоны. </a:t>
            </a:r>
          </a:p>
        </p:txBody>
      </p:sp>
    </p:spTree>
    <p:extLst>
      <p:ext uri="{BB962C8B-B14F-4D97-AF65-F5344CB8AC3E}">
        <p14:creationId xmlns:p14="http://schemas.microsoft.com/office/powerpoint/2010/main" val="4673544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9D110D9-93FB-672E-EF4F-BBEC76210545}"/>
              </a:ext>
            </a:extLst>
          </p:cNvPr>
          <p:cNvSpPr txBox="1"/>
          <p:nvPr/>
        </p:nvSpPr>
        <p:spPr>
          <a:xfrm>
            <a:off x="624840" y="548640"/>
            <a:ext cx="851916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1200"/>
              </a:spcAft>
              <a:buNone/>
            </a:pPr>
            <a:r>
              <a:rPr lang="ru-RU" sz="7200" b="1" i="0" dirty="0">
                <a:solidFill>
                  <a:schemeClr val="tx2">
                    <a:lumMod val="75000"/>
                  </a:schemeClr>
                </a:solidFill>
                <a:effectLst/>
                <a:latin typeface="+mn-lt"/>
              </a:rPr>
              <a:t>Функции и системные вызовы для работы с файлами»</a:t>
            </a:r>
            <a:endParaRPr lang="ru-RU" sz="7200" b="1" i="0" dirty="0">
              <a:solidFill>
                <a:schemeClr val="tx2">
                  <a:lumMod val="75000"/>
                </a:schemeClr>
              </a:solidFill>
              <a:effectLst/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34851924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6C3B39-E8F8-1924-C484-41F683D8C399}"/>
              </a:ext>
            </a:extLst>
          </p:cNvPr>
          <p:cNvSpPr txBox="1"/>
          <p:nvPr/>
        </p:nvSpPr>
        <p:spPr>
          <a:xfrm>
            <a:off x="441960" y="563880"/>
            <a:ext cx="870204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ru-RU" sz="6600" b="1" i="0" dirty="0">
                <a:solidFill>
                  <a:schemeClr val="tx2">
                    <a:lumMod val="75000"/>
                  </a:schemeClr>
                </a:solidFill>
                <a:effectLst/>
                <a:latin typeface="+mn-lt"/>
              </a:rPr>
              <a:t>Часть 1. Функции стандартной библиотеки (примеры 1–20)</a:t>
            </a:r>
            <a:endParaRPr lang="ru-RU" sz="6600" b="1" i="0" dirty="0">
              <a:solidFill>
                <a:schemeClr val="tx2">
                  <a:lumMod val="75000"/>
                </a:schemeClr>
              </a:solidFill>
              <a:effectLst/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35593397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A29926-9518-1BF4-5A57-1FF2D993E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effectLst/>
              </a:rPr>
              <a:t>Пример 1. Чтение файла посимвольно (</a:t>
            </a:r>
            <a:r>
              <a:rPr lang="ru-RU" dirty="0" err="1">
                <a:effectLst/>
              </a:rPr>
              <a:t>fgetc</a:t>
            </a:r>
            <a:r>
              <a:rPr lang="ru-RU" dirty="0">
                <a:effectLst/>
              </a:rPr>
              <a:t>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7CFAD1E-58B8-B096-25A0-BAEBA16C3F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64921"/>
            <a:ext cx="10972800" cy="486124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100" dirty="0"/>
              <a:t>#include &lt;</a:t>
            </a:r>
            <a:r>
              <a:rPr lang="ru-RU" sz="2100" dirty="0" err="1"/>
              <a:t>stdio.h</a:t>
            </a:r>
            <a:r>
              <a:rPr lang="ru-RU" sz="2100" dirty="0"/>
              <a:t>&gt;</a:t>
            </a:r>
          </a:p>
          <a:p>
            <a:pPr marL="0" indent="0">
              <a:buNone/>
            </a:pPr>
            <a:endParaRPr lang="ru-RU" sz="2100" dirty="0"/>
          </a:p>
          <a:p>
            <a:pPr marL="0" indent="0">
              <a:buNone/>
            </a:pPr>
            <a:r>
              <a:rPr lang="ru-RU" sz="2100" dirty="0" err="1"/>
              <a:t>int</a:t>
            </a:r>
            <a:r>
              <a:rPr lang="ru-RU" sz="2100" dirty="0"/>
              <a:t> main(</a:t>
            </a:r>
            <a:r>
              <a:rPr lang="ru-RU" sz="2100" dirty="0" err="1"/>
              <a:t>void</a:t>
            </a:r>
            <a:r>
              <a:rPr lang="ru-RU" sz="2100" dirty="0"/>
              <a:t>) {</a:t>
            </a:r>
          </a:p>
          <a:p>
            <a:pPr marL="0" indent="0">
              <a:buNone/>
            </a:pPr>
            <a:r>
              <a:rPr lang="ru-RU" sz="2100" dirty="0"/>
              <a:t>    FILE *</a:t>
            </a:r>
            <a:r>
              <a:rPr lang="ru-RU" sz="2100" dirty="0" err="1"/>
              <a:t>fp</a:t>
            </a:r>
            <a:r>
              <a:rPr lang="ru-RU" sz="2100" dirty="0"/>
              <a:t> = </a:t>
            </a:r>
            <a:r>
              <a:rPr lang="ru-RU" sz="2100" dirty="0" err="1"/>
              <a:t>fopen</a:t>
            </a:r>
            <a:r>
              <a:rPr lang="ru-RU" sz="2100" dirty="0"/>
              <a:t>("hello.txt", "r");</a:t>
            </a:r>
          </a:p>
          <a:p>
            <a:pPr marL="0" indent="0">
              <a:buNone/>
            </a:pPr>
            <a:r>
              <a:rPr lang="ru-RU" sz="2100" dirty="0"/>
              <a:t>    </a:t>
            </a:r>
            <a:r>
              <a:rPr lang="ru-RU" sz="2100" dirty="0" err="1"/>
              <a:t>if</a:t>
            </a:r>
            <a:r>
              <a:rPr lang="ru-RU" sz="2100" dirty="0"/>
              <a:t> (!</a:t>
            </a:r>
            <a:r>
              <a:rPr lang="ru-RU" sz="2100" dirty="0" err="1"/>
              <a:t>fp</a:t>
            </a:r>
            <a:r>
              <a:rPr lang="ru-RU" sz="2100" dirty="0"/>
              <a:t>) return 1;</a:t>
            </a:r>
          </a:p>
          <a:p>
            <a:pPr marL="0" indent="0">
              <a:buNone/>
            </a:pPr>
            <a:endParaRPr lang="ru-RU" sz="2100" dirty="0"/>
          </a:p>
          <a:p>
            <a:pPr marL="0" indent="0">
              <a:buNone/>
            </a:pPr>
            <a:r>
              <a:rPr lang="ru-RU" sz="2100" dirty="0"/>
              <a:t>    </a:t>
            </a:r>
            <a:r>
              <a:rPr lang="ru-RU" sz="2100" dirty="0" err="1"/>
              <a:t>int</a:t>
            </a:r>
            <a:r>
              <a:rPr lang="ru-RU" sz="2100" dirty="0"/>
              <a:t> c;</a:t>
            </a:r>
          </a:p>
          <a:p>
            <a:pPr marL="0" indent="0">
              <a:buNone/>
            </a:pPr>
            <a:r>
              <a:rPr lang="ru-RU" sz="2100" dirty="0"/>
              <a:t>    </a:t>
            </a:r>
            <a:r>
              <a:rPr lang="ru-RU" sz="2100" dirty="0" err="1"/>
              <a:t>while</a:t>
            </a:r>
            <a:r>
              <a:rPr lang="ru-RU" sz="2100" dirty="0"/>
              <a:t> ((c = </a:t>
            </a:r>
            <a:r>
              <a:rPr lang="ru-RU" sz="2100" dirty="0" err="1"/>
              <a:t>fgetc</a:t>
            </a:r>
            <a:r>
              <a:rPr lang="ru-RU" sz="2100" dirty="0"/>
              <a:t>(</a:t>
            </a:r>
            <a:r>
              <a:rPr lang="ru-RU" sz="2100" dirty="0" err="1"/>
              <a:t>fp</a:t>
            </a:r>
            <a:r>
              <a:rPr lang="ru-RU" sz="2100" dirty="0"/>
              <a:t>)) != EOF)</a:t>
            </a:r>
          </a:p>
          <a:p>
            <a:pPr marL="0" indent="0">
              <a:buNone/>
            </a:pPr>
            <a:r>
              <a:rPr lang="ru-RU" sz="2100" dirty="0"/>
              <a:t>        </a:t>
            </a:r>
            <a:r>
              <a:rPr lang="ru-RU" sz="2100" dirty="0" err="1"/>
              <a:t>printf</a:t>
            </a:r>
            <a:r>
              <a:rPr lang="ru-RU" sz="2100" dirty="0"/>
              <a:t>("%c", c);</a:t>
            </a:r>
          </a:p>
          <a:p>
            <a:pPr marL="0" indent="0">
              <a:buNone/>
            </a:pPr>
            <a:endParaRPr lang="ru-RU" sz="2100" dirty="0"/>
          </a:p>
          <a:p>
            <a:pPr marL="0" indent="0">
              <a:buNone/>
            </a:pPr>
            <a:r>
              <a:rPr lang="ru-RU" sz="2100" dirty="0"/>
              <a:t>    </a:t>
            </a:r>
            <a:r>
              <a:rPr lang="ru-RU" sz="2100" dirty="0" err="1"/>
              <a:t>fclose</a:t>
            </a:r>
            <a:r>
              <a:rPr lang="ru-RU" sz="2100" dirty="0"/>
              <a:t>(</a:t>
            </a:r>
            <a:r>
              <a:rPr lang="ru-RU" sz="2100" dirty="0" err="1"/>
              <a:t>fp</a:t>
            </a:r>
            <a:r>
              <a:rPr lang="ru-RU" sz="2100" dirty="0"/>
              <a:t>);</a:t>
            </a:r>
          </a:p>
          <a:p>
            <a:pPr marL="0" indent="0">
              <a:buNone/>
            </a:pPr>
            <a:r>
              <a:rPr lang="ru-RU" sz="2100" dirty="0"/>
              <a:t>    return 0;</a:t>
            </a:r>
          </a:p>
          <a:p>
            <a:pPr marL="0" indent="0">
              <a:buNone/>
            </a:pPr>
            <a:r>
              <a:rPr lang="ru-RU" sz="2100" dirty="0"/>
              <a:t>}</a:t>
            </a:r>
          </a:p>
          <a:p>
            <a:pPr marL="0" indent="0">
              <a:buNone/>
            </a:pPr>
            <a:r>
              <a:rPr lang="ru-RU" sz="2100" b="1" dirty="0"/>
              <a:t>Что делает:</a:t>
            </a:r>
            <a:r>
              <a:rPr lang="ru-RU" sz="2100" dirty="0"/>
              <a:t> читает файл </a:t>
            </a:r>
            <a:r>
              <a:rPr lang="ru-RU" sz="2100" b="1" dirty="0"/>
              <a:t>по одному символу</a:t>
            </a:r>
            <a:r>
              <a:rPr lang="ru-RU" sz="2100" dirty="0"/>
              <a:t> до конца (EOF).</a:t>
            </a:r>
          </a:p>
          <a:p>
            <a:pPr marL="0" indent="0">
              <a:buNone/>
            </a:pPr>
            <a:endParaRPr lang="ru-RU" sz="2100" dirty="0"/>
          </a:p>
        </p:txBody>
      </p:sp>
    </p:spTree>
    <p:extLst>
      <p:ext uri="{BB962C8B-B14F-4D97-AF65-F5344CB8AC3E}">
        <p14:creationId xmlns:p14="http://schemas.microsoft.com/office/powerpoint/2010/main" val="5955212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32425E-50D6-4204-94FF-139A086C5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2. Чтение файла построчно (</a:t>
            </a:r>
            <a:r>
              <a:rPr lang="ru-RU" dirty="0" err="1">
                <a:effectLst/>
              </a:rPr>
              <a:t>fgets</a:t>
            </a:r>
            <a:r>
              <a:rPr lang="ru-RU" dirty="0">
                <a:effectLst/>
              </a:rPr>
              <a:t>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4F99EA-27C8-AEB5-8B2B-FDE7B1793C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127760"/>
            <a:ext cx="10972800" cy="499840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dirty="0"/>
              <a:t>#include &lt;</a:t>
            </a:r>
            <a:r>
              <a:rPr lang="ru-RU" sz="2200" dirty="0" err="1"/>
              <a:t>stdio.h</a:t>
            </a:r>
            <a:r>
              <a:rPr lang="ru-RU" sz="2200" dirty="0"/>
              <a:t>&gt;</a:t>
            </a:r>
          </a:p>
          <a:p>
            <a:pPr marL="0" indent="0">
              <a:buNone/>
            </a:pPr>
            <a:endParaRPr lang="ru-RU" sz="2200" dirty="0"/>
          </a:p>
          <a:p>
            <a:pPr marL="0" indent="0">
              <a:buNone/>
            </a:pPr>
            <a:r>
              <a:rPr lang="ru-RU" sz="2200" dirty="0" err="1"/>
              <a:t>int</a:t>
            </a:r>
            <a:r>
              <a:rPr lang="ru-RU" sz="2200" dirty="0"/>
              <a:t> main(</a:t>
            </a:r>
            <a:r>
              <a:rPr lang="ru-RU" sz="2200" dirty="0" err="1"/>
              <a:t>void</a:t>
            </a:r>
            <a:r>
              <a:rPr lang="ru-RU" sz="2200" dirty="0"/>
              <a:t>) {</a:t>
            </a:r>
          </a:p>
          <a:p>
            <a:pPr marL="0" indent="0">
              <a:buNone/>
            </a:pPr>
            <a:r>
              <a:rPr lang="ru-RU" sz="2200" dirty="0"/>
              <a:t>    FILE *</a:t>
            </a:r>
            <a:r>
              <a:rPr lang="ru-RU" sz="2200" dirty="0" err="1"/>
              <a:t>fp</a:t>
            </a:r>
            <a:r>
              <a:rPr lang="ru-RU" sz="2200" dirty="0"/>
              <a:t> = </a:t>
            </a:r>
            <a:r>
              <a:rPr lang="ru-RU" sz="2200" dirty="0" err="1"/>
              <a:t>fopen</a:t>
            </a:r>
            <a:r>
              <a:rPr lang="ru-RU" sz="2200" dirty="0"/>
              <a:t>("hello.txt", "r");</a:t>
            </a:r>
          </a:p>
          <a:p>
            <a:pPr marL="0" indent="0">
              <a:buNone/>
            </a:pPr>
            <a:r>
              <a:rPr lang="ru-RU" sz="2200" dirty="0"/>
              <a:t>    </a:t>
            </a:r>
            <a:r>
              <a:rPr lang="ru-RU" sz="2200" dirty="0" err="1"/>
              <a:t>if</a:t>
            </a:r>
            <a:r>
              <a:rPr lang="ru-RU" sz="2200" dirty="0"/>
              <a:t> (!</a:t>
            </a:r>
            <a:r>
              <a:rPr lang="ru-RU" sz="2200" dirty="0" err="1"/>
              <a:t>fp</a:t>
            </a:r>
            <a:r>
              <a:rPr lang="ru-RU" sz="2200" dirty="0"/>
              <a:t>) return 1;</a:t>
            </a:r>
          </a:p>
          <a:p>
            <a:pPr marL="0" indent="0">
              <a:buNone/>
            </a:pPr>
            <a:endParaRPr lang="ru-RU" sz="2200" dirty="0"/>
          </a:p>
          <a:p>
            <a:pPr marL="0" indent="0">
              <a:buNone/>
            </a:pPr>
            <a:r>
              <a:rPr lang="ru-RU" sz="2200" dirty="0"/>
              <a:t>    </a:t>
            </a:r>
            <a:r>
              <a:rPr lang="ru-RU" sz="2200" dirty="0" err="1"/>
              <a:t>char</a:t>
            </a:r>
            <a:r>
              <a:rPr lang="ru-RU" sz="2200" dirty="0"/>
              <a:t> </a:t>
            </a:r>
            <a:r>
              <a:rPr lang="ru-RU" sz="2200" dirty="0" err="1"/>
              <a:t>buf</a:t>
            </a:r>
            <a:r>
              <a:rPr lang="ru-RU" sz="2200" dirty="0"/>
              <a:t>[256];</a:t>
            </a:r>
          </a:p>
          <a:p>
            <a:pPr marL="0" indent="0">
              <a:buNone/>
            </a:pPr>
            <a:r>
              <a:rPr lang="ru-RU" sz="2200" dirty="0"/>
              <a:t>    </a:t>
            </a:r>
            <a:r>
              <a:rPr lang="ru-RU" sz="2200" dirty="0" err="1"/>
              <a:t>while</a:t>
            </a:r>
            <a:r>
              <a:rPr lang="ru-RU" sz="2200" dirty="0"/>
              <a:t> (</a:t>
            </a:r>
            <a:r>
              <a:rPr lang="ru-RU" sz="2200" dirty="0" err="1"/>
              <a:t>fgets</a:t>
            </a:r>
            <a:r>
              <a:rPr lang="ru-RU" sz="2200" dirty="0"/>
              <a:t>(</a:t>
            </a:r>
            <a:r>
              <a:rPr lang="ru-RU" sz="2200" dirty="0" err="1"/>
              <a:t>buf</a:t>
            </a:r>
            <a:r>
              <a:rPr lang="ru-RU" sz="2200" dirty="0"/>
              <a:t>, </a:t>
            </a:r>
            <a:r>
              <a:rPr lang="ru-RU" sz="2200" dirty="0" err="1"/>
              <a:t>sizeof</a:t>
            </a:r>
            <a:r>
              <a:rPr lang="ru-RU" sz="2200" dirty="0"/>
              <a:t>(</a:t>
            </a:r>
            <a:r>
              <a:rPr lang="ru-RU" sz="2200" dirty="0" err="1"/>
              <a:t>buf</a:t>
            </a:r>
            <a:r>
              <a:rPr lang="ru-RU" sz="2200" dirty="0"/>
              <a:t>), </a:t>
            </a:r>
            <a:r>
              <a:rPr lang="ru-RU" sz="2200" dirty="0" err="1"/>
              <a:t>fp</a:t>
            </a:r>
            <a:r>
              <a:rPr lang="ru-RU" sz="2200" dirty="0"/>
              <a:t>))</a:t>
            </a:r>
          </a:p>
          <a:p>
            <a:pPr marL="0" indent="0">
              <a:buNone/>
            </a:pPr>
            <a:r>
              <a:rPr lang="ru-RU" sz="2200" dirty="0"/>
              <a:t>        </a:t>
            </a:r>
            <a:r>
              <a:rPr lang="ru-RU" sz="2200" dirty="0" err="1"/>
              <a:t>printf</a:t>
            </a:r>
            <a:r>
              <a:rPr lang="ru-RU" sz="2200" dirty="0"/>
              <a:t>("%s", </a:t>
            </a:r>
            <a:r>
              <a:rPr lang="ru-RU" sz="2200" dirty="0" err="1"/>
              <a:t>buf</a:t>
            </a:r>
            <a:r>
              <a:rPr lang="ru-RU" sz="2200" dirty="0"/>
              <a:t>);</a:t>
            </a:r>
          </a:p>
          <a:p>
            <a:pPr marL="0" indent="0">
              <a:buNone/>
            </a:pPr>
            <a:endParaRPr lang="ru-RU" sz="2200" dirty="0"/>
          </a:p>
          <a:p>
            <a:pPr marL="0" indent="0">
              <a:buNone/>
            </a:pPr>
            <a:r>
              <a:rPr lang="ru-RU" sz="2200" dirty="0"/>
              <a:t>    </a:t>
            </a:r>
            <a:r>
              <a:rPr lang="ru-RU" sz="2200" dirty="0" err="1"/>
              <a:t>fclose</a:t>
            </a:r>
            <a:r>
              <a:rPr lang="ru-RU" sz="2200" dirty="0"/>
              <a:t>(</a:t>
            </a:r>
            <a:r>
              <a:rPr lang="ru-RU" sz="2200" dirty="0" err="1"/>
              <a:t>fp</a:t>
            </a:r>
            <a:r>
              <a:rPr lang="ru-RU" sz="2200" dirty="0"/>
              <a:t>);</a:t>
            </a:r>
          </a:p>
          <a:p>
            <a:pPr marL="0" indent="0">
              <a:buNone/>
            </a:pPr>
            <a:r>
              <a:rPr lang="ru-RU" sz="2200" dirty="0"/>
              <a:t>    return 0;</a:t>
            </a:r>
          </a:p>
          <a:p>
            <a:pPr marL="0" indent="0">
              <a:buNone/>
            </a:pPr>
            <a:r>
              <a:rPr lang="ru-RU" sz="2200" dirty="0"/>
              <a:t>}</a:t>
            </a:r>
          </a:p>
          <a:p>
            <a:pPr marL="0" indent="0">
              <a:buNone/>
            </a:pPr>
            <a:r>
              <a:rPr lang="ru-RU" sz="2200" b="1" dirty="0"/>
              <a:t>Что делает:</a:t>
            </a:r>
            <a:r>
              <a:rPr lang="ru-RU" sz="2200" dirty="0"/>
              <a:t> читает файл </a:t>
            </a:r>
            <a:r>
              <a:rPr lang="ru-RU" sz="2200" b="1" dirty="0"/>
              <a:t>по строкам</a:t>
            </a:r>
            <a:r>
              <a:rPr lang="ru-RU" sz="2200" dirty="0"/>
              <a:t> (до 255 символов за раз).</a:t>
            </a:r>
          </a:p>
          <a:p>
            <a:pPr marL="0" indent="0">
              <a:buNone/>
            </a:pP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19700654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858713-3743-F8E0-CB19-2B78934AE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effectLst/>
              </a:rPr>
              <a:t>Пример 3. Чтение с проверкой на ошибку (</a:t>
            </a:r>
            <a:r>
              <a:rPr lang="ru-RU" dirty="0" err="1">
                <a:effectLst/>
              </a:rPr>
              <a:t>perror</a:t>
            </a:r>
            <a:r>
              <a:rPr lang="ru-RU" dirty="0">
                <a:effectLst/>
              </a:rPr>
              <a:t>)</a:t>
            </a:r>
            <a:br>
              <a:rPr lang="ru-RU" dirty="0">
                <a:effectLst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38736CC-686B-B98F-0928-C8DAA8C37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#include &lt;</a:t>
            </a:r>
            <a:r>
              <a:rPr lang="ru-RU" dirty="0" err="1"/>
              <a:t>stdio.h</a:t>
            </a:r>
            <a:r>
              <a:rPr lang="ru-RU" dirty="0"/>
              <a:t>&gt;</a:t>
            </a:r>
          </a:p>
          <a:p>
            <a:endParaRPr lang="ru-RU" dirty="0"/>
          </a:p>
          <a:p>
            <a:r>
              <a:rPr lang="ru-RU" dirty="0" err="1"/>
              <a:t>int</a:t>
            </a:r>
            <a:r>
              <a:rPr lang="ru-RU" dirty="0"/>
              <a:t> main(</a:t>
            </a:r>
            <a:r>
              <a:rPr lang="ru-RU" dirty="0" err="1"/>
              <a:t>void</a:t>
            </a:r>
            <a:r>
              <a:rPr lang="ru-RU" dirty="0"/>
              <a:t>) {</a:t>
            </a:r>
          </a:p>
          <a:p>
            <a:r>
              <a:rPr lang="ru-RU" dirty="0"/>
              <a:t>    FILE *</a:t>
            </a:r>
            <a:r>
              <a:rPr lang="ru-RU" dirty="0" err="1"/>
              <a:t>fp</a:t>
            </a:r>
            <a:r>
              <a:rPr lang="ru-RU" dirty="0"/>
              <a:t> = </a:t>
            </a:r>
            <a:r>
              <a:rPr lang="ru-RU" dirty="0" err="1"/>
              <a:t>fopen</a:t>
            </a:r>
            <a:r>
              <a:rPr lang="ru-RU" dirty="0"/>
              <a:t>("hello.txt", "r");</a:t>
            </a:r>
          </a:p>
          <a:p>
            <a:r>
              <a:rPr lang="ru-RU" dirty="0"/>
              <a:t>    </a:t>
            </a:r>
            <a:r>
              <a:rPr lang="ru-RU" dirty="0" err="1"/>
              <a:t>if</a:t>
            </a:r>
            <a:r>
              <a:rPr lang="ru-RU" dirty="0"/>
              <a:t> (</a:t>
            </a:r>
            <a:r>
              <a:rPr lang="ru-RU" dirty="0" err="1"/>
              <a:t>fp</a:t>
            </a:r>
            <a:r>
              <a:rPr lang="ru-RU" dirty="0"/>
              <a:t> == NULL) {</a:t>
            </a:r>
          </a:p>
          <a:p>
            <a:r>
              <a:rPr lang="ru-RU" dirty="0"/>
              <a:t>        </a:t>
            </a:r>
            <a:r>
              <a:rPr lang="ru-RU" dirty="0" err="1"/>
              <a:t>perror</a:t>
            </a:r>
            <a:r>
              <a:rPr lang="ru-RU" dirty="0"/>
              <a:t>("</a:t>
            </a:r>
            <a:r>
              <a:rPr lang="ru-RU" dirty="0" err="1"/>
              <a:t>fopen</a:t>
            </a:r>
            <a:r>
              <a:rPr lang="ru-RU" dirty="0"/>
              <a:t>");</a:t>
            </a:r>
          </a:p>
          <a:p>
            <a:r>
              <a:rPr lang="ru-RU" dirty="0"/>
              <a:t>        return 1;</a:t>
            </a:r>
          </a:p>
          <a:p>
            <a:r>
              <a:rPr lang="ru-RU" dirty="0"/>
              <a:t>    }</a:t>
            </a:r>
          </a:p>
          <a:p>
            <a:r>
              <a:rPr lang="ru-RU" dirty="0"/>
              <a:t>    </a:t>
            </a:r>
            <a:r>
              <a:rPr lang="ru-RU" dirty="0" err="1"/>
              <a:t>fclose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);</a:t>
            </a:r>
          </a:p>
          <a:p>
            <a:r>
              <a:rPr lang="ru-RU" dirty="0"/>
              <a:t>    return 0;</a:t>
            </a:r>
          </a:p>
          <a:p>
            <a:r>
              <a:rPr lang="ru-RU" dirty="0"/>
              <a:t>}</a:t>
            </a:r>
          </a:p>
          <a:p>
            <a:r>
              <a:rPr lang="ru-RU" b="1" dirty="0"/>
              <a:t>Что делает:</a:t>
            </a:r>
            <a:r>
              <a:rPr lang="ru-RU" dirty="0"/>
              <a:t> если файл не открылся — выводит </a:t>
            </a:r>
            <a:r>
              <a:rPr lang="ru-RU" b="1" dirty="0"/>
              <a:t>сообщение об ошибке</a:t>
            </a:r>
            <a:r>
              <a:rPr lang="ru-RU" dirty="0"/>
              <a:t> через </a:t>
            </a:r>
            <a:r>
              <a:rPr lang="ru-RU" dirty="0" err="1"/>
              <a:t>perror</a:t>
            </a:r>
            <a:r>
              <a:rPr lang="ru-RU" dirty="0"/>
              <a:t>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849356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931827-7AFC-FB41-BC66-08060AB08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4. Подсчёт символов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EEE0D7E-36BF-FFA0-1FDB-1C1FCE35A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stdio.h</a:t>
            </a:r>
            <a:r>
              <a:rPr lang="ru-RU" dirty="0"/>
              <a:t>&gt;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err="1"/>
              <a:t>int</a:t>
            </a:r>
            <a:r>
              <a:rPr lang="ru-RU" dirty="0"/>
              <a:t> main(</a:t>
            </a:r>
            <a:r>
              <a:rPr lang="ru-RU" dirty="0" err="1"/>
              <a:t>void</a:t>
            </a:r>
            <a:r>
              <a:rPr lang="ru-RU" dirty="0"/>
              <a:t>) {</a:t>
            </a:r>
          </a:p>
          <a:p>
            <a:pPr marL="0" indent="0">
              <a:buNone/>
            </a:pPr>
            <a:r>
              <a:rPr lang="ru-RU" dirty="0"/>
              <a:t>    FILE *</a:t>
            </a:r>
            <a:r>
              <a:rPr lang="ru-RU" dirty="0" err="1"/>
              <a:t>fp</a:t>
            </a:r>
            <a:r>
              <a:rPr lang="ru-RU" dirty="0"/>
              <a:t> = </a:t>
            </a:r>
            <a:r>
              <a:rPr lang="ru-RU" dirty="0" err="1"/>
              <a:t>fopen</a:t>
            </a:r>
            <a:r>
              <a:rPr lang="ru-RU" dirty="0"/>
              <a:t>("hello.txt", "r");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if</a:t>
            </a:r>
            <a:r>
              <a:rPr lang="ru-RU" dirty="0"/>
              <a:t> (!</a:t>
            </a:r>
            <a:r>
              <a:rPr lang="ru-RU" dirty="0" err="1"/>
              <a:t>fp</a:t>
            </a:r>
            <a:r>
              <a:rPr lang="ru-RU" dirty="0"/>
              <a:t>) return 1;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int</a:t>
            </a:r>
            <a:r>
              <a:rPr lang="ru-RU" dirty="0"/>
              <a:t> c, count = 0;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while</a:t>
            </a:r>
            <a:r>
              <a:rPr lang="ru-RU" dirty="0"/>
              <a:t> ((c = </a:t>
            </a:r>
            <a:r>
              <a:rPr lang="ru-RU" dirty="0" err="1"/>
              <a:t>fgetc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)) != EOF) count++;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printf</a:t>
            </a:r>
            <a:r>
              <a:rPr lang="ru-RU" dirty="0"/>
              <a:t>("Символов: %d\n", count);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fclose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dirty="0"/>
              <a:t>    return 0;</a:t>
            </a:r>
          </a:p>
          <a:p>
            <a:pPr marL="0" indent="0">
              <a:buNone/>
            </a:pPr>
            <a:r>
              <a:rPr lang="ru-RU" dirty="0"/>
              <a:t>}</a:t>
            </a:r>
          </a:p>
          <a:p>
            <a:pPr marL="0" indent="0">
              <a:buNone/>
            </a:pPr>
            <a:r>
              <a:rPr lang="ru-RU" b="1" dirty="0"/>
              <a:t>Что делает:</a:t>
            </a:r>
            <a:r>
              <a:rPr lang="ru-RU" dirty="0"/>
              <a:t> считает </a:t>
            </a:r>
            <a:r>
              <a:rPr lang="ru-RU" b="1" dirty="0"/>
              <a:t>количество символов</a:t>
            </a:r>
            <a:r>
              <a:rPr lang="ru-RU" dirty="0"/>
              <a:t> в файле.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763412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FFA123-1D63-7B5B-87AB-4136E91F7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5. Подсчёт строк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58938F8-BDE4-9F47-C918-14513481EB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173480"/>
            <a:ext cx="10972800" cy="495268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000" dirty="0"/>
              <a:t>#include &lt;</a:t>
            </a:r>
            <a:r>
              <a:rPr lang="ru-RU" sz="2000" dirty="0" err="1"/>
              <a:t>stdio.h</a:t>
            </a:r>
            <a:r>
              <a:rPr lang="ru-RU" sz="2000" dirty="0"/>
              <a:t>&gt;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r>
              <a:rPr lang="ru-RU" sz="2000" dirty="0" err="1"/>
              <a:t>int</a:t>
            </a:r>
            <a:r>
              <a:rPr lang="ru-RU" sz="2000" dirty="0"/>
              <a:t> main(</a:t>
            </a:r>
            <a:r>
              <a:rPr lang="ru-RU" sz="2000" dirty="0" err="1"/>
              <a:t>void</a:t>
            </a:r>
            <a:r>
              <a:rPr lang="ru-RU" sz="2000" dirty="0"/>
              <a:t>) {</a:t>
            </a:r>
          </a:p>
          <a:p>
            <a:pPr marL="0" indent="0">
              <a:buNone/>
            </a:pPr>
            <a:r>
              <a:rPr lang="ru-RU" sz="2000" dirty="0"/>
              <a:t>    FILE *</a:t>
            </a:r>
            <a:r>
              <a:rPr lang="ru-RU" sz="2000" dirty="0" err="1"/>
              <a:t>fp</a:t>
            </a:r>
            <a:r>
              <a:rPr lang="ru-RU" sz="2000" dirty="0"/>
              <a:t> = </a:t>
            </a:r>
            <a:r>
              <a:rPr lang="ru-RU" sz="2000" dirty="0" err="1"/>
              <a:t>fopen</a:t>
            </a:r>
            <a:r>
              <a:rPr lang="ru-RU" sz="2000" dirty="0"/>
              <a:t>("hello.txt", "r");</a:t>
            </a:r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if</a:t>
            </a:r>
            <a:r>
              <a:rPr lang="ru-RU" sz="2000" dirty="0"/>
              <a:t> (!</a:t>
            </a:r>
            <a:r>
              <a:rPr lang="ru-RU" sz="2000" dirty="0" err="1"/>
              <a:t>fp</a:t>
            </a:r>
            <a:r>
              <a:rPr lang="ru-RU" sz="2000" dirty="0"/>
              <a:t>) return 1;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int</a:t>
            </a:r>
            <a:r>
              <a:rPr lang="ru-RU" sz="2000" dirty="0"/>
              <a:t> c, </a:t>
            </a:r>
            <a:r>
              <a:rPr lang="ru-RU" sz="2000" dirty="0" err="1"/>
              <a:t>lines</a:t>
            </a:r>
            <a:r>
              <a:rPr lang="ru-RU" sz="2000" dirty="0"/>
              <a:t> = 0;</a:t>
            </a:r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while</a:t>
            </a:r>
            <a:r>
              <a:rPr lang="ru-RU" sz="2000" dirty="0"/>
              <a:t> ((c = </a:t>
            </a:r>
            <a:r>
              <a:rPr lang="ru-RU" sz="2000" dirty="0" err="1"/>
              <a:t>fgetc</a:t>
            </a:r>
            <a:r>
              <a:rPr lang="ru-RU" sz="2000" dirty="0"/>
              <a:t>(</a:t>
            </a:r>
            <a:r>
              <a:rPr lang="ru-RU" sz="2000" dirty="0" err="1"/>
              <a:t>fp</a:t>
            </a:r>
            <a:r>
              <a:rPr lang="ru-RU" sz="2000" dirty="0"/>
              <a:t>)) != EOF)</a:t>
            </a:r>
          </a:p>
          <a:p>
            <a:pPr marL="0" indent="0">
              <a:buNone/>
            </a:pPr>
            <a:r>
              <a:rPr lang="ru-RU" sz="2000" dirty="0"/>
              <a:t>        </a:t>
            </a:r>
            <a:r>
              <a:rPr lang="ru-RU" sz="2000" dirty="0" err="1"/>
              <a:t>if</a:t>
            </a:r>
            <a:r>
              <a:rPr lang="ru-RU" sz="2000" dirty="0"/>
              <a:t> (c == '\n') </a:t>
            </a:r>
            <a:r>
              <a:rPr lang="ru-RU" sz="2000" dirty="0" err="1"/>
              <a:t>lines</a:t>
            </a:r>
            <a:r>
              <a:rPr lang="ru-RU" sz="2000" dirty="0"/>
              <a:t>++;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printf</a:t>
            </a:r>
            <a:r>
              <a:rPr lang="ru-RU" sz="2000" dirty="0"/>
              <a:t>("Строк: %d\n", </a:t>
            </a:r>
            <a:r>
              <a:rPr lang="ru-RU" sz="2000" dirty="0" err="1"/>
              <a:t>lines</a:t>
            </a:r>
            <a:r>
              <a:rPr lang="ru-RU" sz="2000" dirty="0"/>
              <a:t>);</a:t>
            </a:r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fclose</a:t>
            </a:r>
            <a:r>
              <a:rPr lang="ru-RU" sz="2000" dirty="0"/>
              <a:t>(</a:t>
            </a:r>
            <a:r>
              <a:rPr lang="ru-RU" sz="2000" dirty="0" err="1"/>
              <a:t>fp</a:t>
            </a:r>
            <a:r>
              <a:rPr lang="ru-RU" sz="2000" dirty="0"/>
              <a:t>);</a:t>
            </a:r>
          </a:p>
          <a:p>
            <a:pPr marL="0" indent="0">
              <a:buNone/>
            </a:pPr>
            <a:r>
              <a:rPr lang="ru-RU" sz="2000" dirty="0"/>
              <a:t>    return 0;</a:t>
            </a:r>
          </a:p>
          <a:p>
            <a:pPr marL="0" indent="0">
              <a:buNone/>
            </a:pPr>
            <a:r>
              <a:rPr lang="ru-RU" sz="2000" dirty="0"/>
              <a:t>}</a:t>
            </a:r>
          </a:p>
          <a:p>
            <a:pPr marL="0" indent="0">
              <a:buNone/>
            </a:pPr>
            <a:r>
              <a:rPr lang="ru-RU" sz="2000" b="1" dirty="0"/>
              <a:t>Что делает:</a:t>
            </a:r>
            <a:r>
              <a:rPr lang="ru-RU" sz="2000" dirty="0"/>
              <a:t> считает </a:t>
            </a:r>
            <a:r>
              <a:rPr lang="ru-RU" sz="2000" b="1" dirty="0"/>
              <a:t>количество строк</a:t>
            </a:r>
            <a:r>
              <a:rPr lang="ru-RU" sz="2000" dirty="0"/>
              <a:t> (по символу \n).</a:t>
            </a:r>
          </a:p>
          <a:p>
            <a:pPr marL="0" indent="0">
              <a:buNone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88753916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0293CD-1DAF-1BA4-023D-8EC970E33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6. Запись строки (</a:t>
            </a:r>
            <a:r>
              <a:rPr lang="ru-RU" dirty="0" err="1">
                <a:effectLst/>
              </a:rPr>
              <a:t>fputs</a:t>
            </a:r>
            <a:r>
              <a:rPr lang="ru-RU" dirty="0">
                <a:effectLst/>
              </a:rPr>
              <a:t>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03C860C-3266-E376-A46E-2DA795BF14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stdio.h</a:t>
            </a:r>
            <a:r>
              <a:rPr lang="ru-RU" dirty="0"/>
              <a:t>&gt;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err="1"/>
              <a:t>int</a:t>
            </a:r>
            <a:r>
              <a:rPr lang="ru-RU" dirty="0"/>
              <a:t> main(</a:t>
            </a:r>
            <a:r>
              <a:rPr lang="ru-RU" dirty="0" err="1"/>
              <a:t>void</a:t>
            </a:r>
            <a:r>
              <a:rPr lang="ru-RU" dirty="0"/>
              <a:t>) {</a:t>
            </a:r>
          </a:p>
          <a:p>
            <a:pPr marL="0" indent="0">
              <a:buNone/>
            </a:pPr>
            <a:r>
              <a:rPr lang="ru-RU" dirty="0"/>
              <a:t>    FILE *</a:t>
            </a:r>
            <a:r>
              <a:rPr lang="ru-RU" dirty="0" err="1"/>
              <a:t>fp</a:t>
            </a:r>
            <a:r>
              <a:rPr lang="ru-RU" dirty="0"/>
              <a:t> = </a:t>
            </a:r>
            <a:r>
              <a:rPr lang="ru-RU" dirty="0" err="1"/>
              <a:t>fopen</a:t>
            </a:r>
            <a:r>
              <a:rPr lang="ru-RU" dirty="0"/>
              <a:t>("out.txt", "w");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if</a:t>
            </a:r>
            <a:r>
              <a:rPr lang="ru-RU" dirty="0"/>
              <a:t> (!</a:t>
            </a:r>
            <a:r>
              <a:rPr lang="ru-RU" dirty="0" err="1"/>
              <a:t>fp</a:t>
            </a:r>
            <a:r>
              <a:rPr lang="ru-RU" dirty="0"/>
              <a:t>) return 1;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fputs</a:t>
            </a:r>
            <a:r>
              <a:rPr lang="ru-RU" dirty="0"/>
              <a:t>("Привет, мир!\n", </a:t>
            </a:r>
            <a:r>
              <a:rPr lang="ru-RU" dirty="0" err="1"/>
              <a:t>fp</a:t>
            </a:r>
            <a:r>
              <a:rPr lang="ru-RU" dirty="0"/>
              <a:t>);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fclose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dirty="0"/>
              <a:t>    return 0;</a:t>
            </a:r>
          </a:p>
          <a:p>
            <a:pPr marL="0" indent="0">
              <a:buNone/>
            </a:pPr>
            <a:r>
              <a:rPr lang="ru-RU" dirty="0"/>
              <a:t>}</a:t>
            </a:r>
          </a:p>
          <a:p>
            <a:pPr marL="0" indent="0">
              <a:buNone/>
            </a:pPr>
            <a:r>
              <a:rPr lang="ru-RU" b="1" dirty="0"/>
              <a:t>Что делает:</a:t>
            </a:r>
            <a:r>
              <a:rPr lang="ru-RU" dirty="0"/>
              <a:t> записывает строку в файл. Режим "w" </a:t>
            </a:r>
            <a:r>
              <a:rPr lang="ru-RU" b="1" dirty="0"/>
              <a:t>перезаписывает</a:t>
            </a:r>
            <a:r>
              <a:rPr lang="ru-RU" dirty="0"/>
              <a:t> файл.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661386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110291-00CD-5D4F-0230-021549772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7. Запись посимвольно (</a:t>
            </a:r>
            <a:r>
              <a:rPr lang="ru-RU" dirty="0" err="1">
                <a:effectLst/>
              </a:rPr>
              <a:t>fputc</a:t>
            </a:r>
            <a:r>
              <a:rPr lang="ru-RU" dirty="0">
                <a:effectLst/>
              </a:rPr>
              <a:t>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B3D9648-CE01-7CC5-EBE5-86E2EC5AA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19201"/>
            <a:ext cx="10972800" cy="490696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100" dirty="0"/>
              <a:t>#include &lt;</a:t>
            </a:r>
            <a:r>
              <a:rPr lang="ru-RU" sz="2100" dirty="0" err="1"/>
              <a:t>stdio.h</a:t>
            </a:r>
            <a:r>
              <a:rPr lang="ru-RU" sz="2100" dirty="0"/>
              <a:t>&gt;</a:t>
            </a:r>
          </a:p>
          <a:p>
            <a:pPr marL="0" indent="0">
              <a:buNone/>
            </a:pPr>
            <a:endParaRPr lang="ru-RU" sz="2100" dirty="0"/>
          </a:p>
          <a:p>
            <a:pPr marL="0" indent="0">
              <a:buNone/>
            </a:pPr>
            <a:r>
              <a:rPr lang="ru-RU" sz="2100" dirty="0" err="1"/>
              <a:t>int</a:t>
            </a:r>
            <a:r>
              <a:rPr lang="ru-RU" sz="2100" dirty="0"/>
              <a:t> main(</a:t>
            </a:r>
            <a:r>
              <a:rPr lang="ru-RU" sz="2100" dirty="0" err="1"/>
              <a:t>void</a:t>
            </a:r>
            <a:r>
              <a:rPr lang="ru-RU" sz="2100" dirty="0"/>
              <a:t>) {</a:t>
            </a:r>
          </a:p>
          <a:p>
            <a:pPr marL="0" indent="0">
              <a:buNone/>
            </a:pPr>
            <a:r>
              <a:rPr lang="ru-RU" sz="2100" dirty="0"/>
              <a:t>    FILE *</a:t>
            </a:r>
            <a:r>
              <a:rPr lang="ru-RU" sz="2100" dirty="0" err="1"/>
              <a:t>fp</a:t>
            </a:r>
            <a:r>
              <a:rPr lang="ru-RU" sz="2100" dirty="0"/>
              <a:t> = </a:t>
            </a:r>
            <a:r>
              <a:rPr lang="ru-RU" sz="2100" dirty="0" err="1"/>
              <a:t>fopen</a:t>
            </a:r>
            <a:r>
              <a:rPr lang="ru-RU" sz="2100" dirty="0"/>
              <a:t>("out.txt", "w");</a:t>
            </a:r>
          </a:p>
          <a:p>
            <a:pPr marL="0" indent="0">
              <a:buNone/>
            </a:pPr>
            <a:r>
              <a:rPr lang="ru-RU" sz="2100" dirty="0"/>
              <a:t>    </a:t>
            </a:r>
            <a:r>
              <a:rPr lang="ru-RU" sz="2100" dirty="0" err="1"/>
              <a:t>if</a:t>
            </a:r>
            <a:r>
              <a:rPr lang="ru-RU" sz="2100" dirty="0"/>
              <a:t> (!</a:t>
            </a:r>
            <a:r>
              <a:rPr lang="ru-RU" sz="2100" dirty="0" err="1"/>
              <a:t>fp</a:t>
            </a:r>
            <a:r>
              <a:rPr lang="ru-RU" sz="2100" dirty="0"/>
              <a:t>) return 1;</a:t>
            </a:r>
          </a:p>
          <a:p>
            <a:pPr marL="0" indent="0">
              <a:buNone/>
            </a:pPr>
            <a:endParaRPr lang="ru-RU" sz="2100" dirty="0"/>
          </a:p>
          <a:p>
            <a:pPr marL="0" indent="0">
              <a:buNone/>
            </a:pPr>
            <a:r>
              <a:rPr lang="ru-RU" sz="2100" dirty="0"/>
              <a:t>    </a:t>
            </a:r>
            <a:r>
              <a:rPr lang="ru-RU" sz="2100" dirty="0" err="1"/>
              <a:t>const</a:t>
            </a:r>
            <a:r>
              <a:rPr lang="ru-RU" sz="2100" dirty="0"/>
              <a:t> </a:t>
            </a:r>
            <a:r>
              <a:rPr lang="ru-RU" sz="2100" dirty="0" err="1"/>
              <a:t>char</a:t>
            </a:r>
            <a:r>
              <a:rPr lang="ru-RU" sz="2100" dirty="0"/>
              <a:t> *s = "Hello";</a:t>
            </a:r>
          </a:p>
          <a:p>
            <a:pPr marL="0" indent="0">
              <a:buNone/>
            </a:pPr>
            <a:r>
              <a:rPr lang="ru-RU" sz="2100" dirty="0"/>
              <a:t>    </a:t>
            </a:r>
            <a:r>
              <a:rPr lang="ru-RU" sz="2100" dirty="0" err="1"/>
              <a:t>for</a:t>
            </a:r>
            <a:r>
              <a:rPr lang="ru-RU" sz="2100" dirty="0"/>
              <a:t> (</a:t>
            </a:r>
            <a:r>
              <a:rPr lang="ru-RU" sz="2100" dirty="0" err="1"/>
              <a:t>int</a:t>
            </a:r>
            <a:r>
              <a:rPr lang="ru-RU" sz="2100" dirty="0"/>
              <a:t> i = 0; s[i]; i++)</a:t>
            </a:r>
          </a:p>
          <a:p>
            <a:pPr marL="0" indent="0">
              <a:buNone/>
            </a:pPr>
            <a:r>
              <a:rPr lang="ru-RU" sz="2100" dirty="0"/>
              <a:t>        </a:t>
            </a:r>
            <a:r>
              <a:rPr lang="ru-RU" sz="2100" dirty="0" err="1"/>
              <a:t>fputc</a:t>
            </a:r>
            <a:r>
              <a:rPr lang="ru-RU" sz="2100" dirty="0"/>
              <a:t>(s[i], </a:t>
            </a:r>
            <a:r>
              <a:rPr lang="ru-RU" sz="2100" dirty="0" err="1"/>
              <a:t>fp</a:t>
            </a:r>
            <a:r>
              <a:rPr lang="ru-RU" sz="2100" dirty="0"/>
              <a:t>);</a:t>
            </a:r>
          </a:p>
          <a:p>
            <a:pPr marL="0" indent="0">
              <a:buNone/>
            </a:pPr>
            <a:endParaRPr lang="ru-RU" sz="2100" dirty="0"/>
          </a:p>
          <a:p>
            <a:pPr marL="0" indent="0">
              <a:buNone/>
            </a:pPr>
            <a:r>
              <a:rPr lang="ru-RU" sz="2100" dirty="0"/>
              <a:t>    </a:t>
            </a:r>
            <a:r>
              <a:rPr lang="ru-RU" sz="2100" dirty="0" err="1"/>
              <a:t>fclose</a:t>
            </a:r>
            <a:r>
              <a:rPr lang="ru-RU" sz="2100" dirty="0"/>
              <a:t>(</a:t>
            </a:r>
            <a:r>
              <a:rPr lang="ru-RU" sz="2100" dirty="0" err="1"/>
              <a:t>fp</a:t>
            </a:r>
            <a:r>
              <a:rPr lang="ru-RU" sz="2100" dirty="0"/>
              <a:t>);</a:t>
            </a:r>
          </a:p>
          <a:p>
            <a:pPr marL="0" indent="0">
              <a:buNone/>
            </a:pPr>
            <a:r>
              <a:rPr lang="ru-RU" sz="2100" dirty="0"/>
              <a:t>    return 0;</a:t>
            </a:r>
          </a:p>
          <a:p>
            <a:pPr marL="0" indent="0">
              <a:buNone/>
            </a:pPr>
            <a:r>
              <a:rPr lang="ru-RU" sz="2100" dirty="0"/>
              <a:t>}</a:t>
            </a:r>
          </a:p>
          <a:p>
            <a:pPr marL="0" indent="0">
              <a:buNone/>
            </a:pPr>
            <a:r>
              <a:rPr lang="ru-RU" sz="2100" b="1" dirty="0"/>
              <a:t>Что делает:</a:t>
            </a:r>
            <a:r>
              <a:rPr lang="ru-RU" sz="2100" dirty="0"/>
              <a:t> записывает каждый символ отдельно через </a:t>
            </a:r>
            <a:r>
              <a:rPr lang="ru-RU" sz="2100" dirty="0" err="1"/>
              <a:t>fputc</a:t>
            </a:r>
            <a:r>
              <a:rPr lang="ru-RU" sz="2100" dirty="0"/>
              <a:t>.</a:t>
            </a:r>
          </a:p>
          <a:p>
            <a:pPr marL="0" indent="0">
              <a:buNone/>
            </a:pPr>
            <a:endParaRPr lang="ru-RU" sz="2100" dirty="0"/>
          </a:p>
        </p:txBody>
      </p:sp>
    </p:spTree>
    <p:extLst>
      <p:ext uri="{BB962C8B-B14F-4D97-AF65-F5344CB8AC3E}">
        <p14:creationId xmlns:p14="http://schemas.microsoft.com/office/powerpoint/2010/main" val="16773332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C11DDB-CEDB-5265-AABB-33E3D3F1E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effectLst/>
              </a:rPr>
              <a:t>Пример 8. Форматированная запись (</a:t>
            </a:r>
            <a:r>
              <a:rPr lang="ru-RU" dirty="0" err="1">
                <a:effectLst/>
              </a:rPr>
              <a:t>fprintf</a:t>
            </a:r>
            <a:r>
              <a:rPr lang="ru-RU" dirty="0">
                <a:effectLst/>
              </a:rPr>
              <a:t>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CA5E823-3115-3B46-8A84-35922537DC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stdio.h</a:t>
            </a:r>
            <a:r>
              <a:rPr lang="ru-RU" dirty="0"/>
              <a:t>&gt;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err="1"/>
              <a:t>int</a:t>
            </a:r>
            <a:r>
              <a:rPr lang="ru-RU" dirty="0"/>
              <a:t> main(</a:t>
            </a:r>
            <a:r>
              <a:rPr lang="ru-RU" dirty="0" err="1"/>
              <a:t>void</a:t>
            </a:r>
            <a:r>
              <a:rPr lang="ru-RU" dirty="0"/>
              <a:t>) {</a:t>
            </a:r>
          </a:p>
          <a:p>
            <a:pPr marL="0" indent="0">
              <a:buNone/>
            </a:pPr>
            <a:r>
              <a:rPr lang="ru-RU" dirty="0"/>
              <a:t>    FILE *</a:t>
            </a:r>
            <a:r>
              <a:rPr lang="ru-RU" dirty="0" err="1"/>
              <a:t>fp</a:t>
            </a:r>
            <a:r>
              <a:rPr lang="ru-RU" dirty="0"/>
              <a:t> = </a:t>
            </a:r>
            <a:r>
              <a:rPr lang="ru-RU" dirty="0" err="1"/>
              <a:t>fopen</a:t>
            </a:r>
            <a:r>
              <a:rPr lang="ru-RU" dirty="0"/>
              <a:t>("out.txt", "w");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if</a:t>
            </a:r>
            <a:r>
              <a:rPr lang="ru-RU" dirty="0"/>
              <a:t> (!</a:t>
            </a:r>
            <a:r>
              <a:rPr lang="ru-RU" dirty="0" err="1"/>
              <a:t>fp</a:t>
            </a:r>
            <a:r>
              <a:rPr lang="ru-RU" dirty="0"/>
              <a:t>) return 1;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fprintf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, "Число: %d\n", 42);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fprintf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, "Строка: %s\n", "</a:t>
            </a:r>
            <a:r>
              <a:rPr lang="ru-RU" dirty="0" err="1"/>
              <a:t>test</a:t>
            </a:r>
            <a:r>
              <a:rPr lang="ru-RU" dirty="0"/>
              <a:t>");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fclose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dirty="0"/>
              <a:t>    return 0;</a:t>
            </a:r>
          </a:p>
          <a:p>
            <a:pPr marL="0" indent="0">
              <a:buNone/>
            </a:pPr>
            <a:r>
              <a:rPr lang="ru-RU" dirty="0"/>
              <a:t>}</a:t>
            </a:r>
          </a:p>
          <a:p>
            <a:pPr marL="0" indent="0">
              <a:buNone/>
            </a:pPr>
            <a:r>
              <a:rPr lang="ru-RU" b="1" dirty="0"/>
              <a:t>Что делает:</a:t>
            </a:r>
            <a:r>
              <a:rPr lang="ru-RU" dirty="0"/>
              <a:t> записывает данные </a:t>
            </a:r>
            <a:r>
              <a:rPr lang="ru-RU" b="1" dirty="0"/>
              <a:t>с форматированием</a:t>
            </a:r>
            <a:r>
              <a:rPr lang="ru-RU" dirty="0"/>
              <a:t>, как </a:t>
            </a:r>
            <a:r>
              <a:rPr lang="ru-RU" dirty="0" err="1"/>
              <a:t>printf</a:t>
            </a:r>
            <a:r>
              <a:rPr lang="ru-RU" dirty="0"/>
              <a:t>, но в файл.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618552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389B30-8753-C1A9-BC3A-EA62DE5BB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9. </a:t>
            </a:r>
            <a:r>
              <a:rPr lang="ru-RU" dirty="0" err="1">
                <a:effectLst/>
              </a:rPr>
              <a:t>Дозапись</a:t>
            </a:r>
            <a:r>
              <a:rPr lang="ru-RU" dirty="0">
                <a:effectLst/>
              </a:rPr>
              <a:t> в конец ("a")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2CC5A42-E0B9-F8FB-373B-7ADFD151C7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stdio.h</a:t>
            </a:r>
            <a:r>
              <a:rPr lang="ru-RU" dirty="0"/>
              <a:t>&gt;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err="1"/>
              <a:t>int</a:t>
            </a:r>
            <a:r>
              <a:rPr lang="ru-RU" dirty="0"/>
              <a:t> main(</a:t>
            </a:r>
            <a:r>
              <a:rPr lang="ru-RU" dirty="0" err="1"/>
              <a:t>void</a:t>
            </a:r>
            <a:r>
              <a:rPr lang="ru-RU" dirty="0"/>
              <a:t>) {</a:t>
            </a:r>
          </a:p>
          <a:p>
            <a:pPr marL="0" indent="0">
              <a:buNone/>
            </a:pPr>
            <a:r>
              <a:rPr lang="ru-RU" dirty="0"/>
              <a:t>    FILE *</a:t>
            </a:r>
            <a:r>
              <a:rPr lang="ru-RU" dirty="0" err="1"/>
              <a:t>fp</a:t>
            </a:r>
            <a:r>
              <a:rPr lang="ru-RU" dirty="0"/>
              <a:t> = </a:t>
            </a:r>
            <a:r>
              <a:rPr lang="ru-RU" dirty="0" err="1"/>
              <a:t>fopen</a:t>
            </a:r>
            <a:r>
              <a:rPr lang="ru-RU" dirty="0"/>
              <a:t>("out.txt", "a");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if</a:t>
            </a:r>
            <a:r>
              <a:rPr lang="ru-RU" dirty="0"/>
              <a:t> (!</a:t>
            </a:r>
            <a:r>
              <a:rPr lang="ru-RU" dirty="0" err="1"/>
              <a:t>fp</a:t>
            </a:r>
            <a:r>
              <a:rPr lang="ru-RU" dirty="0"/>
              <a:t>) return 1;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fputs</a:t>
            </a:r>
            <a:r>
              <a:rPr lang="ru-RU" dirty="0"/>
              <a:t>("Новая строка\n", </a:t>
            </a:r>
            <a:r>
              <a:rPr lang="ru-RU" dirty="0" err="1"/>
              <a:t>fp</a:t>
            </a:r>
            <a:r>
              <a:rPr lang="ru-RU" dirty="0"/>
              <a:t>);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fclose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dirty="0"/>
              <a:t>    return 0;</a:t>
            </a:r>
          </a:p>
          <a:p>
            <a:pPr marL="0" indent="0">
              <a:buNone/>
            </a:pPr>
            <a:r>
              <a:rPr lang="ru-RU" dirty="0"/>
              <a:t>}</a:t>
            </a:r>
          </a:p>
          <a:p>
            <a:pPr marL="0" indent="0">
              <a:buNone/>
            </a:pPr>
            <a:r>
              <a:rPr lang="ru-RU" b="1" dirty="0"/>
              <a:t>Что делает:</a:t>
            </a:r>
            <a:r>
              <a:rPr lang="ru-RU" dirty="0"/>
              <a:t> режим "a" </a:t>
            </a:r>
            <a:r>
              <a:rPr lang="ru-RU" b="1" dirty="0"/>
              <a:t>добавляет</a:t>
            </a:r>
            <a:r>
              <a:rPr lang="ru-RU" dirty="0"/>
              <a:t> данные в конец файла, не стирая старое.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747175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A1F727-DE02-A33B-AFF6-632A24EAC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10. Запись массива чисел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5EE59B-2D41-46B4-2D54-D98B18AD29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stdio.h</a:t>
            </a:r>
            <a:r>
              <a:rPr lang="ru-RU" dirty="0"/>
              <a:t>&gt;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err="1"/>
              <a:t>int</a:t>
            </a:r>
            <a:r>
              <a:rPr lang="ru-RU" dirty="0"/>
              <a:t> main(</a:t>
            </a:r>
            <a:r>
              <a:rPr lang="ru-RU" dirty="0" err="1"/>
              <a:t>void</a:t>
            </a:r>
            <a:r>
              <a:rPr lang="ru-RU" dirty="0"/>
              <a:t>) {</a:t>
            </a:r>
          </a:p>
          <a:p>
            <a:pPr marL="0" indent="0">
              <a:buNone/>
            </a:pPr>
            <a:r>
              <a:rPr lang="ru-RU" dirty="0"/>
              <a:t>    FILE *</a:t>
            </a:r>
            <a:r>
              <a:rPr lang="ru-RU" dirty="0" err="1"/>
              <a:t>fp</a:t>
            </a:r>
            <a:r>
              <a:rPr lang="ru-RU" dirty="0"/>
              <a:t> = </a:t>
            </a:r>
            <a:r>
              <a:rPr lang="ru-RU" dirty="0" err="1"/>
              <a:t>fopen</a:t>
            </a:r>
            <a:r>
              <a:rPr lang="ru-RU" dirty="0"/>
              <a:t>("numbers.txt", "w");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if</a:t>
            </a:r>
            <a:r>
              <a:rPr lang="ru-RU" dirty="0"/>
              <a:t> (!</a:t>
            </a:r>
            <a:r>
              <a:rPr lang="ru-RU" dirty="0" err="1"/>
              <a:t>fp</a:t>
            </a:r>
            <a:r>
              <a:rPr lang="ru-RU" dirty="0"/>
              <a:t>) return 1;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int</a:t>
            </a:r>
            <a:r>
              <a:rPr lang="ru-RU" dirty="0"/>
              <a:t> </a:t>
            </a:r>
            <a:r>
              <a:rPr lang="ru-RU" dirty="0" err="1"/>
              <a:t>arr</a:t>
            </a:r>
            <a:r>
              <a:rPr lang="ru-RU" dirty="0"/>
              <a:t>[5] = {1, 2, 3, 4, 5};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for</a:t>
            </a:r>
            <a:r>
              <a:rPr lang="ru-RU" dirty="0"/>
              <a:t> (</a:t>
            </a:r>
            <a:r>
              <a:rPr lang="ru-RU" dirty="0" err="1"/>
              <a:t>int</a:t>
            </a:r>
            <a:r>
              <a:rPr lang="ru-RU" dirty="0"/>
              <a:t> i = 0; i &lt; 5; i++)</a:t>
            </a:r>
          </a:p>
          <a:p>
            <a:pPr marL="0" indent="0">
              <a:buNone/>
            </a:pPr>
            <a:r>
              <a:rPr lang="ru-RU" dirty="0"/>
              <a:t>        </a:t>
            </a:r>
            <a:r>
              <a:rPr lang="ru-RU" dirty="0" err="1"/>
              <a:t>fprintf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, "%d\n", </a:t>
            </a:r>
            <a:r>
              <a:rPr lang="ru-RU" dirty="0" err="1"/>
              <a:t>arr</a:t>
            </a:r>
            <a:r>
              <a:rPr lang="ru-RU" dirty="0"/>
              <a:t>[i]);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fclose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dirty="0"/>
              <a:t>    return 0;</a:t>
            </a:r>
          </a:p>
          <a:p>
            <a:pPr marL="0" indent="0">
              <a:buNone/>
            </a:pPr>
            <a:r>
              <a:rPr lang="ru-RU" dirty="0"/>
              <a:t>}</a:t>
            </a:r>
          </a:p>
          <a:p>
            <a:pPr marL="0" indent="0">
              <a:buNone/>
            </a:pPr>
            <a:r>
              <a:rPr lang="ru-RU" b="1" dirty="0"/>
              <a:t>Что делает:</a:t>
            </a:r>
            <a:r>
              <a:rPr lang="ru-RU" dirty="0"/>
              <a:t> записывает массив чисел в файл — </a:t>
            </a:r>
            <a:r>
              <a:rPr lang="ru-RU" b="1" dirty="0"/>
              <a:t>каждое на своей строке</a:t>
            </a:r>
            <a:r>
              <a:rPr lang="ru-RU" dirty="0"/>
              <a:t>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2940388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5D9F61-A24C-5B10-E5CF-083038338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11. Копирование файла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D842081-058B-CD36-6204-E63C5B4DD3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188721"/>
            <a:ext cx="10972800" cy="493744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1800" dirty="0"/>
              <a:t>#include &lt;</a:t>
            </a:r>
            <a:r>
              <a:rPr lang="ru-RU" sz="1800" dirty="0" err="1"/>
              <a:t>stdio.h</a:t>
            </a:r>
            <a:r>
              <a:rPr lang="ru-RU" sz="1800" dirty="0"/>
              <a:t>&gt;</a:t>
            </a:r>
          </a:p>
          <a:p>
            <a:pPr marL="0" indent="0">
              <a:buNone/>
            </a:pPr>
            <a:endParaRPr lang="ru-RU" sz="1800" dirty="0"/>
          </a:p>
          <a:p>
            <a:pPr marL="0" indent="0">
              <a:buNone/>
            </a:pPr>
            <a:r>
              <a:rPr lang="ru-RU" sz="1800" dirty="0" err="1"/>
              <a:t>int</a:t>
            </a:r>
            <a:r>
              <a:rPr lang="ru-RU" sz="1800" dirty="0"/>
              <a:t> main(</a:t>
            </a:r>
            <a:r>
              <a:rPr lang="ru-RU" sz="1800" dirty="0" err="1"/>
              <a:t>void</a:t>
            </a:r>
            <a:r>
              <a:rPr lang="ru-RU" sz="1800" dirty="0"/>
              <a:t>) {</a:t>
            </a:r>
          </a:p>
          <a:p>
            <a:pPr marL="0" indent="0">
              <a:buNone/>
            </a:pPr>
            <a:r>
              <a:rPr lang="ru-RU" sz="1800" dirty="0"/>
              <a:t>    FILE *</a:t>
            </a:r>
            <a:r>
              <a:rPr lang="ru-RU" sz="1800" dirty="0" err="1"/>
              <a:t>in</a:t>
            </a:r>
            <a:r>
              <a:rPr lang="ru-RU" sz="1800" dirty="0"/>
              <a:t> = </a:t>
            </a:r>
            <a:r>
              <a:rPr lang="ru-RU" sz="1800" dirty="0" err="1"/>
              <a:t>fopen</a:t>
            </a:r>
            <a:r>
              <a:rPr lang="ru-RU" sz="1800" dirty="0"/>
              <a:t>("in.txt", "r");</a:t>
            </a:r>
          </a:p>
          <a:p>
            <a:pPr marL="0" indent="0">
              <a:buNone/>
            </a:pPr>
            <a:r>
              <a:rPr lang="ru-RU" sz="1800" dirty="0"/>
              <a:t>    FILE *</a:t>
            </a:r>
            <a:r>
              <a:rPr lang="ru-RU" sz="1800" dirty="0" err="1"/>
              <a:t>out</a:t>
            </a:r>
            <a:r>
              <a:rPr lang="ru-RU" sz="1800" dirty="0"/>
              <a:t> = </a:t>
            </a:r>
            <a:r>
              <a:rPr lang="ru-RU" sz="1800" dirty="0" err="1"/>
              <a:t>fopen</a:t>
            </a:r>
            <a:r>
              <a:rPr lang="ru-RU" sz="1800" dirty="0"/>
              <a:t>("out.txt", "w");</a:t>
            </a:r>
          </a:p>
          <a:p>
            <a:pPr marL="0" indent="0">
              <a:buNone/>
            </a:pPr>
            <a:r>
              <a:rPr lang="ru-RU" sz="1800" dirty="0"/>
              <a:t>    </a:t>
            </a:r>
            <a:r>
              <a:rPr lang="ru-RU" sz="1800" dirty="0" err="1"/>
              <a:t>if</a:t>
            </a:r>
            <a:r>
              <a:rPr lang="ru-RU" sz="1800" dirty="0"/>
              <a:t> (!</a:t>
            </a:r>
            <a:r>
              <a:rPr lang="ru-RU" sz="1800" dirty="0" err="1"/>
              <a:t>in</a:t>
            </a:r>
            <a:r>
              <a:rPr lang="ru-RU" sz="1800" dirty="0"/>
              <a:t> || !</a:t>
            </a:r>
            <a:r>
              <a:rPr lang="ru-RU" sz="1800" dirty="0" err="1"/>
              <a:t>out</a:t>
            </a:r>
            <a:r>
              <a:rPr lang="ru-RU" sz="1800" dirty="0"/>
              <a:t>) return 1;</a:t>
            </a:r>
          </a:p>
          <a:p>
            <a:pPr marL="0" indent="0">
              <a:buNone/>
            </a:pPr>
            <a:endParaRPr lang="ru-RU" sz="1800" dirty="0"/>
          </a:p>
          <a:p>
            <a:pPr marL="0" indent="0">
              <a:buNone/>
            </a:pPr>
            <a:r>
              <a:rPr lang="ru-RU" sz="1800" dirty="0"/>
              <a:t>    </a:t>
            </a:r>
            <a:r>
              <a:rPr lang="ru-RU" sz="1800" dirty="0" err="1"/>
              <a:t>int</a:t>
            </a:r>
            <a:r>
              <a:rPr lang="ru-RU" sz="1800" dirty="0"/>
              <a:t> c;</a:t>
            </a:r>
          </a:p>
          <a:p>
            <a:pPr marL="0" indent="0">
              <a:buNone/>
            </a:pPr>
            <a:r>
              <a:rPr lang="ru-RU" sz="1800" dirty="0"/>
              <a:t>    </a:t>
            </a:r>
            <a:r>
              <a:rPr lang="ru-RU" sz="1800" dirty="0" err="1"/>
              <a:t>while</a:t>
            </a:r>
            <a:r>
              <a:rPr lang="ru-RU" sz="1800" dirty="0"/>
              <a:t> ((c = </a:t>
            </a:r>
            <a:r>
              <a:rPr lang="ru-RU" sz="1800" dirty="0" err="1"/>
              <a:t>fgetc</a:t>
            </a:r>
            <a:r>
              <a:rPr lang="ru-RU" sz="1800" dirty="0"/>
              <a:t>(</a:t>
            </a:r>
            <a:r>
              <a:rPr lang="ru-RU" sz="1800" dirty="0" err="1"/>
              <a:t>in</a:t>
            </a:r>
            <a:r>
              <a:rPr lang="ru-RU" sz="1800" dirty="0"/>
              <a:t>)) != EOF)</a:t>
            </a:r>
          </a:p>
          <a:p>
            <a:pPr marL="0" indent="0">
              <a:buNone/>
            </a:pPr>
            <a:r>
              <a:rPr lang="ru-RU" sz="1800" dirty="0"/>
              <a:t>        </a:t>
            </a:r>
            <a:r>
              <a:rPr lang="ru-RU" sz="1800" dirty="0" err="1"/>
              <a:t>fputc</a:t>
            </a:r>
            <a:r>
              <a:rPr lang="ru-RU" sz="1800" dirty="0"/>
              <a:t>(c, </a:t>
            </a:r>
            <a:r>
              <a:rPr lang="ru-RU" sz="1800" dirty="0" err="1"/>
              <a:t>out</a:t>
            </a:r>
            <a:r>
              <a:rPr lang="ru-RU" sz="1800" dirty="0"/>
              <a:t>);</a:t>
            </a:r>
          </a:p>
          <a:p>
            <a:pPr marL="0" indent="0">
              <a:buNone/>
            </a:pPr>
            <a:endParaRPr lang="ru-RU" sz="1800" dirty="0"/>
          </a:p>
          <a:p>
            <a:pPr marL="0" indent="0">
              <a:buNone/>
            </a:pPr>
            <a:r>
              <a:rPr lang="ru-RU" sz="1800" dirty="0"/>
              <a:t>    </a:t>
            </a:r>
            <a:r>
              <a:rPr lang="ru-RU" sz="1800" dirty="0" err="1"/>
              <a:t>fclose</a:t>
            </a:r>
            <a:r>
              <a:rPr lang="ru-RU" sz="1800" dirty="0"/>
              <a:t>(</a:t>
            </a:r>
            <a:r>
              <a:rPr lang="ru-RU" sz="1800" dirty="0" err="1"/>
              <a:t>in</a:t>
            </a:r>
            <a:r>
              <a:rPr lang="ru-RU" sz="1800" dirty="0"/>
              <a:t>);</a:t>
            </a:r>
          </a:p>
          <a:p>
            <a:pPr marL="0" indent="0">
              <a:buNone/>
            </a:pPr>
            <a:r>
              <a:rPr lang="ru-RU" sz="1800" dirty="0"/>
              <a:t>    </a:t>
            </a:r>
            <a:r>
              <a:rPr lang="ru-RU" sz="1800" dirty="0" err="1"/>
              <a:t>fclose</a:t>
            </a:r>
            <a:r>
              <a:rPr lang="ru-RU" sz="1800" dirty="0"/>
              <a:t>(</a:t>
            </a:r>
            <a:r>
              <a:rPr lang="ru-RU" sz="1800" dirty="0" err="1"/>
              <a:t>out</a:t>
            </a:r>
            <a:r>
              <a:rPr lang="ru-RU" sz="1800" dirty="0"/>
              <a:t>);</a:t>
            </a:r>
          </a:p>
          <a:p>
            <a:pPr marL="0" indent="0">
              <a:buNone/>
            </a:pPr>
            <a:r>
              <a:rPr lang="ru-RU" sz="1800" dirty="0"/>
              <a:t>    return 0;</a:t>
            </a:r>
          </a:p>
          <a:p>
            <a:pPr marL="0" indent="0">
              <a:buNone/>
            </a:pPr>
            <a:r>
              <a:rPr lang="ru-RU" sz="1800" dirty="0"/>
              <a:t>}</a:t>
            </a:r>
          </a:p>
          <a:p>
            <a:pPr marL="0" indent="0">
              <a:buNone/>
            </a:pPr>
            <a:r>
              <a:rPr lang="ru-RU" sz="1800" b="1" dirty="0"/>
              <a:t>Что делает:</a:t>
            </a:r>
            <a:r>
              <a:rPr lang="ru-RU" sz="1800" dirty="0"/>
              <a:t> копирует содержимое файла in.txt в файл out.txt — </a:t>
            </a:r>
            <a:r>
              <a:rPr lang="ru-RU" sz="1800" b="1" dirty="0"/>
              <a:t>посимвольно</a:t>
            </a:r>
            <a:endParaRPr lang="ru-RU" sz="1800" dirty="0"/>
          </a:p>
          <a:p>
            <a:pPr marL="0" indent="0">
              <a:buNone/>
            </a:pPr>
            <a:br>
              <a:rPr lang="ru-RU" sz="1800" dirty="0"/>
            </a:b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27271044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0B3E8-EBD7-475C-D715-CF38E29D4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ED9437-3440-8A29-5D7B-CB235F784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Подключение библиотеки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5DFF789-ED0F-C2B3-2E09-07FF7E78EA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latinLnBrk="1">
              <a:buNone/>
            </a:pPr>
            <a:r>
              <a:rPr lang="ru-RU" dirty="0"/>
              <a:t>#include &lt;</a:t>
            </a:r>
            <a:r>
              <a:rPr lang="ru-RU" dirty="0" err="1"/>
              <a:t>stdio.h</a:t>
            </a:r>
            <a:r>
              <a:rPr lang="ru-RU" dirty="0"/>
              <a:t>&gt;</a:t>
            </a:r>
          </a:p>
          <a:p>
            <a:pPr marL="0" indent="0">
              <a:buNone/>
            </a:pPr>
            <a:r>
              <a:rPr lang="ru-RU" dirty="0" err="1"/>
              <a:t>stdio.h</a:t>
            </a:r>
            <a:r>
              <a:rPr lang="ru-RU" dirty="0"/>
              <a:t> — стандартная библиотека ввода-вывода. Содержит:</a:t>
            </a:r>
          </a:p>
          <a:p>
            <a:pPr marL="0" lvl="0" indent="0">
              <a:buNone/>
            </a:pPr>
            <a:r>
              <a:rPr lang="ru-RU" dirty="0"/>
              <a:t>FILE — тип для работы с файлами,</a:t>
            </a:r>
          </a:p>
          <a:p>
            <a:pPr marL="0" lvl="0" indent="0">
              <a:buNone/>
            </a:pPr>
            <a:r>
              <a:rPr lang="ru-RU" dirty="0" err="1"/>
              <a:t>fopen</a:t>
            </a:r>
            <a:r>
              <a:rPr lang="ru-RU" dirty="0"/>
              <a:t>, </a:t>
            </a:r>
            <a:r>
              <a:rPr lang="ru-RU" dirty="0" err="1"/>
              <a:t>fclose</a:t>
            </a:r>
            <a:r>
              <a:rPr lang="ru-RU" dirty="0"/>
              <a:t> — открытие/закрытие,</a:t>
            </a:r>
          </a:p>
          <a:p>
            <a:pPr marL="0" lvl="0" indent="0">
              <a:buNone/>
            </a:pPr>
            <a:r>
              <a:rPr lang="ru-RU" dirty="0" err="1"/>
              <a:t>fgetc</a:t>
            </a:r>
            <a:r>
              <a:rPr lang="ru-RU" dirty="0"/>
              <a:t>, </a:t>
            </a:r>
            <a:r>
              <a:rPr lang="ru-RU" dirty="0" err="1"/>
              <a:t>fputc</a:t>
            </a:r>
            <a:r>
              <a:rPr lang="ru-RU" dirty="0"/>
              <a:t> — чтение/запись символа,</a:t>
            </a:r>
          </a:p>
          <a:p>
            <a:pPr marL="0" lvl="0" indent="0">
              <a:buNone/>
            </a:pPr>
            <a:r>
              <a:rPr lang="ru-RU" dirty="0"/>
              <a:t>EOF — признак конца файла.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561369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BF5DE-35F6-CD42-2A7A-80B69402C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AB50DF-DD26-999B-D460-825778A53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Открытие исходного файла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5946430-B39C-B9B5-61BA-0A0EDD2BB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atinLnBrk="1"/>
            <a:r>
              <a:rPr lang="ru-RU" dirty="0"/>
              <a:t>FILE *</a:t>
            </a:r>
            <a:r>
              <a:rPr lang="ru-RU" dirty="0" err="1"/>
              <a:t>in</a:t>
            </a:r>
            <a:r>
              <a:rPr lang="ru-RU" dirty="0"/>
              <a:t> = </a:t>
            </a:r>
            <a:r>
              <a:rPr lang="ru-RU" dirty="0" err="1"/>
              <a:t>fopen</a:t>
            </a:r>
            <a:r>
              <a:rPr lang="ru-RU" dirty="0"/>
              <a:t>("in.txt", "r");</a:t>
            </a:r>
          </a:p>
          <a:p>
            <a:pPr lvl="0"/>
            <a:r>
              <a:rPr lang="ru-RU" dirty="0" err="1"/>
              <a:t>fopen</a:t>
            </a:r>
            <a:r>
              <a:rPr lang="ru-RU" dirty="0"/>
              <a:t>("in.txt", "r") — открывает файл in.txt </a:t>
            </a:r>
            <a:r>
              <a:rPr lang="ru-RU" b="1" dirty="0"/>
              <a:t>только для чтения</a:t>
            </a:r>
            <a:r>
              <a:rPr lang="ru-RU" dirty="0"/>
              <a:t>.</a:t>
            </a:r>
          </a:p>
          <a:p>
            <a:pPr lvl="0"/>
            <a:r>
              <a:rPr lang="ru-RU" dirty="0"/>
              <a:t>Режим "r": файл </a:t>
            </a:r>
            <a:r>
              <a:rPr lang="ru-RU" b="1" dirty="0"/>
              <a:t>должен существовать</a:t>
            </a:r>
            <a:r>
              <a:rPr lang="ru-RU" dirty="0"/>
              <a:t>, иначе </a:t>
            </a:r>
            <a:r>
              <a:rPr lang="ru-RU" dirty="0" err="1"/>
              <a:t>fopen</a:t>
            </a:r>
            <a:r>
              <a:rPr lang="ru-RU" dirty="0"/>
              <a:t> вернёт NULL.</a:t>
            </a:r>
          </a:p>
          <a:p>
            <a:pPr lvl="0"/>
            <a:r>
              <a:rPr lang="ru-RU" dirty="0"/>
              <a:t>FILE *</a:t>
            </a:r>
            <a:r>
              <a:rPr lang="ru-RU" dirty="0" err="1"/>
              <a:t>in</a:t>
            </a:r>
            <a:r>
              <a:rPr lang="ru-RU" dirty="0"/>
              <a:t> — указатель на структуру FILE — «дескриптор» файла.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645896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C7F88-203C-F427-CE2F-771B0FB43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CBA638-0A5E-E577-3AE2-11F4CE906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Открытие файла для записи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9DA6DEB-B807-F0CD-5E29-BA1ED4B88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atinLnBrk="1">
              <a:buNone/>
            </a:pPr>
            <a:r>
              <a:rPr lang="ru-RU" sz="4000" dirty="0"/>
              <a:t>FILE *</a:t>
            </a:r>
            <a:r>
              <a:rPr lang="ru-RU" sz="4000" dirty="0" err="1"/>
              <a:t>out</a:t>
            </a:r>
            <a:r>
              <a:rPr lang="ru-RU" sz="4000" dirty="0"/>
              <a:t> = </a:t>
            </a:r>
            <a:r>
              <a:rPr lang="ru-RU" sz="4000" dirty="0" err="1"/>
              <a:t>fopen</a:t>
            </a:r>
            <a:r>
              <a:rPr lang="ru-RU" sz="4000" dirty="0"/>
              <a:t>("out.txt", "w");</a:t>
            </a:r>
          </a:p>
          <a:p>
            <a:pPr marL="0" lvl="0" indent="0">
              <a:buNone/>
            </a:pPr>
            <a:r>
              <a:rPr lang="ru-RU" sz="4000" dirty="0"/>
              <a:t>Режим "w": файл открывается </a:t>
            </a:r>
            <a:r>
              <a:rPr lang="ru-RU" sz="4000" b="1" dirty="0"/>
              <a:t>для записи</a:t>
            </a:r>
            <a:r>
              <a:rPr lang="ru-RU" sz="4000" dirty="0"/>
              <a:t>.</a:t>
            </a:r>
          </a:p>
          <a:p>
            <a:pPr marL="0" lvl="0" indent="0">
              <a:buNone/>
            </a:pPr>
            <a:r>
              <a:rPr lang="ru-RU" sz="4000" dirty="0"/>
              <a:t>Если файла </a:t>
            </a:r>
            <a:r>
              <a:rPr lang="ru-RU" sz="4000" b="1" dirty="0"/>
              <a:t>нет</a:t>
            </a:r>
            <a:r>
              <a:rPr lang="ru-RU" sz="4000" dirty="0"/>
              <a:t> — он </a:t>
            </a:r>
            <a:r>
              <a:rPr lang="ru-RU" sz="4000" b="1" dirty="0"/>
              <a:t>создаётся</a:t>
            </a:r>
            <a:r>
              <a:rPr lang="ru-RU" sz="4000" dirty="0"/>
              <a:t>.</a:t>
            </a:r>
          </a:p>
          <a:p>
            <a:pPr marL="0" lvl="0" indent="0">
              <a:buNone/>
            </a:pPr>
            <a:r>
              <a:rPr lang="ru-RU" sz="4000" dirty="0"/>
              <a:t>Если файл </a:t>
            </a:r>
            <a:r>
              <a:rPr lang="ru-RU" sz="4000" b="1" dirty="0"/>
              <a:t>есть</a:t>
            </a:r>
            <a:r>
              <a:rPr lang="ru-RU" sz="4000" dirty="0"/>
              <a:t> — его содержимое </a:t>
            </a:r>
            <a:r>
              <a:rPr lang="ru-RU" sz="4000" b="1" dirty="0"/>
              <a:t>стирается</a:t>
            </a:r>
            <a:r>
              <a:rPr lang="ru-RU" sz="4000" dirty="0"/>
              <a:t> (перезаписывается).</a:t>
            </a:r>
          </a:p>
          <a:p>
            <a:pPr marL="0" indent="0">
              <a:buNone/>
            </a:pP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23378441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E2C17B-A0D7-AF8E-3B26-4E0F2AE8D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Проверка на ошибки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75B8B7-CFAE-EA2D-5C3C-9A3B23CF65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atinLnBrk="1">
              <a:buNone/>
            </a:pPr>
            <a:r>
              <a:rPr lang="ru-RU" sz="4000" dirty="0" err="1"/>
              <a:t>if</a:t>
            </a:r>
            <a:r>
              <a:rPr lang="ru-RU" sz="4000" dirty="0"/>
              <a:t> (!</a:t>
            </a:r>
            <a:r>
              <a:rPr lang="ru-RU" sz="4000" dirty="0" err="1"/>
              <a:t>in</a:t>
            </a:r>
            <a:r>
              <a:rPr lang="ru-RU" sz="4000" dirty="0"/>
              <a:t> || !</a:t>
            </a:r>
            <a:r>
              <a:rPr lang="ru-RU" sz="4000" dirty="0" err="1"/>
              <a:t>out</a:t>
            </a:r>
            <a:r>
              <a:rPr lang="ru-RU" sz="4000" dirty="0"/>
              <a:t>) return 1;</a:t>
            </a:r>
          </a:p>
          <a:p>
            <a:pPr marL="0" lvl="0" indent="0">
              <a:buNone/>
            </a:pPr>
            <a:r>
              <a:rPr lang="ru-RU" sz="4000" dirty="0"/>
              <a:t>!</a:t>
            </a:r>
            <a:r>
              <a:rPr lang="ru-RU" sz="4000" dirty="0" err="1"/>
              <a:t>in</a:t>
            </a:r>
            <a:r>
              <a:rPr lang="ru-RU" sz="4000" dirty="0"/>
              <a:t> — истина, если </a:t>
            </a:r>
            <a:r>
              <a:rPr lang="ru-RU" sz="4000" dirty="0" err="1"/>
              <a:t>in</a:t>
            </a:r>
            <a:r>
              <a:rPr lang="ru-RU" sz="4000" dirty="0"/>
              <a:t> == NULL (файл не открылся).</a:t>
            </a:r>
          </a:p>
          <a:p>
            <a:pPr marL="0" lvl="0" indent="0">
              <a:buNone/>
            </a:pPr>
            <a:r>
              <a:rPr lang="ru-RU" sz="4000" dirty="0"/>
              <a:t>!</a:t>
            </a:r>
            <a:r>
              <a:rPr lang="ru-RU" sz="4000" dirty="0" err="1"/>
              <a:t>out</a:t>
            </a:r>
            <a:r>
              <a:rPr lang="ru-RU" sz="4000" dirty="0"/>
              <a:t> — то же для </a:t>
            </a:r>
            <a:r>
              <a:rPr lang="ru-RU" sz="4000" dirty="0" err="1"/>
              <a:t>out</a:t>
            </a:r>
            <a:r>
              <a:rPr lang="ru-RU" sz="4000" dirty="0"/>
              <a:t>.</a:t>
            </a:r>
          </a:p>
          <a:p>
            <a:pPr marL="0" lvl="0" indent="0">
              <a:buNone/>
            </a:pPr>
            <a:r>
              <a:rPr lang="ru-RU" sz="4000" dirty="0"/>
              <a:t>Если </a:t>
            </a:r>
            <a:r>
              <a:rPr lang="ru-RU" sz="4000" b="1" dirty="0"/>
              <a:t>хотя бы один</a:t>
            </a:r>
            <a:r>
              <a:rPr lang="ru-RU" sz="4000" dirty="0"/>
              <a:t> файл не открылся — выходим с кодом 1 (ошибка).</a:t>
            </a:r>
          </a:p>
          <a:p>
            <a:pPr marL="0" indent="0">
              <a:buNone/>
            </a:pPr>
            <a:r>
              <a:rPr lang="ru-RU" sz="4000" b="1" dirty="0"/>
              <a:t>Важно:</a:t>
            </a:r>
            <a:r>
              <a:rPr lang="ru-RU" sz="4000" dirty="0"/>
              <a:t> проверять нужно </a:t>
            </a:r>
            <a:r>
              <a:rPr lang="ru-RU" sz="4000" b="1" dirty="0"/>
              <a:t>оба</a:t>
            </a:r>
            <a:r>
              <a:rPr lang="ru-RU" sz="4000" dirty="0"/>
              <a:t> указателя.</a:t>
            </a:r>
          </a:p>
          <a:p>
            <a:pPr marL="0" indent="0">
              <a:buNone/>
            </a:pP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78187677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348416-EB3B-D967-F232-A02E96DBA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Чтение и запись посимвольно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EA90A0B-1579-1046-8420-58E478DE1D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latinLnBrk="1">
              <a:buNone/>
            </a:pPr>
            <a:r>
              <a:rPr lang="ru-RU" dirty="0" err="1"/>
              <a:t>int</a:t>
            </a:r>
            <a:r>
              <a:rPr lang="ru-RU" dirty="0"/>
              <a:t> c;</a:t>
            </a:r>
          </a:p>
          <a:p>
            <a:pPr marL="0" indent="0" latinLnBrk="1">
              <a:buNone/>
            </a:pPr>
            <a:r>
              <a:rPr lang="ru-RU" dirty="0" err="1"/>
              <a:t>while</a:t>
            </a:r>
            <a:r>
              <a:rPr lang="ru-RU" dirty="0"/>
              <a:t> ((c = </a:t>
            </a:r>
            <a:r>
              <a:rPr lang="ru-RU" dirty="0" err="1"/>
              <a:t>fgetc</a:t>
            </a:r>
            <a:r>
              <a:rPr lang="ru-RU" dirty="0"/>
              <a:t>(</a:t>
            </a:r>
            <a:r>
              <a:rPr lang="ru-RU" dirty="0" err="1"/>
              <a:t>in</a:t>
            </a:r>
            <a:r>
              <a:rPr lang="ru-RU" dirty="0"/>
              <a:t>)) != EOF)</a:t>
            </a:r>
          </a:p>
          <a:p>
            <a:pPr marL="0" indent="0" latinLnBrk="1">
              <a:buNone/>
            </a:pPr>
            <a:r>
              <a:rPr lang="ru-RU" dirty="0"/>
              <a:t>    </a:t>
            </a:r>
            <a:r>
              <a:rPr lang="ru-RU" dirty="0" err="1"/>
              <a:t>fputc</a:t>
            </a:r>
            <a:r>
              <a:rPr lang="ru-RU" dirty="0"/>
              <a:t>(c, </a:t>
            </a:r>
            <a:r>
              <a:rPr lang="ru-RU" dirty="0" err="1"/>
              <a:t>out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b="1" dirty="0"/>
              <a:t>Как это работает:</a:t>
            </a:r>
            <a:endParaRPr lang="ru-RU" dirty="0"/>
          </a:p>
          <a:p>
            <a:pPr marL="0" lvl="0" indent="0">
              <a:buNone/>
            </a:pPr>
            <a:r>
              <a:rPr lang="ru-RU" dirty="0" err="1"/>
              <a:t>fgetc</a:t>
            </a:r>
            <a:r>
              <a:rPr lang="ru-RU" dirty="0"/>
              <a:t>(</a:t>
            </a:r>
            <a:r>
              <a:rPr lang="ru-RU" dirty="0" err="1"/>
              <a:t>in</a:t>
            </a:r>
            <a:r>
              <a:rPr lang="ru-RU" dirty="0"/>
              <a:t>) — читает </a:t>
            </a:r>
            <a:r>
              <a:rPr lang="ru-RU" b="1" dirty="0"/>
              <a:t>один символ</a:t>
            </a:r>
            <a:r>
              <a:rPr lang="ru-RU" dirty="0"/>
              <a:t> из in.txt.</a:t>
            </a:r>
          </a:p>
          <a:p>
            <a:pPr marL="0" lvl="0" indent="0">
              <a:buNone/>
            </a:pPr>
            <a:r>
              <a:rPr lang="ru-RU" dirty="0"/>
              <a:t>Результат сохраняется в c (тип </a:t>
            </a:r>
            <a:r>
              <a:rPr lang="ru-RU" dirty="0" err="1"/>
              <a:t>int</a:t>
            </a:r>
            <a:r>
              <a:rPr lang="ru-RU" dirty="0"/>
              <a:t>, а не </a:t>
            </a:r>
            <a:r>
              <a:rPr lang="ru-RU" dirty="0" err="1"/>
              <a:t>char</a:t>
            </a:r>
            <a:r>
              <a:rPr lang="ru-RU" dirty="0"/>
              <a:t> — важно!).</a:t>
            </a:r>
          </a:p>
          <a:p>
            <a:pPr marL="0" lvl="0" indent="0">
              <a:buNone/>
            </a:pPr>
            <a:r>
              <a:rPr lang="ru-RU" dirty="0"/>
              <a:t>Если c == EOF — цикл завершается (конец файла).</a:t>
            </a:r>
          </a:p>
          <a:p>
            <a:pPr marL="0" lvl="0" indent="0">
              <a:buNone/>
            </a:pPr>
            <a:r>
              <a:rPr lang="ru-RU" dirty="0" err="1"/>
              <a:t>fputc</a:t>
            </a:r>
            <a:r>
              <a:rPr lang="ru-RU" dirty="0"/>
              <a:t>(c, </a:t>
            </a:r>
            <a:r>
              <a:rPr lang="ru-RU" dirty="0" err="1"/>
              <a:t>out</a:t>
            </a:r>
            <a:r>
              <a:rPr lang="ru-RU" dirty="0"/>
              <a:t>) — записывает символ c в out.txt.</a:t>
            </a:r>
          </a:p>
          <a:p>
            <a:pPr marL="0" lvl="0" indent="0">
              <a:buNone/>
            </a:pPr>
            <a:r>
              <a:rPr lang="ru-RU" dirty="0"/>
              <a:t>Повторяется, пока не достигнут конец файла.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1280333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32201A-7C50-D4F8-4ACD-84969C1EC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Почему </a:t>
            </a:r>
            <a:r>
              <a:rPr lang="ru-RU" dirty="0" err="1"/>
              <a:t>int</a:t>
            </a:r>
            <a:r>
              <a:rPr lang="ru-RU" dirty="0"/>
              <a:t>, а не </a:t>
            </a:r>
            <a:r>
              <a:rPr lang="ru-RU" dirty="0" err="1"/>
              <a:t>char</a:t>
            </a:r>
            <a:r>
              <a:rPr lang="ru-RU" dirty="0"/>
              <a:t>?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B39740-C46A-9ED3-7D58-B4A0809AB6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ru-RU" sz="4400" dirty="0" err="1"/>
              <a:t>fgetc</a:t>
            </a:r>
            <a:r>
              <a:rPr lang="ru-RU" sz="4400" dirty="0"/>
              <a:t> возвращает </a:t>
            </a:r>
            <a:r>
              <a:rPr lang="ru-RU" sz="4400" dirty="0" err="1"/>
              <a:t>int</a:t>
            </a:r>
            <a:r>
              <a:rPr lang="ru-RU" sz="4400" dirty="0"/>
              <a:t> — чтобы можно было отличить </a:t>
            </a:r>
            <a:r>
              <a:rPr lang="ru-RU" sz="4400" b="1" dirty="0"/>
              <a:t>конец файла</a:t>
            </a:r>
            <a:r>
              <a:rPr lang="ru-RU" sz="4400" dirty="0"/>
              <a:t> (EOF) от </a:t>
            </a:r>
            <a:r>
              <a:rPr lang="ru-RU" sz="4400" b="1" dirty="0"/>
              <a:t>любого символа</a:t>
            </a:r>
            <a:r>
              <a:rPr lang="ru-RU" sz="4400" dirty="0"/>
              <a:t>.</a:t>
            </a:r>
          </a:p>
          <a:p>
            <a:pPr marL="0" lvl="0" indent="0">
              <a:buNone/>
            </a:pPr>
            <a:r>
              <a:rPr lang="ru-RU" sz="4400" dirty="0"/>
              <a:t>EOF — это </a:t>
            </a:r>
            <a:r>
              <a:rPr lang="ru-RU" sz="4400" b="1" dirty="0"/>
              <a:t>-1</a:t>
            </a:r>
            <a:r>
              <a:rPr lang="ru-RU" sz="4400" dirty="0"/>
              <a:t> (отрицательное число). Если бы c был </a:t>
            </a:r>
            <a:r>
              <a:rPr lang="ru-RU" sz="4400" dirty="0" err="1"/>
              <a:t>char</a:t>
            </a:r>
            <a:r>
              <a:rPr lang="ru-RU" sz="4400" dirty="0"/>
              <a:t>, то символ с кодом 255 мог бы «слиться» с EOF.</a:t>
            </a:r>
          </a:p>
          <a:p>
            <a:pPr marL="0" indent="0">
              <a:buNone/>
            </a:pPr>
            <a:endParaRPr lang="ru-RU" sz="4400" dirty="0"/>
          </a:p>
        </p:txBody>
      </p:sp>
    </p:spTree>
    <p:extLst>
      <p:ext uri="{BB962C8B-B14F-4D97-AF65-F5344CB8AC3E}">
        <p14:creationId xmlns:p14="http://schemas.microsoft.com/office/powerpoint/2010/main" val="189518983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C8294D-7173-F1A7-3B2B-A4FC862E7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Закрытие файлов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1EC7254-DC9D-99CF-067D-48A3EF6509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latinLnBrk="1">
              <a:buNone/>
            </a:pPr>
            <a:r>
              <a:rPr lang="ru-RU" sz="3600" dirty="0" err="1"/>
              <a:t>fclose</a:t>
            </a:r>
            <a:r>
              <a:rPr lang="ru-RU" sz="3600" dirty="0"/>
              <a:t>(</a:t>
            </a:r>
            <a:r>
              <a:rPr lang="ru-RU" sz="3600" dirty="0" err="1"/>
              <a:t>in</a:t>
            </a:r>
            <a:r>
              <a:rPr lang="ru-RU" sz="3600" dirty="0"/>
              <a:t>);</a:t>
            </a:r>
          </a:p>
          <a:p>
            <a:pPr marL="0" indent="0" latinLnBrk="1">
              <a:buNone/>
            </a:pPr>
            <a:r>
              <a:rPr lang="ru-RU" sz="3600" dirty="0" err="1"/>
              <a:t>fclose</a:t>
            </a:r>
            <a:r>
              <a:rPr lang="ru-RU" sz="3600" dirty="0"/>
              <a:t>(</a:t>
            </a:r>
            <a:r>
              <a:rPr lang="ru-RU" sz="3600" dirty="0" err="1"/>
              <a:t>out</a:t>
            </a:r>
            <a:r>
              <a:rPr lang="ru-RU" sz="3600" dirty="0"/>
              <a:t>);</a:t>
            </a:r>
          </a:p>
          <a:p>
            <a:pPr marL="0" lvl="0" indent="0">
              <a:buNone/>
            </a:pPr>
            <a:r>
              <a:rPr lang="ru-RU" sz="3600" b="1" dirty="0"/>
              <a:t>Сбрасывает буфер</a:t>
            </a:r>
            <a:r>
              <a:rPr lang="ru-RU" sz="3600" dirty="0"/>
              <a:t> — все незаписанные данные сохраняются на диск.</a:t>
            </a:r>
          </a:p>
          <a:p>
            <a:pPr marL="0" lvl="0" indent="0">
              <a:buNone/>
            </a:pPr>
            <a:r>
              <a:rPr lang="ru-RU" sz="3600" b="1" dirty="0"/>
              <a:t>Освобождает ресурсы</a:t>
            </a:r>
            <a:r>
              <a:rPr lang="ru-RU" sz="3600" dirty="0"/>
              <a:t> — дескрипторы возвращаются системе.</a:t>
            </a:r>
          </a:p>
          <a:p>
            <a:pPr marL="0" lvl="0" indent="0">
              <a:buNone/>
            </a:pPr>
            <a:r>
              <a:rPr lang="ru-RU" sz="3600" b="1" dirty="0"/>
              <a:t>Обязательно</a:t>
            </a:r>
            <a:r>
              <a:rPr lang="ru-RU" sz="3600" dirty="0"/>
              <a:t> вызывать </a:t>
            </a:r>
            <a:r>
              <a:rPr lang="ru-RU" sz="3600" dirty="0" err="1"/>
              <a:t>fclose</a:t>
            </a:r>
            <a:r>
              <a:rPr lang="ru-RU" sz="3600" dirty="0"/>
              <a:t> — иначе данные могут не сохраниться.</a:t>
            </a:r>
          </a:p>
          <a:p>
            <a:pPr marL="0" indent="0">
              <a:buNone/>
            </a:pPr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37722874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F47362-3CEF-0936-57B3-DDEA3A2AA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Завершение программы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8438A7-E5F1-A691-53FF-237F193338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atinLnBrk="1">
              <a:buNone/>
            </a:pPr>
            <a:r>
              <a:rPr lang="ru-RU" sz="4400" dirty="0"/>
              <a:t>return 0;</a:t>
            </a:r>
          </a:p>
          <a:p>
            <a:pPr marL="0" indent="0">
              <a:buNone/>
            </a:pPr>
            <a:r>
              <a:rPr lang="ru-RU" sz="4400" dirty="0"/>
              <a:t>Возврат 0 — успешное завершение.</a:t>
            </a:r>
          </a:p>
          <a:p>
            <a:pPr marL="0" indent="0">
              <a:buNone/>
            </a:pPr>
            <a:endParaRPr lang="ru-RU" sz="4400" dirty="0"/>
          </a:p>
        </p:txBody>
      </p:sp>
    </p:spTree>
    <p:extLst>
      <p:ext uri="{BB962C8B-B14F-4D97-AF65-F5344CB8AC3E}">
        <p14:creationId xmlns:p14="http://schemas.microsoft.com/office/powerpoint/2010/main" val="297366460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3BFD89-4017-626B-A562-4A4D18944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Схема работы</a:t>
            </a:r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FF674A6F-4B1C-455D-3A6F-817D6915B6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63241" y="1940132"/>
            <a:ext cx="4750382" cy="4643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196997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F72B5-3B86-2036-B709-9A25673F0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Пошагово: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753BEA3-5D97-0581-559B-E27BF33E7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ru-RU" sz="3600" dirty="0"/>
              <a:t>c = 'H' → </a:t>
            </a:r>
            <a:r>
              <a:rPr lang="ru-RU" sz="3600" dirty="0" err="1"/>
              <a:t>fputc</a:t>
            </a:r>
            <a:r>
              <a:rPr lang="ru-RU" sz="3600" dirty="0"/>
              <a:t>('H', </a:t>
            </a:r>
            <a:r>
              <a:rPr lang="ru-RU" sz="3600" dirty="0" err="1"/>
              <a:t>out</a:t>
            </a:r>
            <a:r>
              <a:rPr lang="ru-RU" sz="3600" dirty="0"/>
              <a:t>)</a:t>
            </a:r>
          </a:p>
          <a:p>
            <a:pPr marL="0" lvl="0" indent="0">
              <a:buNone/>
            </a:pPr>
            <a:r>
              <a:rPr lang="ru-RU" sz="3600" dirty="0"/>
              <a:t>c = 'e' → </a:t>
            </a:r>
            <a:r>
              <a:rPr lang="ru-RU" sz="3600" dirty="0" err="1"/>
              <a:t>fputc</a:t>
            </a:r>
            <a:r>
              <a:rPr lang="ru-RU" sz="3600" dirty="0"/>
              <a:t>('e', </a:t>
            </a:r>
            <a:r>
              <a:rPr lang="ru-RU" sz="3600" dirty="0" err="1"/>
              <a:t>out</a:t>
            </a:r>
            <a:r>
              <a:rPr lang="ru-RU" sz="3600" dirty="0"/>
              <a:t>)</a:t>
            </a:r>
          </a:p>
          <a:p>
            <a:pPr marL="0" lvl="0" indent="0">
              <a:buNone/>
            </a:pPr>
            <a:r>
              <a:rPr lang="ru-RU" sz="3600" dirty="0"/>
              <a:t>c = 'l' → </a:t>
            </a:r>
            <a:r>
              <a:rPr lang="ru-RU" sz="3600" dirty="0" err="1"/>
              <a:t>fputc</a:t>
            </a:r>
            <a:r>
              <a:rPr lang="ru-RU" sz="3600" dirty="0"/>
              <a:t>('l', </a:t>
            </a:r>
            <a:r>
              <a:rPr lang="ru-RU" sz="3600" dirty="0" err="1"/>
              <a:t>out</a:t>
            </a:r>
            <a:r>
              <a:rPr lang="ru-RU" sz="3600" dirty="0"/>
              <a:t>)</a:t>
            </a:r>
          </a:p>
          <a:p>
            <a:pPr marL="0" lvl="0" indent="0">
              <a:buNone/>
            </a:pPr>
            <a:r>
              <a:rPr lang="ru-RU" sz="3600" dirty="0"/>
              <a:t>c = 'l' → </a:t>
            </a:r>
            <a:r>
              <a:rPr lang="ru-RU" sz="3600" dirty="0" err="1"/>
              <a:t>fputc</a:t>
            </a:r>
            <a:r>
              <a:rPr lang="ru-RU" sz="3600" dirty="0"/>
              <a:t>('l', </a:t>
            </a:r>
            <a:r>
              <a:rPr lang="ru-RU" sz="3600" dirty="0" err="1"/>
              <a:t>out</a:t>
            </a:r>
            <a:r>
              <a:rPr lang="ru-RU" sz="3600" dirty="0"/>
              <a:t>)</a:t>
            </a:r>
          </a:p>
          <a:p>
            <a:pPr marL="0" lvl="0" indent="0">
              <a:buNone/>
            </a:pPr>
            <a:r>
              <a:rPr lang="ru-RU" sz="3600" dirty="0"/>
              <a:t>c = 'o' → </a:t>
            </a:r>
            <a:r>
              <a:rPr lang="ru-RU" sz="3600" dirty="0" err="1"/>
              <a:t>fputc</a:t>
            </a:r>
            <a:r>
              <a:rPr lang="ru-RU" sz="3600" dirty="0"/>
              <a:t>('o', </a:t>
            </a:r>
            <a:r>
              <a:rPr lang="ru-RU" sz="3600" dirty="0" err="1"/>
              <a:t>out</a:t>
            </a:r>
            <a:r>
              <a:rPr lang="ru-RU" sz="3600" dirty="0"/>
              <a:t>)</a:t>
            </a:r>
          </a:p>
          <a:p>
            <a:pPr marL="0" lvl="0" indent="0">
              <a:buNone/>
            </a:pPr>
            <a:r>
              <a:rPr lang="ru-RU" sz="3600" dirty="0"/>
              <a:t>c = EOF → выход из цикла</a:t>
            </a:r>
          </a:p>
          <a:p>
            <a:pPr marL="0" indent="0">
              <a:buNone/>
            </a:pPr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147630483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C01D37-4267-7345-E803-DD0F984AFFA3}"/>
              </a:ext>
            </a:extLst>
          </p:cNvPr>
          <p:cNvSpPr txBox="1"/>
          <p:nvPr/>
        </p:nvSpPr>
        <p:spPr>
          <a:xfrm>
            <a:off x="1112520" y="1868085"/>
            <a:ext cx="6096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ct val="1000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6600" b="1" dirty="0">
                <a:solidFill>
                  <a:schemeClr val="tx2">
                    <a:lumMod val="75000"/>
                  </a:schemeClr>
                </a:solidFill>
                <a:effectLst/>
                <a:latin typeface="+mn-lt"/>
              </a:rPr>
              <a:t>Пример работы</a:t>
            </a:r>
            <a:endParaRPr lang="ru-RU" sz="6600" b="1" dirty="0">
              <a:solidFill>
                <a:schemeClr val="tx2">
                  <a:lumMod val="75000"/>
                </a:schemeClr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176803055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E038FD-A0A7-0DAA-06D4-AEB09DFAC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effectLst/>
              </a:rPr>
              <a:t>До запуска: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A39F958-7BA9-63BC-4B86-A3E58DC76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5400" dirty="0"/>
              <a:t>in.txt:</a:t>
            </a:r>
          </a:p>
          <a:p>
            <a:pPr marL="0" indent="0">
              <a:buNone/>
            </a:pPr>
            <a:r>
              <a:rPr lang="ru-RU" sz="5400" dirty="0"/>
              <a:t>text</a:t>
            </a:r>
          </a:p>
          <a:p>
            <a:pPr marL="0" indent="0" latinLnBrk="1">
              <a:buNone/>
            </a:pPr>
            <a:r>
              <a:rPr lang="ru-RU" sz="5400" dirty="0"/>
              <a:t>Hello, </a:t>
            </a:r>
            <a:r>
              <a:rPr lang="ru-RU" sz="5400" dirty="0" err="1"/>
              <a:t>world</a:t>
            </a:r>
            <a:r>
              <a:rPr lang="ru-RU" sz="5400" dirty="0"/>
              <a:t>!</a:t>
            </a:r>
          </a:p>
          <a:p>
            <a:pPr marL="0" indent="0">
              <a:buNone/>
            </a:pPr>
            <a:r>
              <a:rPr lang="ru-RU" sz="5400" dirty="0"/>
              <a:t>out.txt (пустой или не существует).</a:t>
            </a:r>
          </a:p>
          <a:p>
            <a:pPr marL="0" indent="0">
              <a:buNone/>
            </a:pPr>
            <a:endParaRPr lang="ru-RU" sz="5400" dirty="0"/>
          </a:p>
        </p:txBody>
      </p:sp>
    </p:spTree>
    <p:extLst>
      <p:ext uri="{BB962C8B-B14F-4D97-AF65-F5344CB8AC3E}">
        <p14:creationId xmlns:p14="http://schemas.microsoft.com/office/powerpoint/2010/main" val="64544100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991304-399E-15CD-E4CA-A147DBCC9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effectLst/>
              </a:rPr>
              <a:t>После запуска: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F83ACFB-7957-2C9C-16B8-5124278223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5400" dirty="0"/>
              <a:t>out.txt:</a:t>
            </a:r>
          </a:p>
          <a:p>
            <a:pPr marL="0" indent="0">
              <a:buNone/>
            </a:pPr>
            <a:r>
              <a:rPr lang="ru-RU" sz="5400" dirty="0"/>
              <a:t>text</a:t>
            </a:r>
          </a:p>
          <a:p>
            <a:pPr marL="0" indent="0" latinLnBrk="1">
              <a:buNone/>
            </a:pPr>
            <a:r>
              <a:rPr lang="ru-RU" sz="5400" dirty="0"/>
              <a:t>Hello, </a:t>
            </a:r>
            <a:r>
              <a:rPr lang="ru-RU" sz="5400" dirty="0" err="1"/>
              <a:t>world</a:t>
            </a:r>
            <a:r>
              <a:rPr lang="ru-RU" sz="5400" dirty="0"/>
              <a:t>!</a:t>
            </a:r>
          </a:p>
          <a:p>
            <a:pPr marL="0" indent="0">
              <a:buNone/>
            </a:pPr>
            <a:r>
              <a:rPr lang="ru-RU" sz="5400" dirty="0"/>
              <a:t>Содержимое </a:t>
            </a:r>
            <a:r>
              <a:rPr lang="ru-RU" sz="5400" b="1" dirty="0"/>
              <a:t>скопировано</a:t>
            </a:r>
            <a:r>
              <a:rPr lang="ru-RU" sz="5400" dirty="0"/>
              <a:t>.</a:t>
            </a:r>
          </a:p>
          <a:p>
            <a:pPr marL="0" indent="0">
              <a:buNone/>
            </a:pPr>
            <a:endParaRPr lang="ru-RU" sz="5400" dirty="0"/>
          </a:p>
        </p:txBody>
      </p:sp>
    </p:spTree>
    <p:extLst>
      <p:ext uri="{BB962C8B-B14F-4D97-AF65-F5344CB8AC3E}">
        <p14:creationId xmlns:p14="http://schemas.microsoft.com/office/powerpoint/2010/main" val="354282003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FA2EA6-DDD6-B108-8916-FD9312885ABA}"/>
              </a:ext>
            </a:extLst>
          </p:cNvPr>
          <p:cNvSpPr txBox="1"/>
          <p:nvPr/>
        </p:nvSpPr>
        <p:spPr>
          <a:xfrm>
            <a:off x="762000" y="1234440"/>
            <a:ext cx="8382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ct val="1000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6600" b="1" dirty="0">
                <a:solidFill>
                  <a:schemeClr val="tx2">
                    <a:lumMod val="75000"/>
                  </a:schemeClr>
                </a:solidFill>
                <a:effectLst/>
                <a:latin typeface="+mn-lt"/>
              </a:rPr>
              <a:t>Что важно запомнить</a:t>
            </a:r>
            <a:endParaRPr lang="ru-RU" sz="6600" b="1" dirty="0">
              <a:solidFill>
                <a:schemeClr val="tx2">
                  <a:lumMod val="75000"/>
                </a:schemeClr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392895342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87245B7-0B10-6CE3-5C92-69CC1505A6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20" y="144855"/>
            <a:ext cx="11170920" cy="6385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33374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16B057-39E5-695A-7C57-776C77CDD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12. Перевод в верхний регистр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972F163-F88D-E944-05CC-8AE52638E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19201"/>
            <a:ext cx="10972800" cy="490696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000" dirty="0"/>
              <a:t>#include &lt;</a:t>
            </a:r>
            <a:r>
              <a:rPr lang="ru-RU" sz="2000" dirty="0" err="1"/>
              <a:t>stdio.h</a:t>
            </a:r>
            <a:r>
              <a:rPr lang="ru-RU" sz="2000" dirty="0"/>
              <a:t>&gt;</a:t>
            </a:r>
          </a:p>
          <a:p>
            <a:pPr marL="0" indent="0">
              <a:buNone/>
            </a:pPr>
            <a:r>
              <a:rPr lang="ru-RU" sz="2000" dirty="0"/>
              <a:t>#include &lt;</a:t>
            </a:r>
            <a:r>
              <a:rPr lang="ru-RU" sz="2000" dirty="0" err="1"/>
              <a:t>ctype.h</a:t>
            </a:r>
            <a:r>
              <a:rPr lang="ru-RU" sz="2000" dirty="0"/>
              <a:t>&gt;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r>
              <a:rPr lang="ru-RU" sz="2000" dirty="0" err="1"/>
              <a:t>int</a:t>
            </a:r>
            <a:r>
              <a:rPr lang="ru-RU" sz="2000" dirty="0"/>
              <a:t> main(</a:t>
            </a:r>
            <a:r>
              <a:rPr lang="ru-RU" sz="2000" dirty="0" err="1"/>
              <a:t>void</a:t>
            </a:r>
            <a:r>
              <a:rPr lang="ru-RU" sz="2000" dirty="0"/>
              <a:t>) {</a:t>
            </a:r>
          </a:p>
          <a:p>
            <a:pPr marL="0" indent="0">
              <a:buNone/>
            </a:pPr>
            <a:r>
              <a:rPr lang="ru-RU" sz="2000" dirty="0"/>
              <a:t>    FILE *</a:t>
            </a:r>
            <a:r>
              <a:rPr lang="ru-RU" sz="2000" dirty="0" err="1"/>
              <a:t>fp</a:t>
            </a:r>
            <a:r>
              <a:rPr lang="ru-RU" sz="2000" dirty="0"/>
              <a:t> = </a:t>
            </a:r>
            <a:r>
              <a:rPr lang="ru-RU" sz="2000" dirty="0" err="1"/>
              <a:t>fopen</a:t>
            </a:r>
            <a:r>
              <a:rPr lang="ru-RU" sz="2000" dirty="0"/>
              <a:t>("in.txt", "r");</a:t>
            </a:r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if</a:t>
            </a:r>
            <a:r>
              <a:rPr lang="ru-RU" sz="2000" dirty="0"/>
              <a:t> (!</a:t>
            </a:r>
            <a:r>
              <a:rPr lang="ru-RU" sz="2000" dirty="0" err="1"/>
              <a:t>fp</a:t>
            </a:r>
            <a:r>
              <a:rPr lang="ru-RU" sz="2000" dirty="0"/>
              <a:t>) return 1;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int</a:t>
            </a:r>
            <a:r>
              <a:rPr lang="ru-RU" sz="2000" dirty="0"/>
              <a:t> c;</a:t>
            </a:r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while</a:t>
            </a:r>
            <a:r>
              <a:rPr lang="ru-RU" sz="2000" dirty="0"/>
              <a:t> ((c = </a:t>
            </a:r>
            <a:r>
              <a:rPr lang="ru-RU" sz="2000" dirty="0" err="1"/>
              <a:t>fgetc</a:t>
            </a:r>
            <a:r>
              <a:rPr lang="ru-RU" sz="2000" dirty="0"/>
              <a:t>(</a:t>
            </a:r>
            <a:r>
              <a:rPr lang="ru-RU" sz="2000" dirty="0" err="1"/>
              <a:t>fp</a:t>
            </a:r>
            <a:r>
              <a:rPr lang="ru-RU" sz="2000" dirty="0"/>
              <a:t>)) != EOF)</a:t>
            </a:r>
          </a:p>
          <a:p>
            <a:pPr marL="0" indent="0">
              <a:buNone/>
            </a:pPr>
            <a:r>
              <a:rPr lang="ru-RU" sz="2000" dirty="0"/>
              <a:t>        </a:t>
            </a:r>
            <a:r>
              <a:rPr lang="ru-RU" sz="2000" dirty="0" err="1"/>
              <a:t>putchar</a:t>
            </a:r>
            <a:r>
              <a:rPr lang="ru-RU" sz="2000" dirty="0"/>
              <a:t>(</a:t>
            </a:r>
            <a:r>
              <a:rPr lang="ru-RU" sz="2000" dirty="0" err="1"/>
              <a:t>toupper</a:t>
            </a:r>
            <a:r>
              <a:rPr lang="ru-RU" sz="2000" dirty="0"/>
              <a:t>(c));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fclose</a:t>
            </a:r>
            <a:r>
              <a:rPr lang="ru-RU" sz="2000" dirty="0"/>
              <a:t>(</a:t>
            </a:r>
            <a:r>
              <a:rPr lang="ru-RU" sz="2000" dirty="0" err="1"/>
              <a:t>fp</a:t>
            </a:r>
            <a:r>
              <a:rPr lang="ru-RU" sz="2000" dirty="0"/>
              <a:t>);</a:t>
            </a:r>
          </a:p>
          <a:p>
            <a:pPr marL="0" indent="0">
              <a:buNone/>
            </a:pPr>
            <a:r>
              <a:rPr lang="ru-RU" sz="2000" dirty="0"/>
              <a:t>    return 0;</a:t>
            </a:r>
          </a:p>
          <a:p>
            <a:pPr marL="0" indent="0">
              <a:buNone/>
            </a:pPr>
            <a:r>
              <a:rPr lang="ru-RU" sz="2000" dirty="0"/>
              <a:t>}</a:t>
            </a:r>
          </a:p>
          <a:p>
            <a:pPr marL="0" indent="0">
              <a:buNone/>
            </a:pPr>
            <a:r>
              <a:rPr lang="ru-RU" sz="2000" b="1" dirty="0"/>
              <a:t>Что делает:</a:t>
            </a:r>
            <a:r>
              <a:rPr lang="ru-RU" sz="2000" dirty="0"/>
              <a:t> читает файл и выводит </a:t>
            </a:r>
            <a:r>
              <a:rPr lang="ru-RU" sz="2000" b="1" dirty="0"/>
              <a:t>в верхнем регистре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404122640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EAAF21-E3C2-D586-0965-5834C35F8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Обязательные заголовки: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893C9AD-D946-5F14-1ACF-9040A01D51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ru-RU" sz="6000" dirty="0"/>
              <a:t>&lt;</a:t>
            </a:r>
            <a:r>
              <a:rPr lang="ru-RU" sz="6000" dirty="0" err="1"/>
              <a:t>stdio.h</a:t>
            </a:r>
            <a:r>
              <a:rPr lang="ru-RU" sz="6000" dirty="0"/>
              <a:t>&gt; — для </a:t>
            </a:r>
            <a:r>
              <a:rPr lang="ru-RU" sz="6000" dirty="0" err="1"/>
              <a:t>fopen</a:t>
            </a:r>
            <a:r>
              <a:rPr lang="ru-RU" sz="6000" dirty="0"/>
              <a:t>, </a:t>
            </a:r>
            <a:r>
              <a:rPr lang="ru-RU" sz="6000" dirty="0" err="1"/>
              <a:t>fgetc</a:t>
            </a:r>
            <a:r>
              <a:rPr lang="ru-RU" sz="6000" dirty="0"/>
              <a:t>, </a:t>
            </a:r>
            <a:r>
              <a:rPr lang="ru-RU" sz="6000" dirty="0" err="1"/>
              <a:t>putchar</a:t>
            </a:r>
            <a:r>
              <a:rPr lang="ru-RU" sz="6000" dirty="0"/>
              <a:t>, </a:t>
            </a:r>
            <a:r>
              <a:rPr lang="ru-RU" sz="6000" dirty="0" err="1"/>
              <a:t>fclose</a:t>
            </a:r>
            <a:r>
              <a:rPr lang="ru-RU" sz="6000" dirty="0"/>
              <a:t>.</a:t>
            </a:r>
          </a:p>
          <a:p>
            <a:pPr marL="0" lvl="0" indent="0">
              <a:buNone/>
            </a:pPr>
            <a:r>
              <a:rPr lang="ru-RU" sz="6000" dirty="0"/>
              <a:t>&lt;</a:t>
            </a:r>
            <a:r>
              <a:rPr lang="ru-RU" sz="6000" dirty="0" err="1"/>
              <a:t>ctype.h</a:t>
            </a:r>
            <a:r>
              <a:rPr lang="ru-RU" sz="6000" dirty="0"/>
              <a:t>&gt; — для </a:t>
            </a:r>
            <a:r>
              <a:rPr lang="ru-RU" sz="6000" dirty="0" err="1"/>
              <a:t>toupper</a:t>
            </a:r>
            <a:r>
              <a:rPr lang="ru-RU" sz="6000" dirty="0"/>
              <a:t>.</a:t>
            </a:r>
          </a:p>
          <a:p>
            <a:pPr marL="0" indent="0">
              <a:buNone/>
            </a:pPr>
            <a:endParaRPr lang="ru-RU" sz="6000" dirty="0"/>
          </a:p>
        </p:txBody>
      </p:sp>
    </p:spTree>
    <p:extLst>
      <p:ext uri="{BB962C8B-B14F-4D97-AF65-F5344CB8AC3E}">
        <p14:creationId xmlns:p14="http://schemas.microsoft.com/office/powerpoint/2010/main" val="241661633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F7200E-2898-546B-E186-683FDD695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c = </a:t>
            </a:r>
            <a:r>
              <a:rPr lang="ru-RU" dirty="0" err="1"/>
              <a:t>fgetc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) — чтение символа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721D60E-9A42-14F1-7315-B06D2CA54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ru-RU" dirty="0" err="1"/>
              <a:t>fgetc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) — читает </a:t>
            </a:r>
            <a:r>
              <a:rPr lang="ru-RU" b="1" dirty="0"/>
              <a:t>один символ</a:t>
            </a:r>
            <a:r>
              <a:rPr lang="ru-RU" dirty="0"/>
              <a:t> из файла, на который указывает </a:t>
            </a:r>
            <a:r>
              <a:rPr lang="ru-RU" dirty="0" err="1"/>
              <a:t>fp</a:t>
            </a:r>
            <a:r>
              <a:rPr lang="ru-RU" dirty="0"/>
              <a:t>.</a:t>
            </a:r>
          </a:p>
          <a:p>
            <a:pPr marL="0" lvl="0" indent="0">
              <a:buNone/>
            </a:pPr>
            <a:r>
              <a:rPr lang="ru-RU" dirty="0"/>
              <a:t>Возвращает </a:t>
            </a:r>
            <a:r>
              <a:rPr lang="ru-RU" dirty="0" err="1"/>
              <a:t>int</a:t>
            </a:r>
            <a:r>
              <a:rPr lang="ru-RU" dirty="0"/>
              <a:t> — код символа или EOF (-1), если достигнут конец файла.</a:t>
            </a:r>
          </a:p>
          <a:p>
            <a:pPr marL="0" lvl="0" indent="0">
              <a:buNone/>
            </a:pPr>
            <a:r>
              <a:rPr lang="ru-RU" dirty="0"/>
              <a:t>Результат сохраняется в переменной c (тип </a:t>
            </a:r>
            <a:r>
              <a:rPr lang="ru-RU" dirty="0" err="1"/>
              <a:t>int</a:t>
            </a:r>
            <a:r>
              <a:rPr lang="ru-RU" dirty="0"/>
              <a:t>).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9661633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FF23EA-6D17-E19C-44A9-F46E445FAA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(c = </a:t>
            </a:r>
            <a:r>
              <a:rPr lang="ru-RU" dirty="0" err="1"/>
              <a:t>fgetc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)) != EOF — проверка на конец файла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2000167-A971-75FF-1B5B-747CC46113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ru-RU" sz="3600" dirty="0"/>
              <a:t>Скобки вокруг c = </a:t>
            </a:r>
            <a:r>
              <a:rPr lang="ru-RU" sz="3600" dirty="0" err="1"/>
              <a:t>fgetc</a:t>
            </a:r>
            <a:r>
              <a:rPr lang="ru-RU" sz="3600" dirty="0"/>
              <a:t>(</a:t>
            </a:r>
            <a:r>
              <a:rPr lang="ru-RU" sz="3600" dirty="0" err="1"/>
              <a:t>fp</a:t>
            </a:r>
            <a:r>
              <a:rPr lang="ru-RU" sz="3600" dirty="0"/>
              <a:t>) </a:t>
            </a:r>
            <a:r>
              <a:rPr lang="ru-RU" sz="3600" b="1" dirty="0"/>
              <a:t>обязательны</a:t>
            </a:r>
            <a:r>
              <a:rPr lang="ru-RU" sz="3600" dirty="0"/>
              <a:t> — иначе приоритет операций нарушится.</a:t>
            </a:r>
          </a:p>
          <a:p>
            <a:pPr marL="0" lvl="0" indent="0">
              <a:buNone/>
            </a:pPr>
            <a:r>
              <a:rPr lang="ru-RU" sz="3600" dirty="0"/>
              <a:t>Сначала </a:t>
            </a:r>
            <a:r>
              <a:rPr lang="ru-RU" sz="3600" b="1" dirty="0"/>
              <a:t>читаем</a:t>
            </a:r>
            <a:r>
              <a:rPr lang="ru-RU" sz="3600" dirty="0"/>
              <a:t> символ, потом </a:t>
            </a:r>
            <a:r>
              <a:rPr lang="ru-RU" sz="3600" b="1" dirty="0"/>
              <a:t>сравниваем</a:t>
            </a:r>
            <a:r>
              <a:rPr lang="ru-RU" sz="3600" dirty="0"/>
              <a:t> с EOF.</a:t>
            </a:r>
          </a:p>
          <a:p>
            <a:pPr marL="0" lvl="0" indent="0">
              <a:buNone/>
            </a:pPr>
            <a:r>
              <a:rPr lang="ru-RU" sz="3600" dirty="0"/>
              <a:t>Если символ не EOF — условие </a:t>
            </a:r>
            <a:r>
              <a:rPr lang="ru-RU" sz="3600" b="1" dirty="0"/>
              <a:t>истинно</a:t>
            </a:r>
            <a:r>
              <a:rPr lang="ru-RU" sz="3600" dirty="0"/>
              <a:t>, тело цикла выполняется.</a:t>
            </a:r>
          </a:p>
          <a:p>
            <a:pPr marL="0" indent="0">
              <a:buNone/>
            </a:pPr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73084841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A953B3-BBEB-C3DC-D663-3BBEDDDC6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Почему c — </a:t>
            </a:r>
            <a:r>
              <a:rPr lang="ru-RU" dirty="0" err="1"/>
              <a:t>int</a:t>
            </a:r>
            <a:r>
              <a:rPr lang="ru-RU" dirty="0"/>
              <a:t>, а не </a:t>
            </a:r>
            <a:r>
              <a:rPr lang="ru-RU" dirty="0" err="1"/>
              <a:t>char</a:t>
            </a:r>
            <a:r>
              <a:rPr lang="ru-RU" dirty="0"/>
              <a:t>?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C22E31F-DAA6-6415-07BF-F4C09AF48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ru-RU" sz="4000" dirty="0"/>
              <a:t>EOF = </a:t>
            </a:r>
            <a:r>
              <a:rPr lang="ru-RU" sz="4000" b="1" dirty="0"/>
              <a:t>-1</a:t>
            </a:r>
            <a:r>
              <a:rPr lang="ru-RU" sz="4000" dirty="0"/>
              <a:t> (отрицательное число).</a:t>
            </a:r>
          </a:p>
          <a:p>
            <a:pPr marL="0" lvl="0" indent="0">
              <a:buNone/>
            </a:pPr>
            <a:r>
              <a:rPr lang="ru-RU" sz="4000" dirty="0"/>
              <a:t>Если c был бы </a:t>
            </a:r>
            <a:r>
              <a:rPr lang="ru-RU" sz="4000" dirty="0" err="1"/>
              <a:t>char</a:t>
            </a:r>
            <a:r>
              <a:rPr lang="ru-RU" sz="4000" dirty="0"/>
              <a:t>, символ с кодом 255 мог бы «слиться» с EOF.</a:t>
            </a:r>
          </a:p>
          <a:p>
            <a:pPr marL="0" lvl="0" indent="0">
              <a:buNone/>
            </a:pPr>
            <a:r>
              <a:rPr lang="ru-RU" sz="4000" dirty="0"/>
              <a:t>Поэтому </a:t>
            </a:r>
            <a:r>
              <a:rPr lang="ru-RU" sz="4000" dirty="0" err="1"/>
              <a:t>fgetc</a:t>
            </a:r>
            <a:r>
              <a:rPr lang="ru-RU" sz="4000" dirty="0"/>
              <a:t> возвращает </a:t>
            </a:r>
            <a:r>
              <a:rPr lang="ru-RU" sz="4000" dirty="0" err="1"/>
              <a:t>int</a:t>
            </a:r>
            <a:r>
              <a:rPr lang="ru-RU" sz="4000" dirty="0"/>
              <a:t>.</a:t>
            </a:r>
          </a:p>
          <a:p>
            <a:pPr marL="0" indent="0">
              <a:buNone/>
            </a:pP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254828627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6E0475-B7B6-35BD-07C1-155512AD9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err="1"/>
              <a:t>toupper</a:t>
            </a:r>
            <a:r>
              <a:rPr lang="ru-RU" dirty="0"/>
              <a:t>(c) — перевод в верхний регистр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47E06BB-3677-D2CB-14C2-57D44BDCC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ru-RU" sz="4000" dirty="0" err="1"/>
              <a:t>toupper</a:t>
            </a:r>
            <a:r>
              <a:rPr lang="ru-RU" sz="4000" dirty="0"/>
              <a:t>(c) — функция из &lt;</a:t>
            </a:r>
            <a:r>
              <a:rPr lang="ru-RU" sz="4000" dirty="0" err="1"/>
              <a:t>ctype.h</a:t>
            </a:r>
            <a:r>
              <a:rPr lang="ru-RU" sz="4000" dirty="0"/>
              <a:t>&gt;.</a:t>
            </a:r>
          </a:p>
          <a:p>
            <a:pPr marL="0" lvl="0" indent="0">
              <a:buNone/>
            </a:pPr>
            <a:r>
              <a:rPr lang="ru-RU" sz="4000" dirty="0"/>
              <a:t>Если c — </a:t>
            </a:r>
            <a:r>
              <a:rPr lang="ru-RU" sz="4000" b="1" dirty="0"/>
              <a:t>строчная буква</a:t>
            </a:r>
            <a:r>
              <a:rPr lang="ru-RU" sz="4000" dirty="0"/>
              <a:t> ('</a:t>
            </a:r>
            <a:r>
              <a:rPr lang="ru-RU" sz="4000" dirty="0" err="1"/>
              <a:t>a'..'z</a:t>
            </a:r>
            <a:r>
              <a:rPr lang="ru-RU" sz="4000" dirty="0"/>
              <a:t>') — возвращает </a:t>
            </a:r>
            <a:r>
              <a:rPr lang="ru-RU" sz="4000" b="1" dirty="0"/>
              <a:t>заглавную</a:t>
            </a:r>
            <a:r>
              <a:rPr lang="ru-RU" sz="4000" dirty="0"/>
              <a:t> ('A'..'Z').</a:t>
            </a:r>
          </a:p>
          <a:p>
            <a:pPr marL="0" lvl="0" indent="0">
              <a:buNone/>
            </a:pPr>
            <a:r>
              <a:rPr lang="ru-RU" sz="4000" dirty="0"/>
              <a:t>Если c — </a:t>
            </a:r>
            <a:r>
              <a:rPr lang="ru-RU" sz="4000" b="1" dirty="0"/>
              <a:t>не буква</a:t>
            </a:r>
            <a:r>
              <a:rPr lang="ru-RU" sz="4000" dirty="0"/>
              <a:t> (цифра, пробел, знак) — возвращает </a:t>
            </a:r>
            <a:r>
              <a:rPr lang="ru-RU" sz="4000" b="1" dirty="0"/>
              <a:t>без изменений</a:t>
            </a:r>
            <a:r>
              <a:rPr lang="ru-RU" sz="4000" dirty="0"/>
              <a:t>.</a:t>
            </a:r>
          </a:p>
          <a:p>
            <a:pPr marL="0" indent="0">
              <a:buNone/>
            </a:pP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308441707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7EEE90-41A1-9408-C4D8-D5F231EA0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err="1"/>
              <a:t>putchar</a:t>
            </a:r>
            <a:r>
              <a:rPr lang="ru-RU" dirty="0"/>
              <a:t>(...) — вывод символа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432824F-95F3-E704-6501-3CC34966F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>
              <a:buNone/>
            </a:pPr>
            <a:r>
              <a:rPr lang="ru-RU" sz="6600" dirty="0" err="1"/>
              <a:t>putchar</a:t>
            </a:r>
            <a:r>
              <a:rPr lang="ru-RU" sz="6600" dirty="0"/>
              <a:t>(x) — выводит символ x в </a:t>
            </a:r>
            <a:r>
              <a:rPr lang="ru-RU" sz="6600" b="1" dirty="0" err="1"/>
              <a:t>stdout</a:t>
            </a:r>
            <a:r>
              <a:rPr lang="ru-RU" sz="6600" dirty="0"/>
              <a:t> (на экран).</a:t>
            </a:r>
          </a:p>
          <a:p>
            <a:pPr marL="0" lvl="0" indent="0">
              <a:buNone/>
            </a:pPr>
            <a:r>
              <a:rPr lang="ru-RU" sz="6600" dirty="0"/>
              <a:t>Эквивалент </a:t>
            </a:r>
            <a:r>
              <a:rPr lang="ru-RU" sz="6600" dirty="0" err="1"/>
              <a:t>printf</a:t>
            </a:r>
            <a:r>
              <a:rPr lang="ru-RU" sz="6600" dirty="0"/>
              <a:t>("%c", x).</a:t>
            </a:r>
          </a:p>
          <a:p>
            <a:pPr marL="0" indent="0">
              <a:buNone/>
            </a:pPr>
            <a:br>
              <a:rPr lang="ru-RU" sz="6600" dirty="0"/>
            </a:br>
            <a:endParaRPr lang="ru-RU" sz="6600" dirty="0"/>
          </a:p>
        </p:txBody>
      </p:sp>
    </p:spTree>
    <p:extLst>
      <p:ext uri="{BB962C8B-B14F-4D97-AF65-F5344CB8AC3E}">
        <p14:creationId xmlns:p14="http://schemas.microsoft.com/office/powerpoint/2010/main" val="120161841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7A5295-1671-3627-AE44-308DA6550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13. Удаление пустых строк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F5A625F-816E-D698-8A69-9F2A86D779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158241"/>
            <a:ext cx="10972800" cy="496792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1900" dirty="0"/>
              <a:t>#include &lt;</a:t>
            </a:r>
            <a:r>
              <a:rPr lang="ru-RU" sz="1900" dirty="0" err="1"/>
              <a:t>stdio.h</a:t>
            </a:r>
            <a:r>
              <a:rPr lang="ru-RU" sz="1900" dirty="0"/>
              <a:t>&gt;</a:t>
            </a:r>
          </a:p>
          <a:p>
            <a:pPr marL="0" indent="0">
              <a:buNone/>
            </a:pPr>
            <a:r>
              <a:rPr lang="ru-RU" sz="1900" dirty="0"/>
              <a:t>#include &lt;</a:t>
            </a:r>
            <a:r>
              <a:rPr lang="ru-RU" sz="1900" dirty="0" err="1"/>
              <a:t>string.h</a:t>
            </a:r>
            <a:r>
              <a:rPr lang="ru-RU" sz="1900" dirty="0"/>
              <a:t>&gt;</a:t>
            </a:r>
          </a:p>
          <a:p>
            <a:pPr marL="0" indent="0">
              <a:buNone/>
            </a:pPr>
            <a:endParaRPr lang="ru-RU" sz="1900" dirty="0"/>
          </a:p>
          <a:p>
            <a:pPr marL="0" indent="0">
              <a:buNone/>
            </a:pPr>
            <a:r>
              <a:rPr lang="ru-RU" sz="1900" dirty="0" err="1"/>
              <a:t>int</a:t>
            </a:r>
            <a:r>
              <a:rPr lang="ru-RU" sz="1900" dirty="0"/>
              <a:t> main(</a:t>
            </a:r>
            <a:r>
              <a:rPr lang="ru-RU" sz="1900" dirty="0" err="1"/>
              <a:t>void</a:t>
            </a:r>
            <a:r>
              <a:rPr lang="ru-RU" sz="1900" dirty="0"/>
              <a:t>) {</a:t>
            </a:r>
          </a:p>
          <a:p>
            <a:pPr marL="0" indent="0">
              <a:buNone/>
            </a:pPr>
            <a:r>
              <a:rPr lang="ru-RU" sz="1900" dirty="0"/>
              <a:t>    FILE *</a:t>
            </a:r>
            <a:r>
              <a:rPr lang="ru-RU" sz="1900" dirty="0" err="1"/>
              <a:t>fp</a:t>
            </a:r>
            <a:r>
              <a:rPr lang="ru-RU" sz="1900" dirty="0"/>
              <a:t> = </a:t>
            </a:r>
            <a:r>
              <a:rPr lang="ru-RU" sz="1900" dirty="0" err="1"/>
              <a:t>fopen</a:t>
            </a:r>
            <a:r>
              <a:rPr lang="ru-RU" sz="1900" dirty="0"/>
              <a:t>("in.txt", "r");</a:t>
            </a:r>
          </a:p>
          <a:p>
            <a:pPr marL="0" indent="0">
              <a:buNone/>
            </a:pPr>
            <a:r>
              <a:rPr lang="ru-RU" sz="1900" dirty="0"/>
              <a:t>    </a:t>
            </a:r>
            <a:r>
              <a:rPr lang="ru-RU" sz="1900" dirty="0" err="1"/>
              <a:t>if</a:t>
            </a:r>
            <a:r>
              <a:rPr lang="ru-RU" sz="1900" dirty="0"/>
              <a:t> (!</a:t>
            </a:r>
            <a:r>
              <a:rPr lang="ru-RU" sz="1900" dirty="0" err="1"/>
              <a:t>fp</a:t>
            </a:r>
            <a:r>
              <a:rPr lang="ru-RU" sz="1900" dirty="0"/>
              <a:t>) return 1;</a:t>
            </a:r>
          </a:p>
          <a:p>
            <a:pPr marL="0" indent="0">
              <a:buNone/>
            </a:pPr>
            <a:endParaRPr lang="ru-RU" sz="1900" dirty="0"/>
          </a:p>
          <a:p>
            <a:pPr marL="0" indent="0">
              <a:buNone/>
            </a:pPr>
            <a:r>
              <a:rPr lang="ru-RU" sz="1900" dirty="0"/>
              <a:t>    </a:t>
            </a:r>
            <a:r>
              <a:rPr lang="ru-RU" sz="1900" dirty="0" err="1"/>
              <a:t>char</a:t>
            </a:r>
            <a:r>
              <a:rPr lang="ru-RU" sz="1900" dirty="0"/>
              <a:t> </a:t>
            </a:r>
            <a:r>
              <a:rPr lang="ru-RU" sz="1900" dirty="0" err="1"/>
              <a:t>buf</a:t>
            </a:r>
            <a:r>
              <a:rPr lang="ru-RU" sz="1900" dirty="0"/>
              <a:t>[256];</a:t>
            </a:r>
          </a:p>
          <a:p>
            <a:pPr marL="0" indent="0">
              <a:buNone/>
            </a:pPr>
            <a:r>
              <a:rPr lang="ru-RU" sz="1900" dirty="0"/>
              <a:t>    </a:t>
            </a:r>
            <a:r>
              <a:rPr lang="ru-RU" sz="1900" dirty="0" err="1"/>
              <a:t>while</a:t>
            </a:r>
            <a:r>
              <a:rPr lang="ru-RU" sz="1900" dirty="0"/>
              <a:t> (</a:t>
            </a:r>
            <a:r>
              <a:rPr lang="ru-RU" sz="1900" dirty="0" err="1"/>
              <a:t>fgets</a:t>
            </a:r>
            <a:r>
              <a:rPr lang="ru-RU" sz="1900" dirty="0"/>
              <a:t>(</a:t>
            </a:r>
            <a:r>
              <a:rPr lang="ru-RU" sz="1900" dirty="0" err="1"/>
              <a:t>buf</a:t>
            </a:r>
            <a:r>
              <a:rPr lang="ru-RU" sz="1900" dirty="0"/>
              <a:t>, </a:t>
            </a:r>
            <a:r>
              <a:rPr lang="ru-RU" sz="1900" dirty="0" err="1"/>
              <a:t>sizeof</a:t>
            </a:r>
            <a:r>
              <a:rPr lang="ru-RU" sz="1900" dirty="0"/>
              <a:t>(</a:t>
            </a:r>
            <a:r>
              <a:rPr lang="ru-RU" sz="1900" dirty="0" err="1"/>
              <a:t>buf</a:t>
            </a:r>
            <a:r>
              <a:rPr lang="ru-RU" sz="1900" dirty="0"/>
              <a:t>), </a:t>
            </a:r>
            <a:r>
              <a:rPr lang="ru-RU" sz="1900" dirty="0" err="1"/>
              <a:t>fp</a:t>
            </a:r>
            <a:r>
              <a:rPr lang="ru-RU" sz="1900" dirty="0"/>
              <a:t>))</a:t>
            </a:r>
          </a:p>
          <a:p>
            <a:pPr marL="0" indent="0">
              <a:buNone/>
            </a:pPr>
            <a:r>
              <a:rPr lang="ru-RU" sz="1900" dirty="0"/>
              <a:t>        </a:t>
            </a:r>
            <a:r>
              <a:rPr lang="ru-RU" sz="1900" dirty="0" err="1"/>
              <a:t>if</a:t>
            </a:r>
            <a:r>
              <a:rPr lang="ru-RU" sz="1900" dirty="0"/>
              <a:t> (</a:t>
            </a:r>
            <a:r>
              <a:rPr lang="ru-RU" sz="1900" dirty="0" err="1"/>
              <a:t>strcmp</a:t>
            </a:r>
            <a:r>
              <a:rPr lang="ru-RU" sz="1900" dirty="0"/>
              <a:t>(</a:t>
            </a:r>
            <a:r>
              <a:rPr lang="ru-RU" sz="1900" dirty="0" err="1"/>
              <a:t>buf</a:t>
            </a:r>
            <a:r>
              <a:rPr lang="ru-RU" sz="1900" dirty="0"/>
              <a:t>, "\n") != 0)</a:t>
            </a:r>
          </a:p>
          <a:p>
            <a:pPr marL="0" indent="0">
              <a:buNone/>
            </a:pPr>
            <a:r>
              <a:rPr lang="ru-RU" sz="1900" dirty="0"/>
              <a:t>            </a:t>
            </a:r>
            <a:r>
              <a:rPr lang="ru-RU" sz="1900" dirty="0" err="1"/>
              <a:t>printf</a:t>
            </a:r>
            <a:r>
              <a:rPr lang="ru-RU" sz="1900" dirty="0"/>
              <a:t>("%s", </a:t>
            </a:r>
            <a:r>
              <a:rPr lang="ru-RU" sz="1900" dirty="0" err="1"/>
              <a:t>buf</a:t>
            </a:r>
            <a:r>
              <a:rPr lang="ru-RU" sz="1900" dirty="0"/>
              <a:t>);</a:t>
            </a:r>
          </a:p>
          <a:p>
            <a:pPr marL="0" indent="0">
              <a:buNone/>
            </a:pPr>
            <a:endParaRPr lang="ru-RU" sz="1900" dirty="0"/>
          </a:p>
          <a:p>
            <a:pPr marL="0" indent="0">
              <a:buNone/>
            </a:pPr>
            <a:r>
              <a:rPr lang="ru-RU" sz="1900" dirty="0"/>
              <a:t>    </a:t>
            </a:r>
            <a:r>
              <a:rPr lang="ru-RU" sz="1900" dirty="0" err="1"/>
              <a:t>fclose</a:t>
            </a:r>
            <a:r>
              <a:rPr lang="ru-RU" sz="1900" dirty="0"/>
              <a:t>(</a:t>
            </a:r>
            <a:r>
              <a:rPr lang="ru-RU" sz="1900" dirty="0" err="1"/>
              <a:t>fp</a:t>
            </a:r>
            <a:r>
              <a:rPr lang="ru-RU" sz="1900" dirty="0"/>
              <a:t>);</a:t>
            </a:r>
          </a:p>
          <a:p>
            <a:pPr marL="0" indent="0">
              <a:buNone/>
            </a:pPr>
            <a:r>
              <a:rPr lang="ru-RU" sz="1900" dirty="0"/>
              <a:t>    return 0;</a:t>
            </a:r>
          </a:p>
          <a:p>
            <a:pPr marL="0" indent="0">
              <a:buNone/>
            </a:pPr>
            <a:r>
              <a:rPr lang="ru-RU" sz="1900" dirty="0"/>
              <a:t>}</a:t>
            </a:r>
          </a:p>
          <a:p>
            <a:pPr marL="0" indent="0">
              <a:buNone/>
            </a:pPr>
            <a:r>
              <a:rPr lang="ru-RU" sz="1900" b="1" dirty="0"/>
              <a:t>Что делает:</a:t>
            </a:r>
            <a:r>
              <a:rPr lang="ru-RU" sz="1900" dirty="0"/>
              <a:t> пропускает </a:t>
            </a:r>
            <a:r>
              <a:rPr lang="ru-RU" sz="1900" b="1" dirty="0"/>
              <a:t>пустые строки</a:t>
            </a:r>
            <a:r>
              <a:rPr lang="ru-RU" sz="1900" dirty="0"/>
              <a:t>.</a:t>
            </a:r>
          </a:p>
          <a:p>
            <a:pPr marL="0" indent="0">
              <a:buNone/>
            </a:pPr>
            <a:endParaRPr lang="ru-RU" sz="1900" dirty="0"/>
          </a:p>
        </p:txBody>
      </p:sp>
    </p:spTree>
    <p:extLst>
      <p:ext uri="{BB962C8B-B14F-4D97-AF65-F5344CB8AC3E}">
        <p14:creationId xmlns:p14="http://schemas.microsoft.com/office/powerpoint/2010/main" val="339003282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35EF81-8C3A-1D68-C517-62C343781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342900" indent="-342900">
              <a:buFont typeface="Arial" pitchFamily="34" charset="0"/>
              <a:buChar char="•"/>
            </a:pPr>
            <a:r>
              <a:rPr lang="ru-RU" dirty="0"/>
              <a:t>Что такое пустая строка?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E5D4FFE-F7A3-F768-2AB5-EDEA4016C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>
              <a:buNone/>
            </a:pPr>
            <a:r>
              <a:rPr lang="ru-RU" sz="3200" dirty="0"/>
              <a:t>Строка, содержащая </a:t>
            </a:r>
            <a:r>
              <a:rPr lang="ru-RU" sz="3200" b="1" dirty="0"/>
              <a:t>только символ перевода строки</a:t>
            </a:r>
            <a:r>
              <a:rPr lang="ru-RU" sz="3200" dirty="0"/>
              <a:t> \n.</a:t>
            </a:r>
          </a:p>
          <a:p>
            <a:pPr marL="0" lvl="0" indent="0">
              <a:buNone/>
            </a:pPr>
            <a:r>
              <a:rPr lang="ru-RU" sz="3200" dirty="0"/>
              <a:t>Например, в файле:</a:t>
            </a:r>
          </a:p>
          <a:p>
            <a:pPr marL="0" lvl="0" indent="0">
              <a:buNone/>
            </a:pPr>
            <a:r>
              <a:rPr lang="ru-RU" sz="3200" dirty="0"/>
              <a:t>text</a:t>
            </a:r>
          </a:p>
          <a:p>
            <a:pPr marL="0" lvl="0" indent="0" latinLnBrk="1">
              <a:buNone/>
            </a:pPr>
            <a:r>
              <a:rPr lang="ru-RU" sz="3200" dirty="0"/>
              <a:t>Первая строка</a:t>
            </a:r>
          </a:p>
          <a:p>
            <a:pPr marL="0" lvl="0" indent="0" latinLnBrk="1">
              <a:buNone/>
            </a:pPr>
            <a:endParaRPr lang="ru-RU" sz="3200" dirty="0"/>
          </a:p>
          <a:p>
            <a:pPr marL="0" lvl="0" indent="0" latinLnBrk="1">
              <a:buNone/>
            </a:pPr>
            <a:r>
              <a:rPr lang="ru-RU" sz="3200" dirty="0"/>
              <a:t>Третья строка</a:t>
            </a:r>
          </a:p>
          <a:p>
            <a:pPr marL="0" lvl="0" indent="0">
              <a:buNone/>
            </a:pPr>
            <a:r>
              <a:rPr lang="ru-RU" sz="3200" dirty="0"/>
              <a:t>Вторая строка — </a:t>
            </a:r>
            <a:r>
              <a:rPr lang="ru-RU" sz="3200" b="1" dirty="0"/>
              <a:t>пустая</a:t>
            </a:r>
            <a:r>
              <a:rPr lang="ru-RU" sz="3200" dirty="0"/>
              <a:t>, содержит только \n.</a:t>
            </a:r>
          </a:p>
          <a:p>
            <a:pPr marL="0" indent="0">
              <a:buNone/>
            </a:pPr>
            <a:br>
              <a:rPr lang="ru-RU" sz="3200" dirty="0"/>
            </a:br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96668774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822C40-8F1E-8860-F172-795511EB3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Обязательные заголовки: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E2F8FE2-4735-CFA5-F685-DB13F552ED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ru-RU" sz="6600" dirty="0"/>
              <a:t>&lt;</a:t>
            </a:r>
            <a:r>
              <a:rPr lang="ru-RU" sz="6600" dirty="0" err="1"/>
              <a:t>stdio.h</a:t>
            </a:r>
            <a:r>
              <a:rPr lang="ru-RU" sz="6600" dirty="0"/>
              <a:t>&gt; — для </a:t>
            </a:r>
            <a:r>
              <a:rPr lang="ru-RU" sz="6600" dirty="0" err="1"/>
              <a:t>fopen</a:t>
            </a:r>
            <a:r>
              <a:rPr lang="ru-RU" sz="6600" dirty="0"/>
              <a:t>, </a:t>
            </a:r>
            <a:r>
              <a:rPr lang="ru-RU" sz="6600" dirty="0" err="1"/>
              <a:t>fgets</a:t>
            </a:r>
            <a:r>
              <a:rPr lang="ru-RU" sz="6600" dirty="0"/>
              <a:t>, </a:t>
            </a:r>
            <a:r>
              <a:rPr lang="ru-RU" sz="6600" dirty="0" err="1"/>
              <a:t>printf</a:t>
            </a:r>
            <a:r>
              <a:rPr lang="ru-RU" sz="6600" dirty="0"/>
              <a:t>, </a:t>
            </a:r>
            <a:r>
              <a:rPr lang="ru-RU" sz="6600" dirty="0" err="1"/>
              <a:t>fclose</a:t>
            </a:r>
            <a:r>
              <a:rPr lang="ru-RU" sz="6600" dirty="0"/>
              <a:t>.</a:t>
            </a:r>
          </a:p>
          <a:p>
            <a:pPr marL="0" lvl="0" indent="0">
              <a:buNone/>
            </a:pPr>
            <a:r>
              <a:rPr lang="ru-RU" sz="6600" dirty="0"/>
              <a:t>&lt;</a:t>
            </a:r>
            <a:r>
              <a:rPr lang="ru-RU" sz="6600" dirty="0" err="1"/>
              <a:t>string.h</a:t>
            </a:r>
            <a:r>
              <a:rPr lang="ru-RU" sz="6600" dirty="0"/>
              <a:t>&gt; — для </a:t>
            </a:r>
            <a:r>
              <a:rPr lang="ru-RU" sz="6600" dirty="0" err="1"/>
              <a:t>strcmp</a:t>
            </a:r>
            <a:r>
              <a:rPr lang="ru-RU" sz="6600" dirty="0"/>
              <a:t>.</a:t>
            </a:r>
          </a:p>
          <a:p>
            <a:pPr marL="0" indent="0">
              <a:buNone/>
            </a:pPr>
            <a:endParaRPr lang="ru-RU" sz="6600" dirty="0"/>
          </a:p>
        </p:txBody>
      </p:sp>
    </p:spTree>
    <p:extLst>
      <p:ext uri="{BB962C8B-B14F-4D97-AF65-F5344CB8AC3E}">
        <p14:creationId xmlns:p14="http://schemas.microsoft.com/office/powerpoint/2010/main" val="217537407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255BF8-5EF4-CFC6-2E67-9F9DBAEC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err="1"/>
              <a:t>char</a:t>
            </a:r>
            <a:r>
              <a:rPr lang="ru-RU" dirty="0"/>
              <a:t> </a:t>
            </a:r>
            <a:r>
              <a:rPr lang="ru-RU" dirty="0" err="1"/>
              <a:t>buf</a:t>
            </a:r>
            <a:r>
              <a:rPr lang="ru-RU" dirty="0"/>
              <a:t>[256] — буфер для строки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44C7041-1415-3626-8CE3-C6EE55AD2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>
              <a:buNone/>
            </a:pPr>
            <a:r>
              <a:rPr lang="ru-RU" sz="4400" dirty="0"/>
              <a:t>Массив на </a:t>
            </a:r>
            <a:r>
              <a:rPr lang="ru-RU" sz="4400" b="1" dirty="0"/>
              <a:t>256 символов</a:t>
            </a:r>
            <a:r>
              <a:rPr lang="ru-RU" sz="4400" dirty="0"/>
              <a:t>.</a:t>
            </a:r>
          </a:p>
          <a:p>
            <a:pPr marL="0" lvl="0" indent="0">
              <a:buNone/>
            </a:pPr>
            <a:r>
              <a:rPr lang="ru-RU" sz="4400" dirty="0"/>
              <a:t>Сюда </a:t>
            </a:r>
            <a:r>
              <a:rPr lang="ru-RU" sz="4400" dirty="0" err="1"/>
              <a:t>fgets</a:t>
            </a:r>
            <a:r>
              <a:rPr lang="ru-RU" sz="4400" dirty="0"/>
              <a:t> будет записывать </a:t>
            </a:r>
            <a:r>
              <a:rPr lang="ru-RU" sz="4400" b="1" dirty="0"/>
              <a:t>очередную строку</a:t>
            </a:r>
            <a:r>
              <a:rPr lang="ru-RU" sz="4400" dirty="0"/>
              <a:t>.</a:t>
            </a:r>
          </a:p>
          <a:p>
            <a:pPr marL="0" lvl="0" indent="0">
              <a:buNone/>
            </a:pPr>
            <a:r>
              <a:rPr lang="ru-RU" sz="4400" dirty="0"/>
              <a:t>Максимальная длина строки — </a:t>
            </a:r>
            <a:r>
              <a:rPr lang="ru-RU" sz="4400" b="1" dirty="0"/>
              <a:t>255 символов</a:t>
            </a:r>
            <a:r>
              <a:rPr lang="ru-RU" sz="4400" dirty="0"/>
              <a:t> + \0 (нулевой символ-терминатор).</a:t>
            </a:r>
          </a:p>
          <a:p>
            <a:pPr marL="0" indent="0">
              <a:buNone/>
            </a:pPr>
            <a:endParaRPr lang="ru-RU" sz="4400" dirty="0"/>
          </a:p>
        </p:txBody>
      </p:sp>
    </p:spTree>
    <p:extLst>
      <p:ext uri="{BB962C8B-B14F-4D97-AF65-F5344CB8AC3E}">
        <p14:creationId xmlns:p14="http://schemas.microsoft.com/office/powerpoint/2010/main" val="262425354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528B32-F9AF-0D76-B2FA-7B1DE432C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err="1">
                <a:effectLst/>
              </a:rPr>
              <a:t>fgets</a:t>
            </a:r>
            <a:r>
              <a:rPr lang="ru-RU" dirty="0">
                <a:effectLst/>
              </a:rPr>
              <a:t>(</a:t>
            </a:r>
            <a:r>
              <a:rPr lang="ru-RU" dirty="0" err="1">
                <a:effectLst/>
              </a:rPr>
              <a:t>buf</a:t>
            </a:r>
            <a:r>
              <a:rPr lang="ru-RU" dirty="0">
                <a:effectLst/>
              </a:rPr>
              <a:t>, </a:t>
            </a:r>
            <a:r>
              <a:rPr lang="ru-RU" dirty="0" err="1">
                <a:effectLst/>
              </a:rPr>
              <a:t>sizeof</a:t>
            </a:r>
            <a:r>
              <a:rPr lang="ru-RU" dirty="0">
                <a:effectLst/>
              </a:rPr>
              <a:t>(</a:t>
            </a:r>
            <a:r>
              <a:rPr lang="ru-RU" dirty="0" err="1">
                <a:effectLst/>
              </a:rPr>
              <a:t>buf</a:t>
            </a:r>
            <a:r>
              <a:rPr lang="ru-RU" dirty="0">
                <a:effectLst/>
              </a:rPr>
              <a:t>), </a:t>
            </a:r>
            <a:r>
              <a:rPr lang="ru-RU" dirty="0" err="1">
                <a:effectLst/>
              </a:rPr>
              <a:t>fp</a:t>
            </a:r>
            <a:r>
              <a:rPr lang="ru-RU" dirty="0">
                <a:effectLst/>
              </a:rPr>
              <a:t>) — чтение строки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5C336A1-CDC8-7305-F1A2-6A9E3FE81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 latinLnBrk="1">
              <a:buNone/>
            </a:pPr>
            <a:r>
              <a:rPr lang="ru-RU" dirty="0" err="1"/>
              <a:t>fgets</a:t>
            </a:r>
            <a:r>
              <a:rPr lang="ru-RU" dirty="0"/>
              <a:t>(</a:t>
            </a:r>
            <a:r>
              <a:rPr lang="ru-RU" dirty="0" err="1"/>
              <a:t>buf</a:t>
            </a:r>
            <a:r>
              <a:rPr lang="ru-RU" dirty="0"/>
              <a:t>, </a:t>
            </a:r>
            <a:r>
              <a:rPr lang="ru-RU" dirty="0" err="1"/>
              <a:t>sizeof</a:t>
            </a:r>
            <a:r>
              <a:rPr lang="ru-RU" dirty="0"/>
              <a:t>(</a:t>
            </a:r>
            <a:r>
              <a:rPr lang="ru-RU" dirty="0" err="1"/>
              <a:t>buf</a:t>
            </a:r>
            <a:r>
              <a:rPr lang="ru-RU" dirty="0"/>
              <a:t>), </a:t>
            </a:r>
            <a:r>
              <a:rPr lang="ru-RU" dirty="0" err="1"/>
              <a:t>fp</a:t>
            </a:r>
            <a:r>
              <a:rPr lang="ru-RU" dirty="0"/>
              <a:t>)</a:t>
            </a:r>
          </a:p>
          <a:p>
            <a:pPr marL="0" indent="0">
              <a:buNone/>
            </a:pPr>
            <a:r>
              <a:rPr lang="ru-RU" b="1" dirty="0"/>
              <a:t>Аргументы:</a:t>
            </a:r>
            <a:endParaRPr lang="ru-RU" dirty="0"/>
          </a:p>
          <a:p>
            <a:pPr marL="0" lvl="0" indent="0">
              <a:buNone/>
            </a:pPr>
            <a:r>
              <a:rPr lang="ru-RU" dirty="0" err="1"/>
              <a:t>buf</a:t>
            </a:r>
            <a:r>
              <a:rPr lang="ru-RU" dirty="0"/>
              <a:t> — куда читать.</a:t>
            </a:r>
          </a:p>
          <a:p>
            <a:pPr marL="0" lvl="0" indent="0">
              <a:buNone/>
            </a:pPr>
            <a:r>
              <a:rPr lang="ru-RU" dirty="0" err="1"/>
              <a:t>sizeof</a:t>
            </a:r>
            <a:r>
              <a:rPr lang="ru-RU" dirty="0"/>
              <a:t>(</a:t>
            </a:r>
            <a:r>
              <a:rPr lang="ru-RU" dirty="0" err="1"/>
              <a:t>buf</a:t>
            </a:r>
            <a:r>
              <a:rPr lang="ru-RU" dirty="0"/>
              <a:t>) = 256 — </a:t>
            </a:r>
            <a:r>
              <a:rPr lang="ru-RU" b="1" dirty="0"/>
              <a:t>максимальное количество</a:t>
            </a:r>
            <a:r>
              <a:rPr lang="ru-RU" dirty="0"/>
              <a:t> символов для чтения.</a:t>
            </a:r>
          </a:p>
          <a:p>
            <a:pPr marL="0" lvl="0" indent="0">
              <a:buNone/>
            </a:pPr>
            <a:r>
              <a:rPr lang="ru-RU" dirty="0" err="1"/>
              <a:t>fp</a:t>
            </a:r>
            <a:r>
              <a:rPr lang="ru-RU" dirty="0"/>
              <a:t> — откуда читать (указатель на файл).</a:t>
            </a:r>
          </a:p>
          <a:p>
            <a:pPr marL="0" indent="0">
              <a:buNone/>
            </a:pPr>
            <a:r>
              <a:rPr lang="ru-RU" b="1" dirty="0"/>
              <a:t>Возвращает:</a:t>
            </a:r>
            <a:endParaRPr lang="ru-RU" dirty="0"/>
          </a:p>
          <a:p>
            <a:pPr marL="0" lvl="0" indent="0">
              <a:buNone/>
            </a:pPr>
            <a:r>
              <a:rPr lang="ru-RU" dirty="0" err="1"/>
              <a:t>buf</a:t>
            </a:r>
            <a:r>
              <a:rPr lang="ru-RU" dirty="0"/>
              <a:t> — если строка прочитана успешно.</a:t>
            </a:r>
          </a:p>
          <a:p>
            <a:pPr marL="0" lvl="0" indent="0">
              <a:buNone/>
            </a:pPr>
            <a:r>
              <a:rPr lang="ru-RU" dirty="0"/>
              <a:t>NULL — если </a:t>
            </a:r>
            <a:r>
              <a:rPr lang="ru-RU" b="1" dirty="0"/>
              <a:t>конец файла</a:t>
            </a:r>
            <a:r>
              <a:rPr lang="ru-RU" dirty="0"/>
              <a:t> или </a:t>
            </a:r>
            <a:r>
              <a:rPr lang="ru-RU" b="1" dirty="0"/>
              <a:t>ошибка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b="1" dirty="0"/>
              <a:t>Что читает:</a:t>
            </a:r>
            <a:endParaRPr lang="ru-RU" dirty="0"/>
          </a:p>
          <a:p>
            <a:pPr marL="0" lvl="0" indent="0">
              <a:buNone/>
            </a:pPr>
            <a:r>
              <a:rPr lang="ru-RU" dirty="0"/>
              <a:t>Читает </a:t>
            </a:r>
            <a:r>
              <a:rPr lang="ru-RU" b="1" dirty="0"/>
              <a:t>до 255 символов</a:t>
            </a:r>
            <a:r>
              <a:rPr lang="ru-RU" dirty="0"/>
              <a:t> или </a:t>
            </a:r>
            <a:r>
              <a:rPr lang="ru-RU" b="1" dirty="0"/>
              <a:t>до символа </a:t>
            </a:r>
            <a:r>
              <a:rPr lang="ru-RU" dirty="0"/>
              <a:t>\n (включительно).</a:t>
            </a:r>
          </a:p>
          <a:p>
            <a:pPr marL="0" lvl="0" indent="0">
              <a:buNone/>
            </a:pPr>
            <a:r>
              <a:rPr lang="ru-RU" b="1" dirty="0"/>
              <a:t>Добавляет </a:t>
            </a:r>
            <a:r>
              <a:rPr lang="ru-RU" dirty="0"/>
              <a:t>\0 в конец.</a:t>
            </a:r>
          </a:p>
          <a:p>
            <a:pPr marL="0" lvl="0" indent="0">
              <a:buNone/>
            </a:pPr>
            <a:r>
              <a:rPr lang="ru-RU" dirty="0"/>
              <a:t>Если строка длиннее 255 символов — она читается </a:t>
            </a:r>
            <a:r>
              <a:rPr lang="ru-RU" b="1" dirty="0"/>
              <a:t>частями</a:t>
            </a:r>
            <a:r>
              <a:rPr lang="ru-RU" dirty="0"/>
              <a:t>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7551082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AA93AB-9FE2-57DC-0EF4-874855355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err="1">
                <a:effectLst/>
              </a:rPr>
              <a:t>while</a:t>
            </a:r>
            <a:r>
              <a:rPr lang="ru-RU" dirty="0">
                <a:effectLst/>
              </a:rPr>
              <a:t> (</a:t>
            </a:r>
            <a:r>
              <a:rPr lang="ru-RU" dirty="0" err="1">
                <a:effectLst/>
              </a:rPr>
              <a:t>fgets</a:t>
            </a:r>
            <a:r>
              <a:rPr lang="ru-RU" dirty="0">
                <a:effectLst/>
              </a:rPr>
              <a:t>(...)) — цикл по строкам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3D806D4-4BFA-FADA-607B-BF1B832C83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latinLnBrk="1">
              <a:buNone/>
            </a:pPr>
            <a:r>
              <a:rPr lang="ru-RU" dirty="0" err="1"/>
              <a:t>while</a:t>
            </a:r>
            <a:r>
              <a:rPr lang="ru-RU" dirty="0"/>
              <a:t> (</a:t>
            </a:r>
            <a:r>
              <a:rPr lang="ru-RU" dirty="0" err="1"/>
              <a:t>fgets</a:t>
            </a:r>
            <a:r>
              <a:rPr lang="ru-RU" dirty="0"/>
              <a:t>(</a:t>
            </a:r>
            <a:r>
              <a:rPr lang="ru-RU" dirty="0" err="1"/>
              <a:t>buf</a:t>
            </a:r>
            <a:r>
              <a:rPr lang="ru-RU" dirty="0"/>
              <a:t>, </a:t>
            </a:r>
            <a:r>
              <a:rPr lang="ru-RU" dirty="0" err="1"/>
              <a:t>sizeof</a:t>
            </a:r>
            <a:r>
              <a:rPr lang="ru-RU" dirty="0"/>
              <a:t>(</a:t>
            </a:r>
            <a:r>
              <a:rPr lang="ru-RU" dirty="0" err="1"/>
              <a:t>buf</a:t>
            </a:r>
            <a:r>
              <a:rPr lang="ru-RU" dirty="0"/>
              <a:t>), </a:t>
            </a:r>
            <a:r>
              <a:rPr lang="ru-RU" dirty="0" err="1"/>
              <a:t>fp</a:t>
            </a:r>
            <a:r>
              <a:rPr lang="ru-RU" dirty="0"/>
              <a:t>))</a:t>
            </a:r>
          </a:p>
          <a:p>
            <a:pPr marL="0" lvl="0" indent="0">
              <a:buNone/>
            </a:pPr>
            <a:r>
              <a:rPr lang="ru-RU" dirty="0"/>
              <a:t>Пока </a:t>
            </a:r>
            <a:r>
              <a:rPr lang="ru-RU" dirty="0" err="1"/>
              <a:t>fgets</a:t>
            </a:r>
            <a:r>
              <a:rPr lang="ru-RU" dirty="0"/>
              <a:t> возвращает </a:t>
            </a:r>
            <a:r>
              <a:rPr lang="ru-RU" b="1" dirty="0"/>
              <a:t>не NULL</a:t>
            </a:r>
            <a:r>
              <a:rPr lang="ru-RU" dirty="0"/>
              <a:t> — цикл продолжается.</a:t>
            </a:r>
          </a:p>
          <a:p>
            <a:pPr marL="0" lvl="0" indent="0">
              <a:buNone/>
            </a:pPr>
            <a:r>
              <a:rPr lang="ru-RU" dirty="0"/>
              <a:t>Когда достигнут конец файла — </a:t>
            </a:r>
            <a:r>
              <a:rPr lang="ru-RU" dirty="0" err="1"/>
              <a:t>fgets</a:t>
            </a:r>
            <a:r>
              <a:rPr lang="ru-RU" dirty="0"/>
              <a:t> вернёт NULL → цикл завершится.</a:t>
            </a:r>
          </a:p>
          <a:p>
            <a:pPr marL="0" indent="0">
              <a:buNone/>
            </a:pPr>
            <a:r>
              <a:rPr lang="ru-RU" b="1" dirty="0"/>
              <a:t>Почему без </a:t>
            </a:r>
            <a:r>
              <a:rPr lang="ru-RU" dirty="0"/>
              <a:t>!= NULL</a:t>
            </a:r>
            <a:r>
              <a:rPr lang="ru-RU" b="1" dirty="0"/>
              <a:t>?</a:t>
            </a:r>
            <a:endParaRPr lang="ru-RU" dirty="0"/>
          </a:p>
          <a:p>
            <a:pPr marL="0" lvl="0" indent="0">
              <a:buNone/>
            </a:pPr>
            <a:r>
              <a:rPr lang="ru-RU" dirty="0"/>
              <a:t>В C </a:t>
            </a:r>
            <a:r>
              <a:rPr lang="ru-RU" b="1" dirty="0"/>
              <a:t>любое ненулевое</a:t>
            </a:r>
            <a:r>
              <a:rPr lang="ru-RU" dirty="0"/>
              <a:t> значение — истина.</a:t>
            </a:r>
          </a:p>
          <a:p>
            <a:pPr marL="0" lvl="0" indent="0">
              <a:buNone/>
            </a:pPr>
            <a:r>
              <a:rPr lang="ru-RU" dirty="0"/>
              <a:t>NULL = 0 — ложь.</a:t>
            </a:r>
          </a:p>
          <a:p>
            <a:pPr marL="0" lvl="0" indent="0">
              <a:buNone/>
            </a:pPr>
            <a:r>
              <a:rPr lang="ru-RU" dirty="0"/>
              <a:t>Поэтому </a:t>
            </a:r>
            <a:r>
              <a:rPr lang="ru-RU" dirty="0" err="1"/>
              <a:t>while</a:t>
            </a:r>
            <a:r>
              <a:rPr lang="ru-RU" dirty="0"/>
              <a:t> (</a:t>
            </a:r>
            <a:r>
              <a:rPr lang="ru-RU" dirty="0" err="1"/>
              <a:t>fgets</a:t>
            </a:r>
            <a:r>
              <a:rPr lang="ru-RU" dirty="0"/>
              <a:t>(...)) — то же, что </a:t>
            </a:r>
            <a:r>
              <a:rPr lang="ru-RU" dirty="0" err="1"/>
              <a:t>while</a:t>
            </a:r>
            <a:r>
              <a:rPr lang="ru-RU" dirty="0"/>
              <a:t> (</a:t>
            </a:r>
            <a:r>
              <a:rPr lang="ru-RU" dirty="0" err="1"/>
              <a:t>fgets</a:t>
            </a:r>
            <a:r>
              <a:rPr lang="ru-RU" dirty="0"/>
              <a:t>(...) != NULL).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93246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CEFD04-2FA9-8B33-E4A9-14A821018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err="1">
                <a:effectLst/>
              </a:rPr>
              <a:t>strcmp</a:t>
            </a:r>
            <a:r>
              <a:rPr lang="ru-RU" dirty="0">
                <a:effectLst/>
              </a:rPr>
              <a:t>(</a:t>
            </a:r>
            <a:r>
              <a:rPr lang="ru-RU" dirty="0" err="1">
                <a:effectLst/>
              </a:rPr>
              <a:t>buf</a:t>
            </a:r>
            <a:r>
              <a:rPr lang="ru-RU" dirty="0">
                <a:effectLst/>
              </a:rPr>
              <a:t>, "\n") != 0 — проверка на пустую строку</a:t>
            </a:r>
            <a:br>
              <a:rPr lang="ru-RU" dirty="0">
                <a:effectLst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4EC32F6-68DE-2D0A-9610-28D5086CA1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latinLnBrk="1">
              <a:buNone/>
            </a:pPr>
            <a:r>
              <a:rPr lang="ru-RU" dirty="0" err="1"/>
              <a:t>strcmp</a:t>
            </a:r>
            <a:r>
              <a:rPr lang="ru-RU" dirty="0"/>
              <a:t>(</a:t>
            </a:r>
            <a:r>
              <a:rPr lang="ru-RU" dirty="0" err="1"/>
              <a:t>buf</a:t>
            </a:r>
            <a:r>
              <a:rPr lang="ru-RU" dirty="0"/>
              <a:t>, "\n") != 0</a:t>
            </a:r>
          </a:p>
          <a:p>
            <a:pPr marL="0" indent="0">
              <a:buNone/>
            </a:pPr>
            <a:r>
              <a:rPr lang="ru-RU" dirty="0" err="1"/>
              <a:t>strcmp</a:t>
            </a:r>
            <a:r>
              <a:rPr lang="ru-RU" dirty="0"/>
              <a:t>(s1, s2) — сравнивает две строки:</a:t>
            </a:r>
          </a:p>
          <a:p>
            <a:pPr marL="0" lvl="0" indent="0">
              <a:buNone/>
            </a:pPr>
            <a:r>
              <a:rPr lang="ru-RU" dirty="0"/>
              <a:t>Возвращает </a:t>
            </a:r>
            <a:r>
              <a:rPr lang="ru-RU" b="1" dirty="0"/>
              <a:t>0</a:t>
            </a:r>
            <a:r>
              <a:rPr lang="ru-RU" dirty="0"/>
              <a:t>, если строки </a:t>
            </a:r>
            <a:r>
              <a:rPr lang="ru-RU" b="1" dirty="0"/>
              <a:t>равны</a:t>
            </a:r>
            <a:r>
              <a:rPr lang="ru-RU" dirty="0"/>
              <a:t>.</a:t>
            </a:r>
          </a:p>
          <a:p>
            <a:pPr marL="0" lvl="0" indent="0">
              <a:buNone/>
            </a:pPr>
            <a:r>
              <a:rPr lang="ru-RU" dirty="0"/>
              <a:t>Возвращает </a:t>
            </a:r>
            <a:r>
              <a:rPr lang="ru-RU" b="1" dirty="0"/>
              <a:t>&lt; 0</a:t>
            </a:r>
            <a:r>
              <a:rPr lang="ru-RU" dirty="0"/>
              <a:t> или </a:t>
            </a:r>
            <a:r>
              <a:rPr lang="ru-RU" b="1" dirty="0"/>
              <a:t>&gt; 0</a:t>
            </a:r>
            <a:r>
              <a:rPr lang="ru-RU" dirty="0"/>
              <a:t>, если строки </a:t>
            </a:r>
            <a:r>
              <a:rPr lang="ru-RU" b="1" dirty="0"/>
              <a:t>различаются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b="1" dirty="0"/>
              <a:t>Что проверяем:</a:t>
            </a:r>
            <a:endParaRPr lang="ru-RU" dirty="0"/>
          </a:p>
          <a:p>
            <a:pPr marL="0" lvl="0" indent="0">
              <a:buNone/>
            </a:pPr>
            <a:r>
              <a:rPr lang="ru-RU" dirty="0"/>
              <a:t>Если </a:t>
            </a:r>
            <a:r>
              <a:rPr lang="ru-RU" dirty="0" err="1"/>
              <a:t>buf</a:t>
            </a:r>
            <a:r>
              <a:rPr lang="ru-RU" dirty="0"/>
              <a:t> </a:t>
            </a:r>
            <a:r>
              <a:rPr lang="ru-RU" b="1" dirty="0"/>
              <a:t>равен</a:t>
            </a:r>
            <a:r>
              <a:rPr lang="ru-RU" dirty="0"/>
              <a:t> "\n" → </a:t>
            </a:r>
            <a:r>
              <a:rPr lang="ru-RU" dirty="0" err="1"/>
              <a:t>strcmp</a:t>
            </a:r>
            <a:r>
              <a:rPr lang="ru-RU" dirty="0"/>
              <a:t> вернёт </a:t>
            </a:r>
            <a:r>
              <a:rPr lang="ru-RU" b="1" dirty="0"/>
              <a:t>0</a:t>
            </a:r>
            <a:r>
              <a:rPr lang="ru-RU" dirty="0"/>
              <a:t> → условие != 0 </a:t>
            </a:r>
            <a:r>
              <a:rPr lang="ru-RU" b="1" dirty="0"/>
              <a:t>ложно</a:t>
            </a:r>
            <a:r>
              <a:rPr lang="ru-RU" dirty="0"/>
              <a:t> → строка </a:t>
            </a:r>
            <a:r>
              <a:rPr lang="ru-RU" b="1" dirty="0"/>
              <a:t>пропускается</a:t>
            </a:r>
            <a:r>
              <a:rPr lang="ru-RU" dirty="0"/>
              <a:t>.</a:t>
            </a:r>
          </a:p>
          <a:p>
            <a:pPr marL="0" lvl="0" indent="0">
              <a:buNone/>
            </a:pPr>
            <a:r>
              <a:rPr lang="ru-RU" dirty="0"/>
              <a:t>Если </a:t>
            </a:r>
            <a:r>
              <a:rPr lang="ru-RU" dirty="0" err="1"/>
              <a:t>buf</a:t>
            </a:r>
            <a:r>
              <a:rPr lang="ru-RU" dirty="0"/>
              <a:t> </a:t>
            </a:r>
            <a:r>
              <a:rPr lang="ru-RU" b="1" dirty="0"/>
              <a:t>не равен</a:t>
            </a:r>
            <a:r>
              <a:rPr lang="ru-RU" dirty="0"/>
              <a:t> "\n" → </a:t>
            </a:r>
            <a:r>
              <a:rPr lang="ru-RU" dirty="0" err="1"/>
              <a:t>strcmp</a:t>
            </a:r>
            <a:r>
              <a:rPr lang="ru-RU" dirty="0"/>
              <a:t> вернёт </a:t>
            </a:r>
            <a:r>
              <a:rPr lang="ru-RU" b="1" dirty="0"/>
              <a:t>не 0</a:t>
            </a:r>
            <a:r>
              <a:rPr lang="ru-RU" dirty="0"/>
              <a:t> → условие </a:t>
            </a:r>
            <a:r>
              <a:rPr lang="ru-RU" b="1" dirty="0"/>
              <a:t>истинно</a:t>
            </a:r>
            <a:r>
              <a:rPr lang="ru-RU" dirty="0"/>
              <a:t> → строка </a:t>
            </a:r>
            <a:r>
              <a:rPr lang="ru-RU" b="1" dirty="0"/>
              <a:t>выводится</a:t>
            </a:r>
            <a:r>
              <a:rPr lang="ru-RU" dirty="0"/>
              <a:t>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9490542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55D7A4-3045-E349-2101-0DE00864B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err="1"/>
              <a:t>printf</a:t>
            </a:r>
            <a:r>
              <a:rPr lang="ru-RU" dirty="0"/>
              <a:t>("%s", </a:t>
            </a:r>
            <a:r>
              <a:rPr lang="ru-RU" dirty="0" err="1"/>
              <a:t>buf</a:t>
            </a:r>
            <a:r>
              <a:rPr lang="ru-RU" dirty="0"/>
              <a:t>) — вывод строки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186DE7B-AF34-414F-D6DA-652C5A85E0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>
              <a:buNone/>
            </a:pPr>
            <a:r>
              <a:rPr lang="ru-RU" sz="3600" dirty="0" err="1"/>
              <a:t>printf</a:t>
            </a:r>
            <a:r>
              <a:rPr lang="ru-RU" sz="3600" dirty="0"/>
              <a:t>("%s", </a:t>
            </a:r>
            <a:r>
              <a:rPr lang="ru-RU" sz="3600" dirty="0" err="1"/>
              <a:t>buf</a:t>
            </a:r>
            <a:r>
              <a:rPr lang="ru-RU" sz="3600" dirty="0"/>
              <a:t>) — выводит строку из </a:t>
            </a:r>
            <a:r>
              <a:rPr lang="ru-RU" sz="3600" dirty="0" err="1"/>
              <a:t>buf</a:t>
            </a:r>
            <a:r>
              <a:rPr lang="ru-RU" sz="3600" dirty="0"/>
              <a:t>.</a:t>
            </a:r>
          </a:p>
          <a:p>
            <a:pPr marL="0" lvl="0" indent="0">
              <a:buNone/>
            </a:pPr>
            <a:r>
              <a:rPr lang="ru-RU" sz="3600" b="1" dirty="0"/>
              <a:t>Без </a:t>
            </a:r>
            <a:r>
              <a:rPr lang="ru-RU" sz="3600" dirty="0"/>
              <a:t>\n</a:t>
            </a:r>
            <a:r>
              <a:rPr lang="ru-RU" sz="3600" b="1" dirty="0"/>
              <a:t> в конце</a:t>
            </a:r>
            <a:r>
              <a:rPr lang="ru-RU" sz="3600" dirty="0"/>
              <a:t> — потому что \n </a:t>
            </a:r>
            <a:r>
              <a:rPr lang="ru-RU" sz="3600" b="1" dirty="0"/>
              <a:t>уже есть</a:t>
            </a:r>
            <a:r>
              <a:rPr lang="ru-RU" sz="3600" dirty="0"/>
              <a:t> в </a:t>
            </a:r>
            <a:r>
              <a:rPr lang="ru-RU" sz="3600" dirty="0" err="1"/>
              <a:t>buf</a:t>
            </a:r>
            <a:r>
              <a:rPr lang="ru-RU" sz="3600" dirty="0"/>
              <a:t> (от </a:t>
            </a:r>
            <a:r>
              <a:rPr lang="ru-RU" sz="3600" dirty="0" err="1"/>
              <a:t>fgets</a:t>
            </a:r>
            <a:r>
              <a:rPr lang="ru-RU" sz="3600" dirty="0"/>
              <a:t>).</a:t>
            </a:r>
          </a:p>
          <a:p>
            <a:pPr marL="0" indent="0">
              <a:buNone/>
            </a:pPr>
            <a:r>
              <a:rPr lang="ru-RU" sz="3600" b="1" dirty="0"/>
              <a:t>Почему не </a:t>
            </a:r>
            <a:r>
              <a:rPr lang="ru-RU" sz="3600" dirty="0" err="1"/>
              <a:t>puts</a:t>
            </a:r>
            <a:r>
              <a:rPr lang="ru-RU" sz="3600" b="1" dirty="0"/>
              <a:t>?</a:t>
            </a:r>
            <a:endParaRPr lang="ru-RU" sz="3600" dirty="0"/>
          </a:p>
          <a:p>
            <a:pPr marL="0" lvl="0" indent="0">
              <a:buNone/>
            </a:pPr>
            <a:r>
              <a:rPr lang="ru-RU" sz="3600" dirty="0" err="1"/>
              <a:t>puts</a:t>
            </a:r>
            <a:r>
              <a:rPr lang="ru-RU" sz="3600" dirty="0"/>
              <a:t>(</a:t>
            </a:r>
            <a:r>
              <a:rPr lang="ru-RU" sz="3600" dirty="0" err="1"/>
              <a:t>buf</a:t>
            </a:r>
            <a:r>
              <a:rPr lang="ru-RU" sz="3600" dirty="0"/>
              <a:t>) добавил бы </a:t>
            </a:r>
            <a:r>
              <a:rPr lang="ru-RU" sz="3600" b="1" dirty="0"/>
              <a:t>ещё один</a:t>
            </a:r>
            <a:r>
              <a:rPr lang="ru-RU" sz="3600" dirty="0"/>
              <a:t> \n → было бы </a:t>
            </a:r>
            <a:r>
              <a:rPr lang="ru-RU" sz="3600" b="1" dirty="0"/>
              <a:t>два перевода строки</a:t>
            </a:r>
            <a:r>
              <a:rPr lang="ru-RU" sz="3600" dirty="0"/>
              <a:t>.</a:t>
            </a:r>
          </a:p>
          <a:p>
            <a:pPr marL="0" indent="0">
              <a:buNone/>
            </a:pPr>
            <a:br>
              <a:rPr lang="ru-RU" sz="3600" dirty="0"/>
            </a:br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19940335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B64ADD-F4C8-AD85-774D-37E25511A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Схема работы</a:t>
            </a:r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F2BEBB6C-0786-A119-6AF4-149D2E2108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8586" y="1417638"/>
            <a:ext cx="11243814" cy="5162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31986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BA3FE9-0B06-BBBF-8C26-C49B2547A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Что важно запомнить</a:t>
            </a:r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3CBD7C62-FEDB-E514-244C-D3F3134448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9640" y="1550482"/>
            <a:ext cx="9169298" cy="4721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41174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4C07CC-884A-1EFD-D98A-7DAD3C2F4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AE15854-0EF6-CDB5-1C28-2CF80012D3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73A8F74-5BF6-12FE-A943-C315240631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74638"/>
            <a:ext cx="11384686" cy="6284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78158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64E464-3078-5EFA-A68C-C64ED08C0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14. Поиск слова в файле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24056C0-DF1A-D776-B100-67A8A1CB6D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51285"/>
            <a:ext cx="10972800" cy="487488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1600" dirty="0"/>
              <a:t>#include &lt;</a:t>
            </a:r>
            <a:r>
              <a:rPr lang="ru-RU" sz="1600" dirty="0" err="1"/>
              <a:t>stdio.h</a:t>
            </a:r>
            <a:r>
              <a:rPr lang="ru-RU" sz="1600" dirty="0"/>
              <a:t>&gt;</a:t>
            </a:r>
          </a:p>
          <a:p>
            <a:pPr marL="0" indent="0">
              <a:buNone/>
            </a:pPr>
            <a:r>
              <a:rPr lang="ru-RU" sz="1600" dirty="0"/>
              <a:t>#include &lt;</a:t>
            </a:r>
            <a:r>
              <a:rPr lang="ru-RU" sz="1600" dirty="0" err="1"/>
              <a:t>string.h</a:t>
            </a:r>
            <a:r>
              <a:rPr lang="ru-RU" sz="1600" dirty="0"/>
              <a:t>&gt;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 err="1"/>
              <a:t>int</a:t>
            </a:r>
            <a:r>
              <a:rPr lang="ru-RU" sz="1600" dirty="0"/>
              <a:t> main(</a:t>
            </a:r>
            <a:r>
              <a:rPr lang="ru-RU" sz="1600" dirty="0" err="1"/>
              <a:t>void</a:t>
            </a:r>
            <a:r>
              <a:rPr lang="ru-RU" sz="1600" dirty="0"/>
              <a:t>) {</a:t>
            </a:r>
          </a:p>
          <a:p>
            <a:pPr marL="0" indent="0">
              <a:buNone/>
            </a:pPr>
            <a:r>
              <a:rPr lang="ru-RU" sz="1600" dirty="0"/>
              <a:t>    FILE *</a:t>
            </a:r>
            <a:r>
              <a:rPr lang="ru-RU" sz="1600" dirty="0" err="1"/>
              <a:t>fp</a:t>
            </a:r>
            <a:r>
              <a:rPr lang="ru-RU" sz="1600" dirty="0"/>
              <a:t> = </a:t>
            </a:r>
            <a:r>
              <a:rPr lang="ru-RU" sz="1600" dirty="0" err="1"/>
              <a:t>fopen</a:t>
            </a:r>
            <a:r>
              <a:rPr lang="ru-RU" sz="1600" dirty="0"/>
              <a:t>("in.txt", "r");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if</a:t>
            </a:r>
            <a:r>
              <a:rPr lang="ru-RU" sz="1600" dirty="0"/>
              <a:t> (!</a:t>
            </a:r>
            <a:r>
              <a:rPr lang="ru-RU" sz="1600" dirty="0" err="1"/>
              <a:t>fp</a:t>
            </a:r>
            <a:r>
              <a:rPr lang="ru-RU" sz="1600" dirty="0"/>
              <a:t>) return 1;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char</a:t>
            </a:r>
            <a:r>
              <a:rPr lang="ru-RU" sz="1600" dirty="0"/>
              <a:t> </a:t>
            </a:r>
            <a:r>
              <a:rPr lang="ru-RU" sz="1600" dirty="0" err="1"/>
              <a:t>buf</a:t>
            </a:r>
            <a:r>
              <a:rPr lang="ru-RU" sz="1600" dirty="0"/>
              <a:t>[256];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int</a:t>
            </a:r>
            <a:r>
              <a:rPr lang="ru-RU" sz="1600" dirty="0"/>
              <a:t> </a:t>
            </a:r>
            <a:r>
              <a:rPr lang="ru-RU" sz="1600" dirty="0" err="1"/>
              <a:t>line</a:t>
            </a:r>
            <a:r>
              <a:rPr lang="ru-RU" sz="1600" dirty="0"/>
              <a:t> = 0;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while</a:t>
            </a:r>
            <a:r>
              <a:rPr lang="ru-RU" sz="1600" dirty="0"/>
              <a:t> (</a:t>
            </a:r>
            <a:r>
              <a:rPr lang="ru-RU" sz="1600" dirty="0" err="1"/>
              <a:t>fgets</a:t>
            </a:r>
            <a:r>
              <a:rPr lang="ru-RU" sz="1600" dirty="0"/>
              <a:t>(</a:t>
            </a:r>
            <a:r>
              <a:rPr lang="ru-RU" sz="1600" dirty="0" err="1"/>
              <a:t>buf</a:t>
            </a:r>
            <a:r>
              <a:rPr lang="ru-RU" sz="1600" dirty="0"/>
              <a:t>, </a:t>
            </a:r>
            <a:r>
              <a:rPr lang="ru-RU" sz="1600" dirty="0" err="1"/>
              <a:t>sizeof</a:t>
            </a:r>
            <a:r>
              <a:rPr lang="ru-RU" sz="1600" dirty="0"/>
              <a:t>(</a:t>
            </a:r>
            <a:r>
              <a:rPr lang="ru-RU" sz="1600" dirty="0" err="1"/>
              <a:t>buf</a:t>
            </a:r>
            <a:r>
              <a:rPr lang="ru-RU" sz="1600" dirty="0"/>
              <a:t>), </a:t>
            </a:r>
            <a:r>
              <a:rPr lang="ru-RU" sz="1600" dirty="0" err="1"/>
              <a:t>fp</a:t>
            </a:r>
            <a:r>
              <a:rPr lang="ru-RU" sz="1600" dirty="0"/>
              <a:t>)) {</a:t>
            </a:r>
          </a:p>
          <a:p>
            <a:pPr marL="0" indent="0">
              <a:buNone/>
            </a:pPr>
            <a:r>
              <a:rPr lang="ru-RU" sz="1600" dirty="0"/>
              <a:t>        </a:t>
            </a:r>
            <a:r>
              <a:rPr lang="ru-RU" sz="1600" dirty="0" err="1"/>
              <a:t>line</a:t>
            </a:r>
            <a:r>
              <a:rPr lang="ru-RU" sz="1600" dirty="0"/>
              <a:t>++;</a:t>
            </a:r>
          </a:p>
          <a:p>
            <a:pPr marL="0" indent="0">
              <a:buNone/>
            </a:pPr>
            <a:r>
              <a:rPr lang="ru-RU" sz="1600" dirty="0"/>
              <a:t>        </a:t>
            </a:r>
            <a:r>
              <a:rPr lang="ru-RU" sz="1600" dirty="0" err="1"/>
              <a:t>if</a:t>
            </a:r>
            <a:r>
              <a:rPr lang="ru-RU" sz="1600" dirty="0"/>
              <a:t> (</a:t>
            </a:r>
            <a:r>
              <a:rPr lang="ru-RU" sz="1600" dirty="0" err="1"/>
              <a:t>strstr</a:t>
            </a:r>
            <a:r>
              <a:rPr lang="ru-RU" sz="1600" dirty="0"/>
              <a:t>(</a:t>
            </a:r>
            <a:r>
              <a:rPr lang="ru-RU" sz="1600" dirty="0" err="1"/>
              <a:t>buf</a:t>
            </a:r>
            <a:r>
              <a:rPr lang="ru-RU" sz="1600" dirty="0"/>
              <a:t>, "</a:t>
            </a:r>
            <a:r>
              <a:rPr lang="ru-RU" sz="1600" dirty="0" err="1"/>
              <a:t>hello</a:t>
            </a:r>
            <a:r>
              <a:rPr lang="ru-RU" sz="1600" dirty="0"/>
              <a:t>"))</a:t>
            </a:r>
          </a:p>
          <a:p>
            <a:pPr marL="0" indent="0">
              <a:buNone/>
            </a:pPr>
            <a:r>
              <a:rPr lang="ru-RU" sz="1600" dirty="0"/>
              <a:t>            </a:t>
            </a:r>
            <a:r>
              <a:rPr lang="ru-RU" sz="1600" dirty="0" err="1"/>
              <a:t>printf</a:t>
            </a:r>
            <a:r>
              <a:rPr lang="ru-RU" sz="1600" dirty="0"/>
              <a:t>("Строка %d: %s", </a:t>
            </a:r>
            <a:r>
              <a:rPr lang="ru-RU" sz="1600" dirty="0" err="1"/>
              <a:t>line</a:t>
            </a:r>
            <a:r>
              <a:rPr lang="ru-RU" sz="1600" dirty="0"/>
              <a:t>, </a:t>
            </a:r>
            <a:r>
              <a:rPr lang="ru-RU" sz="1600" dirty="0" err="1"/>
              <a:t>buf</a:t>
            </a:r>
            <a:r>
              <a:rPr lang="ru-RU" sz="1600" dirty="0"/>
              <a:t>);</a:t>
            </a:r>
          </a:p>
          <a:p>
            <a:pPr marL="0" indent="0">
              <a:buNone/>
            </a:pPr>
            <a:r>
              <a:rPr lang="ru-RU" sz="1600" dirty="0"/>
              <a:t>    }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fclose</a:t>
            </a:r>
            <a:r>
              <a:rPr lang="ru-RU" sz="1600" dirty="0"/>
              <a:t>(</a:t>
            </a:r>
            <a:r>
              <a:rPr lang="ru-RU" sz="1600" dirty="0" err="1"/>
              <a:t>fp</a:t>
            </a:r>
            <a:r>
              <a:rPr lang="ru-RU" sz="1600" dirty="0"/>
              <a:t>);</a:t>
            </a:r>
          </a:p>
          <a:p>
            <a:pPr marL="0" indent="0">
              <a:buNone/>
            </a:pPr>
            <a:r>
              <a:rPr lang="ru-RU" sz="1600" dirty="0"/>
              <a:t>    return 0;</a:t>
            </a:r>
          </a:p>
          <a:p>
            <a:pPr marL="0" indent="0">
              <a:buNone/>
            </a:pPr>
            <a:r>
              <a:rPr lang="ru-RU" sz="1600" dirty="0"/>
              <a:t>}</a:t>
            </a:r>
          </a:p>
          <a:p>
            <a:pPr marL="0" indent="0">
              <a:buNone/>
            </a:pPr>
            <a:r>
              <a:rPr lang="ru-RU" sz="1600" b="1" dirty="0"/>
              <a:t>Что делает:</a:t>
            </a:r>
            <a:r>
              <a:rPr lang="ru-RU" sz="1600" dirty="0"/>
              <a:t> ищет </a:t>
            </a:r>
            <a:r>
              <a:rPr lang="ru-RU" sz="1600" b="1" dirty="0"/>
              <a:t>слово</a:t>
            </a:r>
            <a:r>
              <a:rPr lang="ru-RU" sz="1600" dirty="0"/>
              <a:t> в файле и выводит номер строки.</a:t>
            </a:r>
          </a:p>
          <a:p>
            <a:pPr marL="0" indent="0">
              <a:buNone/>
            </a:pP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24074932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AFA8AA-E587-731A-9558-5A63ADC4D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Что тут происходит: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1BBDA61-886D-95F8-328C-ABFB19FBB9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4000" dirty="0" err="1"/>
              <a:t>fopen</a:t>
            </a:r>
            <a:r>
              <a:rPr lang="ru-RU" sz="4000" dirty="0"/>
              <a:t> открывает файл на чтение.</a:t>
            </a:r>
          </a:p>
          <a:p>
            <a:r>
              <a:rPr lang="ru-RU" sz="4000" dirty="0" err="1"/>
              <a:t>fgets</a:t>
            </a:r>
            <a:r>
              <a:rPr lang="ru-RU" sz="4000" dirty="0"/>
              <a:t> читает по одной строке.</a:t>
            </a:r>
          </a:p>
          <a:p>
            <a:r>
              <a:rPr lang="ru-RU" sz="4000" dirty="0" err="1"/>
              <a:t>strstr</a:t>
            </a:r>
            <a:r>
              <a:rPr lang="ru-RU" sz="4000" dirty="0"/>
              <a:t> ищет подстроку в строке.</a:t>
            </a:r>
          </a:p>
          <a:p>
            <a:r>
              <a:rPr lang="ru-RU" sz="4000" dirty="0"/>
              <a:t>Если найдено — выводим строку.</a:t>
            </a:r>
          </a:p>
          <a:p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28129550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9B2471-6A15-D82D-0F6F-B34E1561F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15. Слияние двух файлов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68CFFB8-4FDA-4286-9CC6-E84B1BE7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19201"/>
            <a:ext cx="10972800" cy="490696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1600" dirty="0"/>
              <a:t>#include &lt;</a:t>
            </a:r>
            <a:r>
              <a:rPr lang="ru-RU" sz="1600" dirty="0" err="1"/>
              <a:t>stdio.h</a:t>
            </a:r>
            <a:r>
              <a:rPr lang="ru-RU" sz="1600" dirty="0"/>
              <a:t>&gt;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 err="1"/>
              <a:t>int</a:t>
            </a:r>
            <a:r>
              <a:rPr lang="ru-RU" sz="1600" dirty="0"/>
              <a:t> main(</a:t>
            </a:r>
            <a:r>
              <a:rPr lang="ru-RU" sz="1600" dirty="0" err="1"/>
              <a:t>void</a:t>
            </a:r>
            <a:r>
              <a:rPr lang="ru-RU" sz="1600" dirty="0"/>
              <a:t>) {</a:t>
            </a:r>
          </a:p>
          <a:p>
            <a:pPr marL="0" indent="0">
              <a:buNone/>
            </a:pPr>
            <a:r>
              <a:rPr lang="ru-RU" sz="1600" dirty="0"/>
              <a:t>    FILE *f1 = </a:t>
            </a:r>
            <a:r>
              <a:rPr lang="ru-RU" sz="1600" dirty="0" err="1"/>
              <a:t>fopen</a:t>
            </a:r>
            <a:r>
              <a:rPr lang="ru-RU" sz="1600" dirty="0"/>
              <a:t>("a.txt", "r");</a:t>
            </a:r>
          </a:p>
          <a:p>
            <a:pPr marL="0" indent="0">
              <a:buNone/>
            </a:pPr>
            <a:r>
              <a:rPr lang="ru-RU" sz="1600" dirty="0"/>
              <a:t>    FILE *f2 = </a:t>
            </a:r>
            <a:r>
              <a:rPr lang="ru-RU" sz="1600" dirty="0" err="1"/>
              <a:t>fopen</a:t>
            </a:r>
            <a:r>
              <a:rPr lang="ru-RU" sz="1600" dirty="0"/>
              <a:t>("b.txt", "r");</a:t>
            </a:r>
          </a:p>
          <a:p>
            <a:pPr marL="0" indent="0">
              <a:buNone/>
            </a:pPr>
            <a:r>
              <a:rPr lang="ru-RU" sz="1600" dirty="0"/>
              <a:t>    FILE *</a:t>
            </a:r>
            <a:r>
              <a:rPr lang="ru-RU" sz="1600" dirty="0" err="1"/>
              <a:t>out</a:t>
            </a:r>
            <a:r>
              <a:rPr lang="ru-RU" sz="1600" dirty="0"/>
              <a:t> = </a:t>
            </a:r>
            <a:r>
              <a:rPr lang="ru-RU" sz="1600" dirty="0" err="1"/>
              <a:t>fopen</a:t>
            </a:r>
            <a:r>
              <a:rPr lang="ru-RU" sz="1600" dirty="0"/>
              <a:t>("c.txt", "w");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if</a:t>
            </a:r>
            <a:r>
              <a:rPr lang="ru-RU" sz="1600" dirty="0"/>
              <a:t> (!f1 || !f2 || !</a:t>
            </a:r>
            <a:r>
              <a:rPr lang="ru-RU" sz="1600" dirty="0" err="1"/>
              <a:t>out</a:t>
            </a:r>
            <a:r>
              <a:rPr lang="ru-RU" sz="1600" dirty="0"/>
              <a:t>) return 1;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int</a:t>
            </a:r>
            <a:r>
              <a:rPr lang="ru-RU" sz="1600" dirty="0"/>
              <a:t> c;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while</a:t>
            </a:r>
            <a:r>
              <a:rPr lang="ru-RU" sz="1600" dirty="0"/>
              <a:t> ((c = </a:t>
            </a:r>
            <a:r>
              <a:rPr lang="ru-RU" sz="1600" dirty="0" err="1"/>
              <a:t>fgetc</a:t>
            </a:r>
            <a:r>
              <a:rPr lang="ru-RU" sz="1600" dirty="0"/>
              <a:t>(f1)) != EOF) </a:t>
            </a:r>
            <a:r>
              <a:rPr lang="ru-RU" sz="1600" dirty="0" err="1"/>
              <a:t>fputc</a:t>
            </a:r>
            <a:r>
              <a:rPr lang="ru-RU" sz="1600" dirty="0"/>
              <a:t>(c, </a:t>
            </a:r>
            <a:r>
              <a:rPr lang="ru-RU" sz="1600" dirty="0" err="1"/>
              <a:t>out</a:t>
            </a:r>
            <a:r>
              <a:rPr lang="ru-RU" sz="1600" dirty="0"/>
              <a:t>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while</a:t>
            </a:r>
            <a:r>
              <a:rPr lang="ru-RU" sz="1600" dirty="0"/>
              <a:t> ((c = </a:t>
            </a:r>
            <a:r>
              <a:rPr lang="ru-RU" sz="1600" dirty="0" err="1"/>
              <a:t>fgetc</a:t>
            </a:r>
            <a:r>
              <a:rPr lang="ru-RU" sz="1600" dirty="0"/>
              <a:t>(f2)) != EOF) </a:t>
            </a:r>
            <a:r>
              <a:rPr lang="ru-RU" sz="1600" dirty="0" err="1"/>
              <a:t>fputc</a:t>
            </a:r>
            <a:r>
              <a:rPr lang="ru-RU" sz="1600" dirty="0"/>
              <a:t>(c, </a:t>
            </a:r>
            <a:r>
              <a:rPr lang="ru-RU" sz="1600" dirty="0" err="1"/>
              <a:t>out</a:t>
            </a:r>
            <a:r>
              <a:rPr lang="ru-RU" sz="1600" dirty="0"/>
              <a:t>);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fclose</a:t>
            </a:r>
            <a:r>
              <a:rPr lang="ru-RU" sz="1600" dirty="0"/>
              <a:t>(f1);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fclose</a:t>
            </a:r>
            <a:r>
              <a:rPr lang="ru-RU" sz="1600" dirty="0"/>
              <a:t>(f2);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fclose</a:t>
            </a:r>
            <a:r>
              <a:rPr lang="ru-RU" sz="1600" dirty="0"/>
              <a:t>(</a:t>
            </a:r>
            <a:r>
              <a:rPr lang="ru-RU" sz="1600" dirty="0" err="1"/>
              <a:t>out</a:t>
            </a:r>
            <a:r>
              <a:rPr lang="ru-RU" sz="1600" dirty="0"/>
              <a:t>);</a:t>
            </a:r>
          </a:p>
          <a:p>
            <a:pPr marL="0" indent="0">
              <a:buNone/>
            </a:pPr>
            <a:r>
              <a:rPr lang="ru-RU" sz="1600" dirty="0"/>
              <a:t>    return 0;</a:t>
            </a:r>
          </a:p>
          <a:p>
            <a:pPr marL="0" indent="0">
              <a:buNone/>
            </a:pPr>
            <a:r>
              <a:rPr lang="ru-RU" sz="1600" dirty="0"/>
              <a:t>}</a:t>
            </a:r>
          </a:p>
          <a:p>
            <a:pPr marL="0" indent="0">
              <a:buNone/>
            </a:pPr>
            <a:r>
              <a:rPr lang="ru-RU" sz="1600" b="1" dirty="0"/>
              <a:t>Что делает:</a:t>
            </a:r>
            <a:r>
              <a:rPr lang="ru-RU" sz="1600" dirty="0"/>
              <a:t> </a:t>
            </a:r>
            <a:r>
              <a:rPr lang="ru-RU" sz="1600" b="1" dirty="0"/>
              <a:t>сливает</a:t>
            </a:r>
            <a:r>
              <a:rPr lang="ru-RU" sz="1600" dirty="0"/>
              <a:t> два файла в один.</a:t>
            </a:r>
          </a:p>
          <a:p>
            <a:pPr marL="0" indent="0">
              <a:buNone/>
            </a:pP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173847924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DB20FF-2B0E-2CD9-43AC-B51A9F980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16. Размер файла через </a:t>
            </a:r>
            <a:r>
              <a:rPr lang="ru-RU" dirty="0" err="1">
                <a:effectLst/>
              </a:rPr>
              <a:t>fseek</a:t>
            </a:r>
            <a:r>
              <a:rPr lang="ru-RU" dirty="0">
                <a:effectLst/>
              </a:rPr>
              <a:t> + </a:t>
            </a:r>
            <a:r>
              <a:rPr lang="ru-RU" dirty="0" err="1">
                <a:effectLst/>
              </a:rPr>
              <a:t>ftell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86E7DE-5B7B-8BC8-6ACE-F17B381698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stdio.h</a:t>
            </a:r>
            <a:r>
              <a:rPr lang="ru-RU" dirty="0"/>
              <a:t>&gt;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err="1"/>
              <a:t>int</a:t>
            </a:r>
            <a:r>
              <a:rPr lang="ru-RU" dirty="0"/>
              <a:t> main(</a:t>
            </a:r>
            <a:r>
              <a:rPr lang="ru-RU" dirty="0" err="1"/>
              <a:t>void</a:t>
            </a:r>
            <a:r>
              <a:rPr lang="ru-RU" dirty="0"/>
              <a:t>) {</a:t>
            </a:r>
          </a:p>
          <a:p>
            <a:pPr marL="0" indent="0">
              <a:buNone/>
            </a:pPr>
            <a:r>
              <a:rPr lang="ru-RU" dirty="0"/>
              <a:t>    FILE *</a:t>
            </a:r>
            <a:r>
              <a:rPr lang="ru-RU" dirty="0" err="1"/>
              <a:t>fp</a:t>
            </a:r>
            <a:r>
              <a:rPr lang="ru-RU" dirty="0"/>
              <a:t> = </a:t>
            </a:r>
            <a:r>
              <a:rPr lang="ru-RU" dirty="0" err="1"/>
              <a:t>fopen</a:t>
            </a:r>
            <a:r>
              <a:rPr lang="ru-RU" dirty="0"/>
              <a:t>("hello.txt", "r");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if</a:t>
            </a:r>
            <a:r>
              <a:rPr lang="ru-RU" dirty="0"/>
              <a:t> (!</a:t>
            </a:r>
            <a:r>
              <a:rPr lang="ru-RU" dirty="0" err="1"/>
              <a:t>fp</a:t>
            </a:r>
            <a:r>
              <a:rPr lang="ru-RU" dirty="0"/>
              <a:t>) return 1;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fseek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, 0, SEEK_END);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long</a:t>
            </a:r>
            <a:r>
              <a:rPr lang="ru-RU" dirty="0"/>
              <a:t> size = </a:t>
            </a:r>
            <a:r>
              <a:rPr lang="ru-RU" dirty="0" err="1"/>
              <a:t>ftell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printf</a:t>
            </a:r>
            <a:r>
              <a:rPr lang="ru-RU" dirty="0"/>
              <a:t>("Размер: %</a:t>
            </a:r>
            <a:r>
              <a:rPr lang="ru-RU" dirty="0" err="1"/>
              <a:t>ld</a:t>
            </a:r>
            <a:r>
              <a:rPr lang="ru-RU" dirty="0"/>
              <a:t> байт\n", size);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fclose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dirty="0"/>
              <a:t>    return 0;</a:t>
            </a:r>
          </a:p>
          <a:p>
            <a:pPr marL="0" indent="0">
              <a:buNone/>
            </a:pPr>
            <a:r>
              <a:rPr lang="ru-RU" dirty="0"/>
              <a:t>}</a:t>
            </a:r>
          </a:p>
          <a:p>
            <a:pPr marL="0" indent="0">
              <a:buNone/>
            </a:pPr>
            <a:r>
              <a:rPr lang="ru-RU" b="1" dirty="0"/>
              <a:t>Что делает:</a:t>
            </a:r>
            <a:r>
              <a:rPr lang="ru-RU" dirty="0"/>
              <a:t> </a:t>
            </a:r>
            <a:r>
              <a:rPr lang="ru-RU" b="1" dirty="0"/>
              <a:t>перемещает</a:t>
            </a:r>
            <a:r>
              <a:rPr lang="ru-RU" dirty="0"/>
              <a:t> указатель в конец и получает </a:t>
            </a:r>
            <a:r>
              <a:rPr lang="ru-RU" b="1" dirty="0"/>
              <a:t>размер</a:t>
            </a:r>
            <a:r>
              <a:rPr lang="ru-RU" dirty="0"/>
              <a:t> файла.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764221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67C4CE-35C6-D35E-F8B2-6CE6E8F17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17. Чтение с середины файла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74B9FE-7DEB-C9C7-E7FC-6205A2FA4D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stdio.h</a:t>
            </a:r>
            <a:r>
              <a:rPr lang="ru-RU" dirty="0"/>
              <a:t>&gt;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err="1"/>
              <a:t>int</a:t>
            </a:r>
            <a:r>
              <a:rPr lang="ru-RU" dirty="0"/>
              <a:t> main(</a:t>
            </a:r>
            <a:r>
              <a:rPr lang="ru-RU" dirty="0" err="1"/>
              <a:t>void</a:t>
            </a:r>
            <a:r>
              <a:rPr lang="ru-RU" dirty="0"/>
              <a:t>) {</a:t>
            </a:r>
          </a:p>
          <a:p>
            <a:pPr marL="0" indent="0">
              <a:buNone/>
            </a:pPr>
            <a:r>
              <a:rPr lang="ru-RU" dirty="0"/>
              <a:t>    FILE *</a:t>
            </a:r>
            <a:r>
              <a:rPr lang="ru-RU" dirty="0" err="1"/>
              <a:t>fp</a:t>
            </a:r>
            <a:r>
              <a:rPr lang="ru-RU" dirty="0"/>
              <a:t> = </a:t>
            </a:r>
            <a:r>
              <a:rPr lang="ru-RU" dirty="0" err="1"/>
              <a:t>fopen</a:t>
            </a:r>
            <a:r>
              <a:rPr lang="ru-RU" dirty="0"/>
              <a:t>("hello.txt", "r");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if</a:t>
            </a:r>
            <a:r>
              <a:rPr lang="ru-RU" dirty="0"/>
              <a:t> (!</a:t>
            </a:r>
            <a:r>
              <a:rPr lang="ru-RU" dirty="0" err="1"/>
              <a:t>fp</a:t>
            </a:r>
            <a:r>
              <a:rPr lang="ru-RU" dirty="0"/>
              <a:t>) return 1;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fseek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, 5, SEEK_SET);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int</a:t>
            </a:r>
            <a:r>
              <a:rPr lang="ru-RU" dirty="0"/>
              <a:t> c;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while</a:t>
            </a:r>
            <a:r>
              <a:rPr lang="ru-RU" dirty="0"/>
              <a:t> ((c = </a:t>
            </a:r>
            <a:r>
              <a:rPr lang="ru-RU" dirty="0" err="1"/>
              <a:t>fgetc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)) != EOF)</a:t>
            </a:r>
          </a:p>
          <a:p>
            <a:pPr marL="0" indent="0">
              <a:buNone/>
            </a:pPr>
            <a:r>
              <a:rPr lang="ru-RU" dirty="0"/>
              <a:t>        </a:t>
            </a:r>
            <a:r>
              <a:rPr lang="ru-RU" dirty="0" err="1"/>
              <a:t>putchar</a:t>
            </a:r>
            <a:r>
              <a:rPr lang="ru-RU" dirty="0"/>
              <a:t>(c);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fclose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dirty="0"/>
              <a:t>    return 0;</a:t>
            </a:r>
          </a:p>
          <a:p>
            <a:pPr marL="0" indent="0">
              <a:buNone/>
            </a:pPr>
            <a:r>
              <a:rPr lang="ru-RU" dirty="0"/>
              <a:t>}</a:t>
            </a:r>
          </a:p>
          <a:p>
            <a:pPr marL="0" indent="0">
              <a:buNone/>
            </a:pPr>
            <a:r>
              <a:rPr lang="ru-RU" b="1" dirty="0"/>
              <a:t>Что делает:</a:t>
            </a:r>
            <a:r>
              <a:rPr lang="ru-RU" dirty="0"/>
              <a:t> начинает чтение </a:t>
            </a:r>
            <a:r>
              <a:rPr lang="ru-RU" b="1" dirty="0"/>
              <a:t>с 6-го байта</a:t>
            </a:r>
            <a:r>
              <a:rPr lang="ru-RU" dirty="0"/>
              <a:t> файла.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7844633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1EDD53-F47A-532F-5DF7-94B35ADBB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18. Перемотка в начало (</a:t>
            </a:r>
            <a:r>
              <a:rPr lang="ru-RU" dirty="0" err="1">
                <a:effectLst/>
              </a:rPr>
              <a:t>rewind</a:t>
            </a:r>
            <a:r>
              <a:rPr lang="ru-RU" dirty="0">
                <a:effectLst/>
              </a:rPr>
              <a:t>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0775682-4B98-1F7A-492C-445F180D32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ru-RU" sz="1600" dirty="0"/>
              <a:t>#include &lt;</a:t>
            </a:r>
            <a:r>
              <a:rPr lang="ru-RU" sz="1600" dirty="0" err="1"/>
              <a:t>stdio.h</a:t>
            </a:r>
            <a:r>
              <a:rPr lang="ru-RU" sz="1600" dirty="0"/>
              <a:t>&gt;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 err="1"/>
              <a:t>int</a:t>
            </a:r>
            <a:r>
              <a:rPr lang="ru-RU" sz="1600" dirty="0"/>
              <a:t> main(</a:t>
            </a:r>
            <a:r>
              <a:rPr lang="ru-RU" sz="1600" dirty="0" err="1"/>
              <a:t>void</a:t>
            </a:r>
            <a:r>
              <a:rPr lang="ru-RU" sz="1600" dirty="0"/>
              <a:t>) {</a:t>
            </a:r>
          </a:p>
          <a:p>
            <a:pPr marL="0" indent="0">
              <a:buNone/>
            </a:pPr>
            <a:r>
              <a:rPr lang="ru-RU" sz="1600" dirty="0"/>
              <a:t>    FILE *</a:t>
            </a:r>
            <a:r>
              <a:rPr lang="ru-RU" sz="1600" dirty="0" err="1"/>
              <a:t>fp</a:t>
            </a:r>
            <a:r>
              <a:rPr lang="ru-RU" sz="1600" dirty="0"/>
              <a:t> = </a:t>
            </a:r>
            <a:r>
              <a:rPr lang="ru-RU" sz="1600" dirty="0" err="1"/>
              <a:t>fopen</a:t>
            </a:r>
            <a:r>
              <a:rPr lang="ru-RU" sz="1600" dirty="0"/>
              <a:t>("hello.txt", "r");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if</a:t>
            </a:r>
            <a:r>
              <a:rPr lang="ru-RU" sz="1600" dirty="0"/>
              <a:t> (!</a:t>
            </a:r>
            <a:r>
              <a:rPr lang="ru-RU" sz="1600" dirty="0" err="1"/>
              <a:t>fp</a:t>
            </a:r>
            <a:r>
              <a:rPr lang="ru-RU" sz="1600" dirty="0"/>
              <a:t>) return 1;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int</a:t>
            </a:r>
            <a:r>
              <a:rPr lang="ru-RU" sz="1600" dirty="0"/>
              <a:t> c;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while</a:t>
            </a:r>
            <a:r>
              <a:rPr lang="ru-RU" sz="1600" dirty="0"/>
              <a:t> ((c = </a:t>
            </a:r>
            <a:r>
              <a:rPr lang="ru-RU" sz="1600" dirty="0" err="1"/>
              <a:t>fgetc</a:t>
            </a:r>
            <a:r>
              <a:rPr lang="ru-RU" sz="1600" dirty="0"/>
              <a:t>(</a:t>
            </a:r>
            <a:r>
              <a:rPr lang="ru-RU" sz="1600" dirty="0" err="1"/>
              <a:t>fp</a:t>
            </a:r>
            <a:r>
              <a:rPr lang="ru-RU" sz="1600" dirty="0"/>
              <a:t>)) != EOF) </a:t>
            </a:r>
            <a:r>
              <a:rPr lang="ru-RU" sz="1600" dirty="0" err="1"/>
              <a:t>putchar</a:t>
            </a:r>
            <a:r>
              <a:rPr lang="ru-RU" sz="1600" dirty="0"/>
              <a:t>(c);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rewind</a:t>
            </a:r>
            <a:r>
              <a:rPr lang="ru-RU" sz="1600" dirty="0"/>
              <a:t>(</a:t>
            </a:r>
            <a:r>
              <a:rPr lang="ru-RU" sz="1600" dirty="0" err="1"/>
              <a:t>fp</a:t>
            </a:r>
            <a:r>
              <a:rPr lang="ru-RU" sz="1600" dirty="0"/>
              <a:t>);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printf</a:t>
            </a:r>
            <a:r>
              <a:rPr lang="ru-RU" sz="1600" dirty="0"/>
              <a:t>("\n--- Второй проход ---\n");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while</a:t>
            </a:r>
            <a:r>
              <a:rPr lang="ru-RU" sz="1600" dirty="0"/>
              <a:t> ((c = </a:t>
            </a:r>
            <a:r>
              <a:rPr lang="ru-RU" sz="1600" dirty="0" err="1"/>
              <a:t>fgetc</a:t>
            </a:r>
            <a:r>
              <a:rPr lang="ru-RU" sz="1600" dirty="0"/>
              <a:t>(</a:t>
            </a:r>
            <a:r>
              <a:rPr lang="ru-RU" sz="1600" dirty="0" err="1"/>
              <a:t>fp</a:t>
            </a:r>
            <a:r>
              <a:rPr lang="ru-RU" sz="1600" dirty="0"/>
              <a:t>)) != EOF) </a:t>
            </a:r>
            <a:r>
              <a:rPr lang="ru-RU" sz="1600" dirty="0" err="1"/>
              <a:t>putchar</a:t>
            </a:r>
            <a:r>
              <a:rPr lang="ru-RU" sz="1600" dirty="0"/>
              <a:t>(c);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fclose</a:t>
            </a:r>
            <a:r>
              <a:rPr lang="ru-RU" sz="1600" dirty="0"/>
              <a:t>(</a:t>
            </a:r>
            <a:r>
              <a:rPr lang="ru-RU" sz="1600" dirty="0" err="1"/>
              <a:t>fp</a:t>
            </a:r>
            <a:r>
              <a:rPr lang="ru-RU" sz="1600" dirty="0"/>
              <a:t>);</a:t>
            </a:r>
          </a:p>
          <a:p>
            <a:pPr marL="0" indent="0">
              <a:buNone/>
            </a:pPr>
            <a:r>
              <a:rPr lang="ru-RU" sz="1600" dirty="0"/>
              <a:t>    return 0;</a:t>
            </a:r>
          </a:p>
          <a:p>
            <a:pPr marL="0" indent="0">
              <a:buNone/>
            </a:pPr>
            <a:r>
              <a:rPr lang="ru-RU" sz="1600" dirty="0"/>
              <a:t>}</a:t>
            </a:r>
          </a:p>
          <a:p>
            <a:pPr marL="0" indent="0">
              <a:buNone/>
            </a:pPr>
            <a:r>
              <a:rPr lang="ru-RU" sz="1600" b="1" dirty="0"/>
              <a:t>Что делает:</a:t>
            </a:r>
            <a:r>
              <a:rPr lang="ru-RU" sz="1600" dirty="0"/>
              <a:t> читает файл </a:t>
            </a:r>
            <a:r>
              <a:rPr lang="ru-RU" sz="1600" b="1" dirty="0"/>
              <a:t>дважды</a:t>
            </a:r>
            <a:r>
              <a:rPr lang="ru-RU" sz="1600" dirty="0"/>
              <a:t> — использует </a:t>
            </a:r>
            <a:r>
              <a:rPr lang="ru-RU" sz="1600" dirty="0" err="1"/>
              <a:t>rewind</a:t>
            </a:r>
            <a:endParaRPr lang="ru-RU" sz="1600" dirty="0"/>
          </a:p>
          <a:p>
            <a:pPr marL="0" indent="0">
              <a:buNone/>
            </a:pP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159404161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8A5A2D-33CB-D63A-E8CC-7D0691B60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19. Метаданные через </a:t>
            </a:r>
            <a:r>
              <a:rPr lang="ru-RU" dirty="0" err="1">
                <a:effectLst/>
              </a:rPr>
              <a:t>stat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521DF57-8D22-1A1B-9D05-F6B93EBB4A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158241"/>
            <a:ext cx="10972800" cy="496792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1600" dirty="0"/>
              <a:t>#include &lt;</a:t>
            </a:r>
            <a:r>
              <a:rPr lang="ru-RU" sz="1600" dirty="0" err="1"/>
              <a:t>stdio.h</a:t>
            </a:r>
            <a:r>
              <a:rPr lang="ru-RU" sz="1600" dirty="0"/>
              <a:t>&gt;</a:t>
            </a:r>
          </a:p>
          <a:p>
            <a:pPr marL="0" indent="0">
              <a:buNone/>
            </a:pPr>
            <a:r>
              <a:rPr lang="ru-RU" sz="1600" dirty="0"/>
              <a:t>#include &lt;</a:t>
            </a:r>
            <a:r>
              <a:rPr lang="ru-RU" sz="1600" dirty="0" err="1"/>
              <a:t>sys</a:t>
            </a:r>
            <a:r>
              <a:rPr lang="ru-RU" sz="1600" dirty="0"/>
              <a:t>/</a:t>
            </a:r>
            <a:r>
              <a:rPr lang="ru-RU" sz="1600" dirty="0" err="1"/>
              <a:t>stat.h</a:t>
            </a:r>
            <a:r>
              <a:rPr lang="ru-RU" sz="1600" dirty="0"/>
              <a:t>&gt;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 err="1"/>
              <a:t>int</a:t>
            </a:r>
            <a:r>
              <a:rPr lang="ru-RU" sz="1600" dirty="0"/>
              <a:t> main(</a:t>
            </a:r>
            <a:r>
              <a:rPr lang="ru-RU" sz="1600" dirty="0" err="1"/>
              <a:t>void</a:t>
            </a:r>
            <a:r>
              <a:rPr lang="ru-RU" sz="1600" dirty="0"/>
              <a:t>) {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struct</a:t>
            </a:r>
            <a:r>
              <a:rPr lang="ru-RU" sz="1600" dirty="0"/>
              <a:t> </a:t>
            </a:r>
            <a:r>
              <a:rPr lang="ru-RU" sz="1600" dirty="0" err="1"/>
              <a:t>stat</a:t>
            </a:r>
            <a:r>
              <a:rPr lang="ru-RU" sz="1600" dirty="0"/>
              <a:t> </a:t>
            </a:r>
            <a:r>
              <a:rPr lang="ru-RU" sz="1600" dirty="0" err="1"/>
              <a:t>st</a:t>
            </a:r>
            <a:r>
              <a:rPr lang="ru-RU" sz="1600" dirty="0"/>
              <a:t>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if</a:t>
            </a:r>
            <a:r>
              <a:rPr lang="ru-RU" sz="1600" dirty="0"/>
              <a:t> (</a:t>
            </a:r>
            <a:r>
              <a:rPr lang="ru-RU" sz="1600" dirty="0" err="1"/>
              <a:t>stat</a:t>
            </a:r>
            <a:r>
              <a:rPr lang="ru-RU" sz="1600" dirty="0"/>
              <a:t>("hello.txt", &amp;</a:t>
            </a:r>
            <a:r>
              <a:rPr lang="ru-RU" sz="1600" dirty="0" err="1"/>
              <a:t>st</a:t>
            </a:r>
            <a:r>
              <a:rPr lang="ru-RU" sz="1600" dirty="0"/>
              <a:t>) == -1) {</a:t>
            </a:r>
          </a:p>
          <a:p>
            <a:pPr marL="0" indent="0">
              <a:buNone/>
            </a:pPr>
            <a:r>
              <a:rPr lang="ru-RU" sz="1600" dirty="0"/>
              <a:t>        </a:t>
            </a:r>
            <a:r>
              <a:rPr lang="ru-RU" sz="1600" dirty="0" err="1"/>
              <a:t>perror</a:t>
            </a:r>
            <a:r>
              <a:rPr lang="ru-RU" sz="1600" dirty="0"/>
              <a:t>("</a:t>
            </a:r>
            <a:r>
              <a:rPr lang="ru-RU" sz="1600" dirty="0" err="1"/>
              <a:t>stat</a:t>
            </a:r>
            <a:r>
              <a:rPr lang="ru-RU" sz="1600" dirty="0"/>
              <a:t>");</a:t>
            </a:r>
          </a:p>
          <a:p>
            <a:pPr marL="0" indent="0">
              <a:buNone/>
            </a:pPr>
            <a:r>
              <a:rPr lang="ru-RU" sz="1600" dirty="0"/>
              <a:t>        return 1;</a:t>
            </a:r>
          </a:p>
          <a:p>
            <a:pPr marL="0" indent="0">
              <a:buNone/>
            </a:pPr>
            <a:r>
              <a:rPr lang="ru-RU" sz="1600" dirty="0"/>
              <a:t>    }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printf</a:t>
            </a:r>
            <a:r>
              <a:rPr lang="ru-RU" sz="1600" dirty="0"/>
              <a:t>("Размер: %</a:t>
            </a:r>
            <a:r>
              <a:rPr lang="ru-RU" sz="1600" dirty="0" err="1"/>
              <a:t>ld</a:t>
            </a:r>
            <a:r>
              <a:rPr lang="ru-RU" sz="1600" dirty="0"/>
              <a:t> байт\n", (</a:t>
            </a:r>
            <a:r>
              <a:rPr lang="ru-RU" sz="1600" dirty="0" err="1"/>
              <a:t>long</a:t>
            </a:r>
            <a:r>
              <a:rPr lang="ru-RU" sz="1600" dirty="0"/>
              <a:t>)</a:t>
            </a:r>
            <a:r>
              <a:rPr lang="ru-RU" sz="1600" dirty="0" err="1"/>
              <a:t>st.st_size</a:t>
            </a:r>
            <a:r>
              <a:rPr lang="ru-RU" sz="1600" dirty="0"/>
              <a:t>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printf</a:t>
            </a:r>
            <a:r>
              <a:rPr lang="ru-RU" sz="1600" dirty="0"/>
              <a:t>("Тип: %s\n",</a:t>
            </a:r>
          </a:p>
          <a:p>
            <a:pPr marL="0" indent="0">
              <a:buNone/>
            </a:pPr>
            <a:r>
              <a:rPr lang="ru-RU" sz="1600" dirty="0"/>
              <a:t>           S_ISREG(</a:t>
            </a:r>
            <a:r>
              <a:rPr lang="ru-RU" sz="1600" dirty="0" err="1"/>
              <a:t>st.st_mode</a:t>
            </a:r>
            <a:r>
              <a:rPr lang="ru-RU" sz="1600" dirty="0"/>
              <a:t>) ? "файл" :</a:t>
            </a:r>
          </a:p>
          <a:p>
            <a:pPr marL="0" indent="0">
              <a:buNone/>
            </a:pPr>
            <a:r>
              <a:rPr lang="ru-RU" sz="1600" dirty="0"/>
              <a:t>           S_ISDIR(</a:t>
            </a:r>
            <a:r>
              <a:rPr lang="ru-RU" sz="1600" dirty="0" err="1"/>
              <a:t>st.st_mode</a:t>
            </a:r>
            <a:r>
              <a:rPr lang="ru-RU" sz="1600" dirty="0"/>
              <a:t>) ? "каталог" : "другое");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return 0;</a:t>
            </a:r>
          </a:p>
          <a:p>
            <a:pPr marL="0" indent="0">
              <a:buNone/>
            </a:pPr>
            <a:r>
              <a:rPr lang="ru-RU" sz="1600" dirty="0"/>
              <a:t>}</a:t>
            </a:r>
          </a:p>
          <a:p>
            <a:pPr marL="0" indent="0">
              <a:buNone/>
            </a:pPr>
            <a:r>
              <a:rPr lang="ru-RU" sz="1600" b="1" dirty="0"/>
              <a:t>Что делает:</a:t>
            </a:r>
            <a:r>
              <a:rPr lang="ru-RU" sz="1600" dirty="0"/>
              <a:t> получает </a:t>
            </a:r>
            <a:r>
              <a:rPr lang="ru-RU" sz="1600" b="1" dirty="0"/>
              <a:t>метаданные</a:t>
            </a:r>
            <a:r>
              <a:rPr lang="ru-RU" sz="1600" dirty="0"/>
              <a:t> файла через </a:t>
            </a:r>
            <a:r>
              <a:rPr lang="ru-RU" sz="1600" dirty="0" err="1"/>
              <a:t>stat</a:t>
            </a:r>
            <a:r>
              <a:rPr lang="ru-RU" sz="1600" dirty="0"/>
              <a:t>.</a:t>
            </a:r>
          </a:p>
          <a:p>
            <a:pPr marL="0" indent="0">
              <a:buNone/>
            </a:pPr>
            <a:br>
              <a:rPr lang="ru-RU" sz="1600" dirty="0"/>
            </a:b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13019935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F18063-1D2E-A705-2E58-CBF79854B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20. Проверка существования файла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AF9B235-BCF7-6A2E-39EA-6B37836401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ru-RU" dirty="0"/>
              <a:t>#include &lt;</a:t>
            </a:r>
            <a:r>
              <a:rPr lang="ru-RU" dirty="0" err="1"/>
              <a:t>stdio.h</a:t>
            </a:r>
            <a:r>
              <a:rPr lang="ru-RU" dirty="0"/>
              <a:t>&gt;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err="1"/>
              <a:t>int</a:t>
            </a:r>
            <a:r>
              <a:rPr lang="ru-RU" dirty="0"/>
              <a:t> main(</a:t>
            </a:r>
            <a:r>
              <a:rPr lang="ru-RU" dirty="0" err="1"/>
              <a:t>void</a:t>
            </a:r>
            <a:r>
              <a:rPr lang="ru-RU" dirty="0"/>
              <a:t>) {</a:t>
            </a:r>
          </a:p>
          <a:p>
            <a:pPr marL="0" indent="0">
              <a:buNone/>
            </a:pPr>
            <a:r>
              <a:rPr lang="ru-RU" dirty="0"/>
              <a:t>    FILE *</a:t>
            </a:r>
            <a:r>
              <a:rPr lang="ru-RU" dirty="0" err="1"/>
              <a:t>fp</a:t>
            </a:r>
            <a:r>
              <a:rPr lang="ru-RU" dirty="0"/>
              <a:t> = </a:t>
            </a:r>
            <a:r>
              <a:rPr lang="ru-RU" dirty="0" err="1"/>
              <a:t>fopen</a:t>
            </a:r>
            <a:r>
              <a:rPr lang="ru-RU" dirty="0"/>
              <a:t>("hello.txt", "r");</a:t>
            </a:r>
          </a:p>
          <a:p>
            <a:pPr marL="0" indent="0">
              <a:buNone/>
            </a:pPr>
            <a:r>
              <a:rPr lang="ru-RU" dirty="0"/>
              <a:t>    </a:t>
            </a:r>
            <a:r>
              <a:rPr lang="ru-RU" dirty="0" err="1"/>
              <a:t>if</a:t>
            </a:r>
            <a:r>
              <a:rPr lang="ru-RU" dirty="0"/>
              <a:t> (</a:t>
            </a:r>
            <a:r>
              <a:rPr lang="ru-RU" dirty="0" err="1"/>
              <a:t>fp</a:t>
            </a:r>
            <a:r>
              <a:rPr lang="ru-RU" dirty="0"/>
              <a:t>) {</a:t>
            </a:r>
          </a:p>
          <a:p>
            <a:pPr marL="0" indent="0">
              <a:buNone/>
            </a:pPr>
            <a:r>
              <a:rPr lang="ru-RU" dirty="0"/>
              <a:t>        </a:t>
            </a:r>
            <a:r>
              <a:rPr lang="ru-RU" dirty="0" err="1"/>
              <a:t>printf</a:t>
            </a:r>
            <a:r>
              <a:rPr lang="ru-RU" dirty="0"/>
              <a:t>("Файл существует\n");</a:t>
            </a:r>
          </a:p>
          <a:p>
            <a:pPr marL="0" indent="0">
              <a:buNone/>
            </a:pPr>
            <a:r>
              <a:rPr lang="ru-RU" dirty="0"/>
              <a:t>        </a:t>
            </a:r>
            <a:r>
              <a:rPr lang="ru-RU" dirty="0" err="1"/>
              <a:t>fclose</a:t>
            </a:r>
            <a:r>
              <a:rPr lang="ru-RU" dirty="0"/>
              <a:t>(</a:t>
            </a:r>
            <a:r>
              <a:rPr lang="ru-RU" dirty="0" err="1"/>
              <a:t>fp</a:t>
            </a:r>
            <a:r>
              <a:rPr lang="ru-RU" dirty="0"/>
              <a:t>);</a:t>
            </a:r>
          </a:p>
          <a:p>
            <a:pPr marL="0" indent="0">
              <a:buNone/>
            </a:pPr>
            <a:r>
              <a:rPr lang="ru-RU" dirty="0"/>
              <a:t>    } </a:t>
            </a:r>
            <a:r>
              <a:rPr lang="ru-RU" dirty="0" err="1"/>
              <a:t>else</a:t>
            </a:r>
            <a:r>
              <a:rPr lang="ru-RU" dirty="0"/>
              <a:t> {</a:t>
            </a:r>
          </a:p>
          <a:p>
            <a:pPr marL="0" indent="0">
              <a:buNone/>
            </a:pPr>
            <a:r>
              <a:rPr lang="ru-RU" dirty="0"/>
              <a:t>        </a:t>
            </a:r>
            <a:r>
              <a:rPr lang="ru-RU" dirty="0" err="1"/>
              <a:t>printf</a:t>
            </a:r>
            <a:r>
              <a:rPr lang="ru-RU" dirty="0"/>
              <a:t>("Файл не найден\n");</a:t>
            </a:r>
          </a:p>
          <a:p>
            <a:pPr marL="0" indent="0">
              <a:buNone/>
            </a:pPr>
            <a:r>
              <a:rPr lang="ru-RU" dirty="0"/>
              <a:t>    }</a:t>
            </a:r>
          </a:p>
          <a:p>
            <a:pPr marL="0" indent="0">
              <a:buNone/>
            </a:pPr>
            <a:r>
              <a:rPr lang="ru-RU" dirty="0"/>
              <a:t>    return 0;</a:t>
            </a:r>
          </a:p>
          <a:p>
            <a:pPr marL="0" indent="0">
              <a:buNone/>
            </a:pPr>
            <a:r>
              <a:rPr lang="ru-RU" dirty="0"/>
              <a:t>}</a:t>
            </a:r>
          </a:p>
          <a:p>
            <a:pPr marL="0" indent="0">
              <a:buNone/>
            </a:pPr>
            <a:r>
              <a:rPr lang="ru-RU" b="1" dirty="0"/>
              <a:t>Что делает:</a:t>
            </a:r>
            <a:r>
              <a:rPr lang="ru-RU" dirty="0"/>
              <a:t> проверяет, </a:t>
            </a:r>
            <a:r>
              <a:rPr lang="ru-RU" b="1" dirty="0"/>
              <a:t>существует ли файл</a:t>
            </a:r>
            <a:r>
              <a:rPr lang="ru-RU" dirty="0"/>
              <a:t> — через попытку открытия.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5071968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F043DDC-179A-0785-3907-CF1A6DC57601}"/>
              </a:ext>
            </a:extLst>
          </p:cNvPr>
          <p:cNvSpPr txBox="1"/>
          <p:nvPr/>
        </p:nvSpPr>
        <p:spPr>
          <a:xfrm>
            <a:off x="640080" y="655320"/>
            <a:ext cx="850392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ru-RU" sz="6600" b="1" i="0" dirty="0">
                <a:solidFill>
                  <a:schemeClr val="tx2">
                    <a:lumMod val="75000"/>
                  </a:schemeClr>
                </a:solidFill>
                <a:effectLst/>
                <a:latin typeface="+mn-lt"/>
              </a:rPr>
              <a:t>Часть 2. Системные вызовы (примеры 21–25)</a:t>
            </a:r>
            <a:endParaRPr lang="ru-RU" sz="6600" b="1" i="0" dirty="0">
              <a:solidFill>
                <a:schemeClr val="tx2">
                  <a:lumMod val="75000"/>
                </a:schemeClr>
              </a:solidFill>
              <a:effectLst/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85044431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A3D90B-49A4-F7E2-0CFB-682BA7D4F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21. Открытие файла через </a:t>
            </a:r>
            <a:r>
              <a:rPr lang="ru-RU" dirty="0" err="1">
                <a:effectLst/>
              </a:rPr>
              <a:t>open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1BC5B0E-4534-6287-C8F4-255AB3A81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097281"/>
            <a:ext cx="10972800" cy="50288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1400" dirty="0"/>
              <a:t>#include &lt;</a:t>
            </a:r>
            <a:r>
              <a:rPr lang="ru-RU" sz="1400" dirty="0" err="1"/>
              <a:t>fcntl.h</a:t>
            </a:r>
            <a:r>
              <a:rPr lang="ru-RU" sz="1400" dirty="0"/>
              <a:t>&gt;</a:t>
            </a:r>
          </a:p>
          <a:p>
            <a:pPr marL="0" indent="0">
              <a:buNone/>
            </a:pPr>
            <a:r>
              <a:rPr lang="ru-RU" sz="1400" dirty="0"/>
              <a:t>#include &lt;</a:t>
            </a:r>
            <a:r>
              <a:rPr lang="ru-RU" sz="1400" dirty="0" err="1"/>
              <a:t>unistd.h</a:t>
            </a:r>
            <a:r>
              <a:rPr lang="ru-RU" sz="1400" dirty="0"/>
              <a:t>&gt;</a:t>
            </a:r>
          </a:p>
          <a:p>
            <a:pPr marL="0" indent="0">
              <a:buNone/>
            </a:pPr>
            <a:r>
              <a:rPr lang="ru-RU" sz="1400" dirty="0"/>
              <a:t>#include &lt;</a:t>
            </a:r>
            <a:r>
              <a:rPr lang="ru-RU" sz="1400" dirty="0" err="1"/>
              <a:t>stdio.h</a:t>
            </a:r>
            <a:r>
              <a:rPr lang="ru-RU" sz="1400" dirty="0"/>
              <a:t>&gt;</a:t>
            </a:r>
          </a:p>
          <a:p>
            <a:pPr marL="0" indent="0">
              <a:buNone/>
            </a:pPr>
            <a:endParaRPr lang="ru-RU" sz="1400" dirty="0"/>
          </a:p>
          <a:p>
            <a:pPr marL="0" indent="0">
              <a:buNone/>
            </a:pPr>
            <a:r>
              <a:rPr lang="ru-RU" sz="1400" dirty="0" err="1"/>
              <a:t>int</a:t>
            </a:r>
            <a:r>
              <a:rPr lang="ru-RU" sz="1400" dirty="0"/>
              <a:t> main(</a:t>
            </a:r>
            <a:r>
              <a:rPr lang="ru-RU" sz="1400" dirty="0" err="1"/>
              <a:t>void</a:t>
            </a:r>
            <a:r>
              <a:rPr lang="ru-RU" sz="1400" dirty="0"/>
              <a:t>) {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int</a:t>
            </a:r>
            <a:r>
              <a:rPr lang="ru-RU" sz="1400" dirty="0"/>
              <a:t> </a:t>
            </a:r>
            <a:r>
              <a:rPr lang="ru-RU" sz="1400" dirty="0" err="1"/>
              <a:t>fd</a:t>
            </a:r>
            <a:r>
              <a:rPr lang="ru-RU" sz="1400" dirty="0"/>
              <a:t> = </a:t>
            </a:r>
            <a:r>
              <a:rPr lang="ru-RU" sz="1400" dirty="0" err="1"/>
              <a:t>open</a:t>
            </a:r>
            <a:r>
              <a:rPr lang="ru-RU" sz="1400" dirty="0"/>
              <a:t>("hello.txt", O_RDONLY);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if</a:t>
            </a:r>
            <a:r>
              <a:rPr lang="ru-RU" sz="1400" dirty="0"/>
              <a:t> (</a:t>
            </a:r>
            <a:r>
              <a:rPr lang="ru-RU" sz="1400" dirty="0" err="1"/>
              <a:t>fd</a:t>
            </a:r>
            <a:r>
              <a:rPr lang="ru-RU" sz="1400" dirty="0"/>
              <a:t> == -1) {</a:t>
            </a:r>
          </a:p>
          <a:p>
            <a:pPr marL="0" indent="0">
              <a:buNone/>
            </a:pPr>
            <a:r>
              <a:rPr lang="ru-RU" sz="1400" dirty="0"/>
              <a:t>        </a:t>
            </a:r>
            <a:r>
              <a:rPr lang="ru-RU" sz="1400" dirty="0" err="1"/>
              <a:t>perror</a:t>
            </a:r>
            <a:r>
              <a:rPr lang="ru-RU" sz="1400" dirty="0"/>
              <a:t>("</a:t>
            </a:r>
            <a:r>
              <a:rPr lang="ru-RU" sz="1400" dirty="0" err="1"/>
              <a:t>open</a:t>
            </a:r>
            <a:r>
              <a:rPr lang="ru-RU" sz="1400" dirty="0"/>
              <a:t>");</a:t>
            </a:r>
          </a:p>
          <a:p>
            <a:pPr marL="0" indent="0">
              <a:buNone/>
            </a:pPr>
            <a:r>
              <a:rPr lang="ru-RU" sz="1400" dirty="0"/>
              <a:t>        return 1;</a:t>
            </a:r>
          </a:p>
          <a:p>
            <a:pPr marL="0" indent="0">
              <a:buNone/>
            </a:pPr>
            <a:r>
              <a:rPr lang="ru-RU" sz="1400" dirty="0"/>
              <a:t>    }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printf</a:t>
            </a:r>
            <a:r>
              <a:rPr lang="ru-RU" sz="1400" dirty="0"/>
              <a:t>("Дескриптор: %d\n", </a:t>
            </a:r>
            <a:r>
              <a:rPr lang="ru-RU" sz="1400" dirty="0" err="1"/>
              <a:t>fd</a:t>
            </a:r>
            <a:r>
              <a:rPr lang="ru-RU" sz="1400" dirty="0"/>
              <a:t>);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close</a:t>
            </a:r>
            <a:r>
              <a:rPr lang="ru-RU" sz="1400" dirty="0"/>
              <a:t>(</a:t>
            </a:r>
            <a:r>
              <a:rPr lang="ru-RU" sz="1400" dirty="0" err="1"/>
              <a:t>fd</a:t>
            </a:r>
            <a:r>
              <a:rPr lang="ru-RU" sz="1400" dirty="0"/>
              <a:t>);</a:t>
            </a:r>
          </a:p>
          <a:p>
            <a:pPr marL="0" indent="0">
              <a:buNone/>
            </a:pPr>
            <a:r>
              <a:rPr lang="ru-RU" sz="1400" dirty="0"/>
              <a:t>    return 0;</a:t>
            </a:r>
          </a:p>
          <a:p>
            <a:pPr marL="0" indent="0">
              <a:buNone/>
            </a:pPr>
            <a:r>
              <a:rPr lang="ru-RU" sz="1400" dirty="0"/>
              <a:t>}</a:t>
            </a:r>
          </a:p>
          <a:p>
            <a:pPr marL="0" indent="0">
              <a:buNone/>
            </a:pPr>
            <a:r>
              <a:rPr lang="ru-RU" sz="1400" b="1" dirty="0"/>
              <a:t>Что делает:</a:t>
            </a:r>
            <a:r>
              <a:rPr lang="ru-RU" sz="1400" dirty="0"/>
              <a:t> открывает файл </a:t>
            </a:r>
            <a:r>
              <a:rPr lang="ru-RU" sz="1400" b="1" dirty="0"/>
              <a:t>системным вызовом</a:t>
            </a:r>
            <a:r>
              <a:rPr lang="ru-RU" sz="1400" dirty="0"/>
              <a:t> </a:t>
            </a:r>
            <a:r>
              <a:rPr lang="ru-RU" sz="1400" dirty="0" err="1"/>
              <a:t>open</a:t>
            </a:r>
            <a:r>
              <a:rPr lang="ru-RU" sz="1400" dirty="0"/>
              <a:t>. Возвращает </a:t>
            </a:r>
            <a:r>
              <a:rPr lang="ru-RU" sz="1400" b="1" dirty="0"/>
              <a:t>файловый дескриптор</a:t>
            </a:r>
            <a:r>
              <a:rPr lang="ru-RU" sz="1400" dirty="0"/>
              <a:t> (</a:t>
            </a:r>
            <a:r>
              <a:rPr lang="ru-RU" sz="1400" dirty="0" err="1"/>
              <a:t>int</a:t>
            </a:r>
            <a:r>
              <a:rPr lang="ru-RU" sz="1400" dirty="0"/>
              <a:t>).</a:t>
            </a:r>
          </a:p>
          <a:p>
            <a:pPr marL="0" indent="0">
              <a:buNone/>
            </a:pPr>
            <a:r>
              <a:rPr lang="ru-RU" sz="1400" b="1" dirty="0"/>
              <a:t>Разбор флагов:</a:t>
            </a:r>
            <a:endParaRPr lang="ru-RU" sz="1400" dirty="0"/>
          </a:p>
          <a:p>
            <a:pPr marL="0" lvl="0" indent="0">
              <a:buNone/>
            </a:pPr>
            <a:r>
              <a:rPr lang="ru-RU" sz="1400" dirty="0"/>
              <a:t>O_RDONLY — только чтение.</a:t>
            </a:r>
          </a:p>
          <a:p>
            <a:pPr marL="0" lvl="0" indent="0">
              <a:buNone/>
            </a:pPr>
            <a:r>
              <a:rPr lang="ru-RU" sz="1400" dirty="0"/>
              <a:t>O_WRONLY — только запись.</a:t>
            </a:r>
          </a:p>
          <a:p>
            <a:pPr marL="0" lvl="0" indent="0">
              <a:buNone/>
            </a:pPr>
            <a:r>
              <a:rPr lang="ru-RU" sz="1400" dirty="0"/>
              <a:t>O_RDWR — чтение и запись.</a:t>
            </a:r>
          </a:p>
          <a:p>
            <a:pPr marL="0" lvl="0" indent="0">
              <a:buNone/>
            </a:pPr>
            <a:r>
              <a:rPr lang="ru-RU" sz="1400" dirty="0"/>
              <a:t>O_CREAT — создать, если нет.</a:t>
            </a:r>
          </a:p>
          <a:p>
            <a:pPr marL="0" lvl="0" indent="0">
              <a:buNone/>
            </a:pPr>
            <a:r>
              <a:rPr lang="ru-RU" sz="1400" dirty="0"/>
              <a:t>O_TRUNC — обрезать до нуля.</a:t>
            </a:r>
          </a:p>
          <a:p>
            <a:pPr marL="0" indent="0">
              <a:buNone/>
            </a:pP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29674476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043A66-0147-2563-D0C0-3FE0C0DD1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22. Чтение через </a:t>
            </a:r>
            <a:r>
              <a:rPr lang="ru-RU" dirty="0" err="1">
                <a:effectLst/>
              </a:rPr>
              <a:t>read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A965869-1A62-1806-23B3-26555ECA67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036321"/>
            <a:ext cx="10972800" cy="508984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000" dirty="0"/>
              <a:t>#include &lt;</a:t>
            </a:r>
            <a:r>
              <a:rPr lang="ru-RU" sz="2000" dirty="0" err="1"/>
              <a:t>fcntl.h</a:t>
            </a:r>
            <a:r>
              <a:rPr lang="ru-RU" sz="2000" dirty="0"/>
              <a:t>&gt;</a:t>
            </a:r>
          </a:p>
          <a:p>
            <a:pPr marL="0" indent="0">
              <a:buNone/>
            </a:pPr>
            <a:r>
              <a:rPr lang="ru-RU" sz="2000" dirty="0"/>
              <a:t>#include &lt;</a:t>
            </a:r>
            <a:r>
              <a:rPr lang="ru-RU" sz="2000" dirty="0" err="1"/>
              <a:t>unistd.h</a:t>
            </a:r>
            <a:r>
              <a:rPr lang="ru-RU" sz="2000" dirty="0"/>
              <a:t>&gt;</a:t>
            </a:r>
          </a:p>
          <a:p>
            <a:pPr marL="0" indent="0">
              <a:buNone/>
            </a:pPr>
            <a:r>
              <a:rPr lang="ru-RU" sz="2000" dirty="0"/>
              <a:t>#include &lt;</a:t>
            </a:r>
            <a:r>
              <a:rPr lang="ru-RU" sz="2000" dirty="0" err="1"/>
              <a:t>stdio.h</a:t>
            </a:r>
            <a:r>
              <a:rPr lang="ru-RU" sz="2000" dirty="0"/>
              <a:t>&gt;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r>
              <a:rPr lang="ru-RU" sz="2000" dirty="0" err="1"/>
              <a:t>int</a:t>
            </a:r>
            <a:r>
              <a:rPr lang="ru-RU" sz="2000" dirty="0"/>
              <a:t> main(</a:t>
            </a:r>
            <a:r>
              <a:rPr lang="ru-RU" sz="2000" dirty="0" err="1"/>
              <a:t>void</a:t>
            </a:r>
            <a:r>
              <a:rPr lang="ru-RU" sz="2000" dirty="0"/>
              <a:t>) {</a:t>
            </a:r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int</a:t>
            </a:r>
            <a:r>
              <a:rPr lang="ru-RU" sz="2000" dirty="0"/>
              <a:t> </a:t>
            </a:r>
            <a:r>
              <a:rPr lang="ru-RU" sz="2000" dirty="0" err="1"/>
              <a:t>fd</a:t>
            </a:r>
            <a:r>
              <a:rPr lang="ru-RU" sz="2000" dirty="0"/>
              <a:t> = </a:t>
            </a:r>
            <a:r>
              <a:rPr lang="ru-RU" sz="2000" dirty="0" err="1"/>
              <a:t>open</a:t>
            </a:r>
            <a:r>
              <a:rPr lang="ru-RU" sz="2000" dirty="0"/>
              <a:t>("hello.txt", O_RDONLY);</a:t>
            </a:r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if</a:t>
            </a:r>
            <a:r>
              <a:rPr lang="ru-RU" sz="2000" dirty="0"/>
              <a:t> (</a:t>
            </a:r>
            <a:r>
              <a:rPr lang="ru-RU" sz="2000" dirty="0" err="1"/>
              <a:t>fd</a:t>
            </a:r>
            <a:r>
              <a:rPr lang="ru-RU" sz="2000" dirty="0"/>
              <a:t> == -1) return 1;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char</a:t>
            </a:r>
            <a:r>
              <a:rPr lang="ru-RU" sz="2000" dirty="0"/>
              <a:t> </a:t>
            </a:r>
            <a:r>
              <a:rPr lang="ru-RU" sz="2000" dirty="0" err="1"/>
              <a:t>buf</a:t>
            </a:r>
            <a:r>
              <a:rPr lang="ru-RU" sz="2000" dirty="0"/>
              <a:t>[256];</a:t>
            </a:r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ssize_t</a:t>
            </a:r>
            <a:r>
              <a:rPr lang="ru-RU" sz="2000" dirty="0"/>
              <a:t> n;</a:t>
            </a:r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while</a:t>
            </a:r>
            <a:r>
              <a:rPr lang="ru-RU" sz="2000" dirty="0"/>
              <a:t> ((n = </a:t>
            </a:r>
            <a:r>
              <a:rPr lang="ru-RU" sz="2000" dirty="0" err="1"/>
              <a:t>read</a:t>
            </a:r>
            <a:r>
              <a:rPr lang="ru-RU" sz="2000" dirty="0"/>
              <a:t>(</a:t>
            </a:r>
            <a:r>
              <a:rPr lang="ru-RU" sz="2000" dirty="0" err="1"/>
              <a:t>fd</a:t>
            </a:r>
            <a:r>
              <a:rPr lang="ru-RU" sz="2000" dirty="0"/>
              <a:t>, </a:t>
            </a:r>
            <a:r>
              <a:rPr lang="ru-RU" sz="2000" dirty="0" err="1"/>
              <a:t>buf</a:t>
            </a:r>
            <a:r>
              <a:rPr lang="ru-RU" sz="2000" dirty="0"/>
              <a:t>, </a:t>
            </a:r>
            <a:r>
              <a:rPr lang="ru-RU" sz="2000" dirty="0" err="1"/>
              <a:t>sizeof</a:t>
            </a:r>
            <a:r>
              <a:rPr lang="ru-RU" sz="2000" dirty="0"/>
              <a:t>(</a:t>
            </a:r>
            <a:r>
              <a:rPr lang="ru-RU" sz="2000" dirty="0" err="1"/>
              <a:t>buf</a:t>
            </a:r>
            <a:r>
              <a:rPr lang="ru-RU" sz="2000" dirty="0"/>
              <a:t>))) &gt; 0)</a:t>
            </a:r>
          </a:p>
          <a:p>
            <a:pPr marL="0" indent="0">
              <a:buNone/>
            </a:pPr>
            <a:r>
              <a:rPr lang="ru-RU" sz="2000" dirty="0"/>
              <a:t>        </a:t>
            </a:r>
            <a:r>
              <a:rPr lang="ru-RU" sz="2000" dirty="0" err="1"/>
              <a:t>write</a:t>
            </a:r>
            <a:r>
              <a:rPr lang="ru-RU" sz="2000" dirty="0"/>
              <a:t>(1, </a:t>
            </a:r>
            <a:r>
              <a:rPr lang="ru-RU" sz="2000" dirty="0" err="1"/>
              <a:t>buf</a:t>
            </a:r>
            <a:r>
              <a:rPr lang="ru-RU" sz="2000" dirty="0"/>
              <a:t>, n);   // вывод в </a:t>
            </a:r>
            <a:r>
              <a:rPr lang="ru-RU" sz="2000" dirty="0" err="1"/>
              <a:t>stdout</a:t>
            </a:r>
            <a:endParaRPr lang="ru-RU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close</a:t>
            </a:r>
            <a:r>
              <a:rPr lang="ru-RU" sz="2000" dirty="0"/>
              <a:t>(</a:t>
            </a:r>
            <a:r>
              <a:rPr lang="ru-RU" sz="2000" dirty="0" err="1"/>
              <a:t>fd</a:t>
            </a:r>
            <a:r>
              <a:rPr lang="ru-RU" sz="2000" dirty="0"/>
              <a:t>);</a:t>
            </a:r>
          </a:p>
          <a:p>
            <a:pPr marL="0" indent="0">
              <a:buNone/>
            </a:pPr>
            <a:r>
              <a:rPr lang="ru-RU" sz="2000" dirty="0"/>
              <a:t>    return 0;</a:t>
            </a:r>
          </a:p>
          <a:p>
            <a:pPr marL="0" indent="0">
              <a:buNone/>
            </a:pPr>
            <a:r>
              <a:rPr lang="ru-RU" sz="2000" dirty="0"/>
              <a:t>}</a:t>
            </a:r>
          </a:p>
          <a:p>
            <a:pPr marL="0" indent="0">
              <a:buNone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74298354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6A08F8-E03F-7974-4E83-DF0CCFC3E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Что делает: читает файл блоками через системный вызов </a:t>
            </a:r>
            <a:r>
              <a:rPr lang="ru-RU" dirty="0" err="1"/>
              <a:t>read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D8943DC-4AC6-57AC-4F21-E84FBE3B51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3600" b="1" dirty="0"/>
              <a:t>Разбор:</a:t>
            </a:r>
            <a:endParaRPr lang="ru-RU" sz="3600" dirty="0"/>
          </a:p>
          <a:p>
            <a:pPr marL="0" lvl="0" indent="0">
              <a:buNone/>
            </a:pPr>
            <a:r>
              <a:rPr lang="ru-RU" sz="3600" dirty="0" err="1"/>
              <a:t>read</a:t>
            </a:r>
            <a:r>
              <a:rPr lang="ru-RU" sz="3600" dirty="0"/>
              <a:t>(</a:t>
            </a:r>
            <a:r>
              <a:rPr lang="ru-RU" sz="3600" dirty="0" err="1"/>
              <a:t>fd</a:t>
            </a:r>
            <a:r>
              <a:rPr lang="ru-RU" sz="3600" dirty="0"/>
              <a:t>, </a:t>
            </a:r>
            <a:r>
              <a:rPr lang="ru-RU" sz="3600" dirty="0" err="1"/>
              <a:t>buf</a:t>
            </a:r>
            <a:r>
              <a:rPr lang="ru-RU" sz="3600" dirty="0"/>
              <a:t>, count) — читает до count байт.</a:t>
            </a:r>
          </a:p>
          <a:p>
            <a:pPr marL="0" lvl="0" indent="0">
              <a:buNone/>
            </a:pPr>
            <a:r>
              <a:rPr lang="ru-RU" sz="3600" dirty="0"/>
              <a:t>Возвращает число прочитанных байт, 0 — конец, -1 — ошибка.</a:t>
            </a:r>
          </a:p>
          <a:p>
            <a:pPr marL="0" lvl="0" indent="0">
              <a:buNone/>
            </a:pPr>
            <a:r>
              <a:rPr lang="ru-RU" sz="3600" dirty="0" err="1"/>
              <a:t>write</a:t>
            </a:r>
            <a:r>
              <a:rPr lang="ru-RU" sz="3600" dirty="0"/>
              <a:t>(1, </a:t>
            </a:r>
            <a:r>
              <a:rPr lang="ru-RU" sz="3600" dirty="0" err="1"/>
              <a:t>buf</a:t>
            </a:r>
            <a:r>
              <a:rPr lang="ru-RU" sz="3600" dirty="0"/>
              <a:t>, n) — вывод в </a:t>
            </a:r>
            <a:r>
              <a:rPr lang="ru-RU" sz="3600" b="1" dirty="0" err="1"/>
              <a:t>stdout</a:t>
            </a:r>
            <a:r>
              <a:rPr lang="ru-RU" sz="3600" dirty="0"/>
              <a:t> (дескриптор 1).</a:t>
            </a:r>
          </a:p>
          <a:p>
            <a:pPr marL="0" indent="0">
              <a:buNone/>
            </a:pPr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396702007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F3127A-AD6C-13A6-E450-87797D157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23. Запись через </a:t>
            </a:r>
            <a:r>
              <a:rPr lang="ru-RU" dirty="0" err="1">
                <a:effectLst/>
              </a:rPr>
              <a:t>write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387D224-5871-A770-5105-C7CE3E64BF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19201"/>
            <a:ext cx="10972800" cy="490696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1600" dirty="0"/>
              <a:t>#include &lt;</a:t>
            </a:r>
            <a:r>
              <a:rPr lang="ru-RU" sz="1600" dirty="0" err="1"/>
              <a:t>fcntl.h</a:t>
            </a:r>
            <a:r>
              <a:rPr lang="ru-RU" sz="1600" dirty="0"/>
              <a:t>&gt;</a:t>
            </a:r>
          </a:p>
          <a:p>
            <a:pPr marL="0" indent="0">
              <a:buNone/>
            </a:pPr>
            <a:r>
              <a:rPr lang="ru-RU" sz="1600" dirty="0"/>
              <a:t>#include &lt;</a:t>
            </a:r>
            <a:r>
              <a:rPr lang="ru-RU" sz="1600" dirty="0" err="1"/>
              <a:t>unistd.h</a:t>
            </a:r>
            <a:r>
              <a:rPr lang="ru-RU" sz="1600" dirty="0"/>
              <a:t>&gt;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 err="1"/>
              <a:t>int</a:t>
            </a:r>
            <a:r>
              <a:rPr lang="ru-RU" sz="1600" dirty="0"/>
              <a:t> main(</a:t>
            </a:r>
            <a:r>
              <a:rPr lang="ru-RU" sz="1600" dirty="0" err="1"/>
              <a:t>void</a:t>
            </a:r>
            <a:r>
              <a:rPr lang="ru-RU" sz="1600" dirty="0"/>
              <a:t>) {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int</a:t>
            </a:r>
            <a:r>
              <a:rPr lang="ru-RU" sz="1600" dirty="0"/>
              <a:t> </a:t>
            </a:r>
            <a:r>
              <a:rPr lang="ru-RU" sz="1600" dirty="0" err="1"/>
              <a:t>fd</a:t>
            </a:r>
            <a:r>
              <a:rPr lang="ru-RU" sz="1600" dirty="0"/>
              <a:t> = </a:t>
            </a:r>
            <a:r>
              <a:rPr lang="ru-RU" sz="1600" dirty="0" err="1"/>
              <a:t>open</a:t>
            </a:r>
            <a:r>
              <a:rPr lang="ru-RU" sz="1600" dirty="0"/>
              <a:t>("out.txt", O_WRONLY | O_CREAT | O_TRUNC, 0644);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if</a:t>
            </a:r>
            <a:r>
              <a:rPr lang="ru-RU" sz="1600" dirty="0"/>
              <a:t> (</a:t>
            </a:r>
            <a:r>
              <a:rPr lang="ru-RU" sz="1600" dirty="0" err="1"/>
              <a:t>fd</a:t>
            </a:r>
            <a:r>
              <a:rPr lang="ru-RU" sz="1600" dirty="0"/>
              <a:t> == -1) return 1;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const</a:t>
            </a:r>
            <a:r>
              <a:rPr lang="ru-RU" sz="1600" dirty="0"/>
              <a:t> </a:t>
            </a:r>
            <a:r>
              <a:rPr lang="ru-RU" sz="1600" dirty="0" err="1"/>
              <a:t>char</a:t>
            </a:r>
            <a:r>
              <a:rPr lang="ru-RU" sz="1600" dirty="0"/>
              <a:t> *</a:t>
            </a:r>
            <a:r>
              <a:rPr lang="ru-RU" sz="1600" dirty="0" err="1"/>
              <a:t>msg</a:t>
            </a:r>
            <a:r>
              <a:rPr lang="ru-RU" sz="1600" dirty="0"/>
              <a:t> = "Hello\n";</a:t>
            </a:r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write</a:t>
            </a:r>
            <a:r>
              <a:rPr lang="ru-RU" sz="1600" dirty="0"/>
              <a:t>(</a:t>
            </a:r>
            <a:r>
              <a:rPr lang="ru-RU" sz="1600" dirty="0" err="1"/>
              <a:t>fd</a:t>
            </a:r>
            <a:r>
              <a:rPr lang="ru-RU" sz="1600" dirty="0"/>
              <a:t>, </a:t>
            </a:r>
            <a:r>
              <a:rPr lang="ru-RU" sz="1600" dirty="0" err="1"/>
              <a:t>msg</a:t>
            </a:r>
            <a:r>
              <a:rPr lang="ru-RU" sz="1600" dirty="0"/>
              <a:t>, 6);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r>
              <a:rPr lang="ru-RU" sz="1600" dirty="0"/>
              <a:t>    </a:t>
            </a:r>
            <a:r>
              <a:rPr lang="ru-RU" sz="1600" dirty="0" err="1"/>
              <a:t>close</a:t>
            </a:r>
            <a:r>
              <a:rPr lang="ru-RU" sz="1600" dirty="0"/>
              <a:t>(</a:t>
            </a:r>
            <a:r>
              <a:rPr lang="ru-RU" sz="1600" dirty="0" err="1"/>
              <a:t>fd</a:t>
            </a:r>
            <a:r>
              <a:rPr lang="ru-RU" sz="1600" dirty="0"/>
              <a:t>);</a:t>
            </a:r>
          </a:p>
          <a:p>
            <a:pPr marL="0" indent="0">
              <a:buNone/>
            </a:pPr>
            <a:r>
              <a:rPr lang="ru-RU" sz="1600" dirty="0"/>
              <a:t>    return 0;</a:t>
            </a:r>
          </a:p>
          <a:p>
            <a:pPr marL="0" indent="0">
              <a:buNone/>
            </a:pPr>
            <a:r>
              <a:rPr lang="ru-RU" sz="1600" dirty="0"/>
              <a:t>}</a:t>
            </a:r>
          </a:p>
          <a:p>
            <a:pPr marL="0" indent="0">
              <a:buNone/>
            </a:pPr>
            <a:r>
              <a:rPr lang="ru-RU" sz="1600" b="1" dirty="0"/>
              <a:t>Что делает:</a:t>
            </a:r>
            <a:r>
              <a:rPr lang="ru-RU" sz="1600" dirty="0"/>
              <a:t> записывает строку в файл через </a:t>
            </a:r>
            <a:r>
              <a:rPr lang="ru-RU" sz="1600" dirty="0" err="1"/>
              <a:t>write</a:t>
            </a:r>
            <a:r>
              <a:rPr lang="ru-RU" sz="1600" dirty="0"/>
              <a:t>.</a:t>
            </a:r>
          </a:p>
          <a:p>
            <a:pPr marL="0" indent="0">
              <a:buNone/>
            </a:pPr>
            <a:r>
              <a:rPr lang="ru-RU" sz="1600" b="1" dirty="0"/>
              <a:t>Разбор:</a:t>
            </a:r>
            <a:endParaRPr lang="ru-RU" sz="1600" dirty="0"/>
          </a:p>
          <a:p>
            <a:pPr marL="0" lvl="0" indent="0">
              <a:buNone/>
            </a:pPr>
            <a:r>
              <a:rPr lang="ru-RU" sz="1600" dirty="0"/>
              <a:t>O_WRONLY | O_CREAT | O_TRUNC — открыть для записи, создать, обрезать.</a:t>
            </a:r>
          </a:p>
          <a:p>
            <a:pPr marL="0" lvl="0" indent="0">
              <a:buNone/>
            </a:pPr>
            <a:r>
              <a:rPr lang="ru-RU" sz="1600" dirty="0"/>
              <a:t>0644 — права доступа: владелец — чтение/запись, остальные — чтение.</a:t>
            </a:r>
          </a:p>
          <a:p>
            <a:pPr marL="0" lvl="0" indent="0">
              <a:buNone/>
            </a:pPr>
            <a:r>
              <a:rPr lang="ru-RU" sz="1600" dirty="0" err="1"/>
              <a:t>write</a:t>
            </a:r>
            <a:r>
              <a:rPr lang="ru-RU" sz="1600" dirty="0"/>
              <a:t>(</a:t>
            </a:r>
            <a:r>
              <a:rPr lang="ru-RU" sz="1600" dirty="0" err="1"/>
              <a:t>fd</a:t>
            </a:r>
            <a:r>
              <a:rPr lang="ru-RU" sz="1600" dirty="0"/>
              <a:t>, </a:t>
            </a:r>
            <a:r>
              <a:rPr lang="ru-RU" sz="1600" dirty="0" err="1"/>
              <a:t>buf</a:t>
            </a:r>
            <a:r>
              <a:rPr lang="ru-RU" sz="1600" dirty="0"/>
              <a:t>, count) — записывает до count байт.</a:t>
            </a:r>
          </a:p>
          <a:p>
            <a:pPr marL="0" indent="0">
              <a:buNone/>
            </a:pP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138138849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AF2342-10D2-E914-A9BB-F2F579231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24. Позиционирование через </a:t>
            </a:r>
            <a:r>
              <a:rPr lang="ru-RU" dirty="0" err="1">
                <a:effectLst/>
              </a:rPr>
              <a:t>lseek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B3FF38-4C6A-AA41-3BC3-E0B001E47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143001"/>
            <a:ext cx="10972800" cy="498316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000" dirty="0"/>
              <a:t>#include &lt;</a:t>
            </a:r>
            <a:r>
              <a:rPr lang="ru-RU" sz="2000" dirty="0" err="1"/>
              <a:t>fcntl.h</a:t>
            </a:r>
            <a:r>
              <a:rPr lang="ru-RU" sz="2000" dirty="0"/>
              <a:t>&gt;</a:t>
            </a:r>
          </a:p>
          <a:p>
            <a:pPr marL="0" indent="0">
              <a:buNone/>
            </a:pPr>
            <a:r>
              <a:rPr lang="ru-RU" sz="2000" dirty="0"/>
              <a:t>#include &lt;</a:t>
            </a:r>
            <a:r>
              <a:rPr lang="ru-RU" sz="2000" dirty="0" err="1"/>
              <a:t>unistd.h</a:t>
            </a:r>
            <a:r>
              <a:rPr lang="ru-RU" sz="2000" dirty="0"/>
              <a:t>&gt;</a:t>
            </a:r>
          </a:p>
          <a:p>
            <a:pPr marL="0" indent="0">
              <a:buNone/>
            </a:pPr>
            <a:r>
              <a:rPr lang="ru-RU" sz="2000" dirty="0"/>
              <a:t>#include &lt;</a:t>
            </a:r>
            <a:r>
              <a:rPr lang="ru-RU" sz="2000" dirty="0" err="1"/>
              <a:t>stdio.h</a:t>
            </a:r>
            <a:r>
              <a:rPr lang="ru-RU" sz="2000" dirty="0"/>
              <a:t>&gt;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r>
              <a:rPr lang="ru-RU" sz="2000" dirty="0" err="1"/>
              <a:t>int</a:t>
            </a:r>
            <a:r>
              <a:rPr lang="ru-RU" sz="2000" dirty="0"/>
              <a:t> main(</a:t>
            </a:r>
            <a:r>
              <a:rPr lang="ru-RU" sz="2000" dirty="0" err="1"/>
              <a:t>void</a:t>
            </a:r>
            <a:r>
              <a:rPr lang="ru-RU" sz="2000" dirty="0"/>
              <a:t>) {</a:t>
            </a:r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int</a:t>
            </a:r>
            <a:r>
              <a:rPr lang="ru-RU" sz="2000" dirty="0"/>
              <a:t> </a:t>
            </a:r>
            <a:r>
              <a:rPr lang="ru-RU" sz="2000" dirty="0" err="1"/>
              <a:t>fd</a:t>
            </a:r>
            <a:r>
              <a:rPr lang="ru-RU" sz="2000" dirty="0"/>
              <a:t> = </a:t>
            </a:r>
            <a:r>
              <a:rPr lang="ru-RU" sz="2000" dirty="0" err="1"/>
              <a:t>open</a:t>
            </a:r>
            <a:r>
              <a:rPr lang="ru-RU" sz="2000" dirty="0"/>
              <a:t>("hello.txt", O_RDONLY);</a:t>
            </a:r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if</a:t>
            </a:r>
            <a:r>
              <a:rPr lang="ru-RU" sz="2000" dirty="0"/>
              <a:t> (</a:t>
            </a:r>
            <a:r>
              <a:rPr lang="ru-RU" sz="2000" dirty="0" err="1"/>
              <a:t>fd</a:t>
            </a:r>
            <a:r>
              <a:rPr lang="ru-RU" sz="2000" dirty="0"/>
              <a:t> == -1) return 1;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lseek</a:t>
            </a:r>
            <a:r>
              <a:rPr lang="ru-RU" sz="2000" dirty="0"/>
              <a:t>(</a:t>
            </a:r>
            <a:r>
              <a:rPr lang="ru-RU" sz="2000" dirty="0" err="1"/>
              <a:t>fd</a:t>
            </a:r>
            <a:r>
              <a:rPr lang="ru-RU" sz="2000" dirty="0"/>
              <a:t>, 0, SEEK_END);</a:t>
            </a:r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off_t</a:t>
            </a:r>
            <a:r>
              <a:rPr lang="ru-RU" sz="2000" dirty="0"/>
              <a:t> size = </a:t>
            </a:r>
            <a:r>
              <a:rPr lang="ru-RU" sz="2000" dirty="0" err="1"/>
              <a:t>lseek</a:t>
            </a:r>
            <a:r>
              <a:rPr lang="ru-RU" sz="2000" dirty="0"/>
              <a:t>(</a:t>
            </a:r>
            <a:r>
              <a:rPr lang="ru-RU" sz="2000" dirty="0" err="1"/>
              <a:t>fd</a:t>
            </a:r>
            <a:r>
              <a:rPr lang="ru-RU" sz="2000" dirty="0"/>
              <a:t>, 0, SEEK_CUR);</a:t>
            </a:r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printf</a:t>
            </a:r>
            <a:r>
              <a:rPr lang="ru-RU" sz="2000" dirty="0"/>
              <a:t>("Размер: %</a:t>
            </a:r>
            <a:r>
              <a:rPr lang="ru-RU" sz="2000" dirty="0" err="1"/>
              <a:t>ld</a:t>
            </a:r>
            <a:r>
              <a:rPr lang="ru-RU" sz="2000" dirty="0"/>
              <a:t> байт\n", (</a:t>
            </a:r>
            <a:r>
              <a:rPr lang="ru-RU" sz="2000" dirty="0" err="1"/>
              <a:t>long</a:t>
            </a:r>
            <a:r>
              <a:rPr lang="ru-RU" sz="2000" dirty="0"/>
              <a:t>)size);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r>
              <a:rPr lang="ru-RU" sz="2000" dirty="0"/>
              <a:t>    </a:t>
            </a:r>
            <a:r>
              <a:rPr lang="ru-RU" sz="2000" dirty="0" err="1"/>
              <a:t>close</a:t>
            </a:r>
            <a:r>
              <a:rPr lang="ru-RU" sz="2000" dirty="0"/>
              <a:t>(</a:t>
            </a:r>
            <a:r>
              <a:rPr lang="ru-RU" sz="2000" dirty="0" err="1"/>
              <a:t>fd</a:t>
            </a:r>
            <a:r>
              <a:rPr lang="ru-RU" sz="2000" dirty="0"/>
              <a:t>);</a:t>
            </a:r>
          </a:p>
          <a:p>
            <a:pPr marL="0" indent="0">
              <a:buNone/>
            </a:pPr>
            <a:r>
              <a:rPr lang="ru-RU" sz="2000" dirty="0"/>
              <a:t>    return 0;</a:t>
            </a:r>
          </a:p>
          <a:p>
            <a:pPr marL="0" indent="0">
              <a:buNone/>
            </a:pPr>
            <a:r>
              <a:rPr lang="ru-RU" sz="2000" dirty="0"/>
              <a:t>}</a:t>
            </a:r>
          </a:p>
          <a:p>
            <a:pPr marL="0" indent="0">
              <a:buNone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36612843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F42090-5328-1D8B-3A86-0B7B601B8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7"/>
            <a:ext cx="10972800" cy="1325563"/>
          </a:xfrm>
        </p:spPr>
        <p:txBody>
          <a:bodyPr>
            <a:normAutofit fontScale="90000"/>
          </a:bodyPr>
          <a:lstStyle/>
          <a:p>
            <a:r>
              <a:rPr lang="ru-RU" dirty="0"/>
              <a:t>Что делает: перемещает позицию через </a:t>
            </a:r>
            <a:r>
              <a:rPr lang="ru-RU" dirty="0" err="1"/>
              <a:t>lseek</a:t>
            </a:r>
            <a:r>
              <a:rPr lang="ru-RU" dirty="0"/>
              <a:t> и получает размер файла.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14182BA-81CC-12B3-7672-21AF9A708B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3600" b="1" dirty="0"/>
              <a:t>Разбор:</a:t>
            </a:r>
            <a:endParaRPr lang="ru-RU" sz="3600" dirty="0"/>
          </a:p>
          <a:p>
            <a:pPr marL="0" lvl="0" indent="0">
              <a:buNone/>
            </a:pPr>
            <a:r>
              <a:rPr lang="ru-RU" sz="3600" dirty="0" err="1"/>
              <a:t>lseek</a:t>
            </a:r>
            <a:r>
              <a:rPr lang="ru-RU" sz="3600" dirty="0"/>
              <a:t>(</a:t>
            </a:r>
            <a:r>
              <a:rPr lang="ru-RU" sz="3600" dirty="0" err="1"/>
              <a:t>fd</a:t>
            </a:r>
            <a:r>
              <a:rPr lang="ru-RU" sz="3600" dirty="0"/>
              <a:t>, offset, origin) — перемещает указатель.</a:t>
            </a:r>
          </a:p>
          <a:p>
            <a:pPr marL="0" lvl="0" indent="0">
              <a:buNone/>
            </a:pPr>
            <a:r>
              <a:rPr lang="ru-RU" sz="3600" dirty="0"/>
              <a:t>SEEK_SET — от начала, SEEK_CUR — от текущей, SEEK_END — от конца.</a:t>
            </a:r>
          </a:p>
          <a:p>
            <a:pPr marL="0" lvl="0" indent="0">
              <a:buNone/>
            </a:pPr>
            <a:r>
              <a:rPr lang="ru-RU" sz="3600" dirty="0"/>
              <a:t>Возвращает </a:t>
            </a:r>
            <a:r>
              <a:rPr lang="ru-RU" sz="3600" b="1" dirty="0"/>
              <a:t>новую позицию</a:t>
            </a:r>
            <a:r>
              <a:rPr lang="ru-RU" sz="3600" dirty="0"/>
              <a:t>.</a:t>
            </a:r>
          </a:p>
          <a:p>
            <a:pPr marL="0" indent="0">
              <a:buNone/>
            </a:pPr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87690479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E96914-DE44-AE60-F070-69296E6BB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Пример 25. Метаданные через </a:t>
            </a:r>
            <a:r>
              <a:rPr lang="ru-RU" dirty="0" err="1">
                <a:effectLst/>
              </a:rPr>
              <a:t>fstat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534BA7-902C-7B7B-F6B0-6B49D6C66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188721"/>
            <a:ext cx="10972800" cy="493744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1400" dirty="0"/>
              <a:t>#include &lt;</a:t>
            </a:r>
            <a:r>
              <a:rPr lang="ru-RU" sz="1400" dirty="0" err="1"/>
              <a:t>fcntl.h</a:t>
            </a:r>
            <a:r>
              <a:rPr lang="ru-RU" sz="1400" dirty="0"/>
              <a:t>&gt;</a:t>
            </a:r>
          </a:p>
          <a:p>
            <a:pPr marL="0" indent="0">
              <a:buNone/>
            </a:pPr>
            <a:r>
              <a:rPr lang="ru-RU" sz="1400" dirty="0"/>
              <a:t>#include &lt;</a:t>
            </a:r>
            <a:r>
              <a:rPr lang="ru-RU" sz="1400" dirty="0" err="1"/>
              <a:t>sys</a:t>
            </a:r>
            <a:r>
              <a:rPr lang="ru-RU" sz="1400" dirty="0"/>
              <a:t>/</a:t>
            </a:r>
            <a:r>
              <a:rPr lang="ru-RU" sz="1400" dirty="0" err="1"/>
              <a:t>stat.h</a:t>
            </a:r>
            <a:r>
              <a:rPr lang="ru-RU" sz="1400" dirty="0"/>
              <a:t>&gt;</a:t>
            </a:r>
          </a:p>
          <a:p>
            <a:pPr marL="0" indent="0">
              <a:buNone/>
            </a:pPr>
            <a:r>
              <a:rPr lang="ru-RU" sz="1400" dirty="0"/>
              <a:t>#include &lt;</a:t>
            </a:r>
            <a:r>
              <a:rPr lang="ru-RU" sz="1400" dirty="0" err="1"/>
              <a:t>unistd.h</a:t>
            </a:r>
            <a:r>
              <a:rPr lang="ru-RU" sz="1400" dirty="0"/>
              <a:t>&gt;</a:t>
            </a:r>
          </a:p>
          <a:p>
            <a:pPr marL="0" indent="0">
              <a:buNone/>
            </a:pPr>
            <a:r>
              <a:rPr lang="ru-RU" sz="1400" dirty="0"/>
              <a:t>#include &lt;</a:t>
            </a:r>
            <a:r>
              <a:rPr lang="ru-RU" sz="1400" dirty="0" err="1"/>
              <a:t>stdio.h</a:t>
            </a:r>
            <a:r>
              <a:rPr lang="ru-RU" sz="1400" dirty="0"/>
              <a:t>&gt;</a:t>
            </a:r>
          </a:p>
          <a:p>
            <a:pPr marL="0" indent="0">
              <a:buNone/>
            </a:pPr>
            <a:endParaRPr lang="ru-RU" sz="1400" dirty="0"/>
          </a:p>
          <a:p>
            <a:pPr marL="0" indent="0">
              <a:buNone/>
            </a:pPr>
            <a:r>
              <a:rPr lang="ru-RU" sz="1400" dirty="0" err="1"/>
              <a:t>int</a:t>
            </a:r>
            <a:r>
              <a:rPr lang="ru-RU" sz="1400" dirty="0"/>
              <a:t> main(</a:t>
            </a:r>
            <a:r>
              <a:rPr lang="ru-RU" sz="1400" dirty="0" err="1"/>
              <a:t>void</a:t>
            </a:r>
            <a:r>
              <a:rPr lang="ru-RU" sz="1400" dirty="0"/>
              <a:t>) {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int</a:t>
            </a:r>
            <a:r>
              <a:rPr lang="ru-RU" sz="1400" dirty="0"/>
              <a:t> </a:t>
            </a:r>
            <a:r>
              <a:rPr lang="ru-RU" sz="1400" dirty="0" err="1"/>
              <a:t>fd</a:t>
            </a:r>
            <a:r>
              <a:rPr lang="ru-RU" sz="1400" dirty="0"/>
              <a:t> = </a:t>
            </a:r>
            <a:r>
              <a:rPr lang="ru-RU" sz="1400" dirty="0" err="1"/>
              <a:t>open</a:t>
            </a:r>
            <a:r>
              <a:rPr lang="ru-RU" sz="1400" dirty="0"/>
              <a:t>("hello.txt", O_RDONLY);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if</a:t>
            </a:r>
            <a:r>
              <a:rPr lang="ru-RU" sz="1400" dirty="0"/>
              <a:t> (</a:t>
            </a:r>
            <a:r>
              <a:rPr lang="ru-RU" sz="1400" dirty="0" err="1"/>
              <a:t>fd</a:t>
            </a:r>
            <a:r>
              <a:rPr lang="ru-RU" sz="1400" dirty="0"/>
              <a:t> == -1) return 1;</a:t>
            </a:r>
          </a:p>
          <a:p>
            <a:pPr marL="0" indent="0">
              <a:buNone/>
            </a:pPr>
            <a:endParaRPr lang="ru-RU" sz="1400" dirty="0"/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struct</a:t>
            </a:r>
            <a:r>
              <a:rPr lang="ru-RU" sz="1400" dirty="0"/>
              <a:t> </a:t>
            </a:r>
            <a:r>
              <a:rPr lang="ru-RU" sz="1400" dirty="0" err="1"/>
              <a:t>stat</a:t>
            </a:r>
            <a:r>
              <a:rPr lang="ru-RU" sz="1400" dirty="0"/>
              <a:t> </a:t>
            </a:r>
            <a:r>
              <a:rPr lang="ru-RU" sz="1400" dirty="0" err="1"/>
              <a:t>st</a:t>
            </a:r>
            <a:r>
              <a:rPr lang="ru-RU" sz="1400" dirty="0"/>
              <a:t>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if</a:t>
            </a:r>
            <a:r>
              <a:rPr lang="ru-RU" sz="1400" dirty="0"/>
              <a:t> (</a:t>
            </a:r>
            <a:r>
              <a:rPr lang="ru-RU" sz="1400" dirty="0" err="1"/>
              <a:t>fstat</a:t>
            </a:r>
            <a:r>
              <a:rPr lang="ru-RU" sz="1400" dirty="0"/>
              <a:t>(</a:t>
            </a:r>
            <a:r>
              <a:rPr lang="ru-RU" sz="1400" dirty="0" err="1"/>
              <a:t>fd</a:t>
            </a:r>
            <a:r>
              <a:rPr lang="ru-RU" sz="1400" dirty="0"/>
              <a:t>, &amp;</a:t>
            </a:r>
            <a:r>
              <a:rPr lang="ru-RU" sz="1400" dirty="0" err="1"/>
              <a:t>st</a:t>
            </a:r>
            <a:r>
              <a:rPr lang="ru-RU" sz="1400" dirty="0"/>
              <a:t>) == -1) return 1;</a:t>
            </a:r>
          </a:p>
          <a:p>
            <a:pPr marL="0" indent="0">
              <a:buNone/>
            </a:pPr>
            <a:endParaRPr lang="ru-RU" sz="1400" dirty="0"/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printf</a:t>
            </a:r>
            <a:r>
              <a:rPr lang="ru-RU" sz="1400" dirty="0"/>
              <a:t>("Размер: %</a:t>
            </a:r>
            <a:r>
              <a:rPr lang="ru-RU" sz="1400" dirty="0" err="1"/>
              <a:t>ld</a:t>
            </a:r>
            <a:r>
              <a:rPr lang="ru-RU" sz="1400" dirty="0"/>
              <a:t>\n", (</a:t>
            </a:r>
            <a:r>
              <a:rPr lang="ru-RU" sz="1400" dirty="0" err="1"/>
              <a:t>long</a:t>
            </a:r>
            <a:r>
              <a:rPr lang="ru-RU" sz="1400" dirty="0"/>
              <a:t>)</a:t>
            </a:r>
            <a:r>
              <a:rPr lang="ru-RU" sz="1400" dirty="0" err="1"/>
              <a:t>st.st_size</a:t>
            </a:r>
            <a:r>
              <a:rPr lang="ru-RU" sz="1400" dirty="0"/>
              <a:t>);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printf</a:t>
            </a:r>
            <a:r>
              <a:rPr lang="ru-RU" sz="1400" dirty="0"/>
              <a:t>("</a:t>
            </a:r>
            <a:r>
              <a:rPr lang="ru-RU" sz="1400" dirty="0" err="1"/>
              <a:t>Inode</a:t>
            </a:r>
            <a:r>
              <a:rPr lang="ru-RU" sz="1400" dirty="0"/>
              <a:t>: %</a:t>
            </a:r>
            <a:r>
              <a:rPr lang="ru-RU" sz="1400" dirty="0" err="1"/>
              <a:t>ld</a:t>
            </a:r>
            <a:r>
              <a:rPr lang="ru-RU" sz="1400" dirty="0"/>
              <a:t>\n", (</a:t>
            </a:r>
            <a:r>
              <a:rPr lang="ru-RU" sz="1400" dirty="0" err="1"/>
              <a:t>long</a:t>
            </a:r>
            <a:r>
              <a:rPr lang="ru-RU" sz="1400" dirty="0"/>
              <a:t>)</a:t>
            </a:r>
            <a:r>
              <a:rPr lang="ru-RU" sz="1400" dirty="0" err="1"/>
              <a:t>st.st_ino</a:t>
            </a:r>
            <a:r>
              <a:rPr lang="ru-RU" sz="1400" dirty="0"/>
              <a:t>);</a:t>
            </a:r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printf</a:t>
            </a:r>
            <a:r>
              <a:rPr lang="ru-RU" sz="1400" dirty="0"/>
              <a:t>("Тип: %s\n",</a:t>
            </a:r>
          </a:p>
          <a:p>
            <a:pPr marL="0" indent="0">
              <a:buNone/>
            </a:pPr>
            <a:r>
              <a:rPr lang="ru-RU" sz="1400" dirty="0"/>
              <a:t>           S_ISREG(</a:t>
            </a:r>
            <a:r>
              <a:rPr lang="ru-RU" sz="1400" dirty="0" err="1"/>
              <a:t>st.st_mode</a:t>
            </a:r>
            <a:r>
              <a:rPr lang="ru-RU" sz="1400" dirty="0"/>
              <a:t>) ? "файл" :</a:t>
            </a:r>
          </a:p>
          <a:p>
            <a:pPr marL="0" indent="0">
              <a:buNone/>
            </a:pPr>
            <a:r>
              <a:rPr lang="ru-RU" sz="1400" dirty="0"/>
              <a:t>           S_ISDIR(</a:t>
            </a:r>
            <a:r>
              <a:rPr lang="ru-RU" sz="1400" dirty="0" err="1"/>
              <a:t>st.st_mode</a:t>
            </a:r>
            <a:r>
              <a:rPr lang="ru-RU" sz="1400" dirty="0"/>
              <a:t>) ? "каталог" : "другое");</a:t>
            </a:r>
          </a:p>
          <a:p>
            <a:pPr marL="0" indent="0">
              <a:buNone/>
            </a:pPr>
            <a:endParaRPr lang="ru-RU" sz="1400" dirty="0"/>
          </a:p>
          <a:p>
            <a:pPr marL="0" indent="0">
              <a:buNone/>
            </a:pPr>
            <a:r>
              <a:rPr lang="ru-RU" sz="1400" dirty="0"/>
              <a:t>    </a:t>
            </a:r>
            <a:r>
              <a:rPr lang="ru-RU" sz="1400" dirty="0" err="1"/>
              <a:t>close</a:t>
            </a:r>
            <a:r>
              <a:rPr lang="ru-RU" sz="1400" dirty="0"/>
              <a:t>(</a:t>
            </a:r>
            <a:r>
              <a:rPr lang="ru-RU" sz="1400" dirty="0" err="1"/>
              <a:t>fd</a:t>
            </a:r>
            <a:r>
              <a:rPr lang="ru-RU" sz="1400" dirty="0"/>
              <a:t>);</a:t>
            </a:r>
          </a:p>
          <a:p>
            <a:pPr marL="0" indent="0">
              <a:buNone/>
            </a:pPr>
            <a:r>
              <a:rPr lang="ru-RU" sz="1400" dirty="0"/>
              <a:t>    return 0;</a:t>
            </a:r>
          </a:p>
          <a:p>
            <a:pPr marL="0" indent="0">
              <a:buNone/>
            </a:pPr>
            <a:r>
              <a:rPr lang="ru-RU" sz="1400" dirty="0"/>
              <a:t>}</a:t>
            </a:r>
          </a:p>
          <a:p>
            <a:pPr marL="0" indent="0">
              <a:buNone/>
            </a:pPr>
            <a:br>
              <a:rPr lang="ru-RU" sz="1400" dirty="0"/>
            </a:b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381364481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CFDEE1-9EBB-9B9B-08E9-9487C49CE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7"/>
            <a:ext cx="10972800" cy="1325563"/>
          </a:xfrm>
        </p:spPr>
        <p:txBody>
          <a:bodyPr>
            <a:normAutofit fontScale="90000"/>
          </a:bodyPr>
          <a:lstStyle/>
          <a:p>
            <a:r>
              <a:rPr lang="ru-RU" dirty="0"/>
              <a:t>Что делает: получает метаданные по открытому дескриптору через </a:t>
            </a:r>
            <a:r>
              <a:rPr lang="ru-RU" dirty="0" err="1"/>
              <a:t>fstat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023A3AE-08C3-5A0F-4795-67B445F984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4000" b="1" dirty="0"/>
              <a:t>Отличие от </a:t>
            </a:r>
            <a:r>
              <a:rPr lang="ru-RU" sz="4000" b="1" dirty="0" err="1"/>
              <a:t>stat</a:t>
            </a:r>
            <a:r>
              <a:rPr lang="ru-RU" sz="4000" b="1" dirty="0"/>
              <a:t>:</a:t>
            </a:r>
            <a:endParaRPr lang="ru-RU" sz="4000" dirty="0"/>
          </a:p>
          <a:p>
            <a:pPr marL="0" lvl="0" indent="0">
              <a:buNone/>
            </a:pPr>
            <a:r>
              <a:rPr lang="ru-RU" sz="4000" dirty="0" err="1"/>
              <a:t>stat</a:t>
            </a:r>
            <a:r>
              <a:rPr lang="ru-RU" sz="4000" dirty="0"/>
              <a:t>(</a:t>
            </a:r>
            <a:r>
              <a:rPr lang="ru-RU" sz="4000" dirty="0" err="1"/>
              <a:t>path</a:t>
            </a:r>
            <a:r>
              <a:rPr lang="ru-RU" sz="4000" dirty="0"/>
              <a:t>, &amp;</a:t>
            </a:r>
            <a:r>
              <a:rPr lang="ru-RU" sz="4000" dirty="0" err="1"/>
              <a:t>st</a:t>
            </a:r>
            <a:r>
              <a:rPr lang="ru-RU" sz="4000" dirty="0"/>
              <a:t>) — по </a:t>
            </a:r>
            <a:r>
              <a:rPr lang="ru-RU" sz="4000" b="1" dirty="0"/>
              <a:t>имени файла</a:t>
            </a:r>
            <a:r>
              <a:rPr lang="ru-RU" sz="4000" dirty="0"/>
              <a:t>.</a:t>
            </a:r>
          </a:p>
          <a:p>
            <a:pPr marL="0" lvl="0" indent="0">
              <a:buNone/>
            </a:pPr>
            <a:r>
              <a:rPr lang="ru-RU" sz="4000" dirty="0" err="1"/>
              <a:t>fstat</a:t>
            </a:r>
            <a:r>
              <a:rPr lang="ru-RU" sz="4000" dirty="0"/>
              <a:t>(</a:t>
            </a:r>
            <a:r>
              <a:rPr lang="ru-RU" sz="4000" dirty="0" err="1"/>
              <a:t>fd</a:t>
            </a:r>
            <a:r>
              <a:rPr lang="ru-RU" sz="4000" dirty="0"/>
              <a:t>, &amp;</a:t>
            </a:r>
            <a:r>
              <a:rPr lang="ru-RU" sz="4000" dirty="0" err="1"/>
              <a:t>st</a:t>
            </a:r>
            <a:r>
              <a:rPr lang="ru-RU" sz="4000" dirty="0"/>
              <a:t>) — по </a:t>
            </a:r>
            <a:r>
              <a:rPr lang="ru-RU" sz="4000" b="1" dirty="0"/>
              <a:t>открытому дескриптору</a:t>
            </a:r>
            <a:r>
              <a:rPr lang="ru-RU" sz="4000" dirty="0"/>
              <a:t>.</a:t>
            </a:r>
          </a:p>
          <a:p>
            <a:pPr marL="0" lvl="0" indent="0">
              <a:buNone/>
            </a:pPr>
            <a:r>
              <a:rPr lang="ru-RU" sz="4000" dirty="0" err="1"/>
              <a:t>lstat</a:t>
            </a:r>
            <a:r>
              <a:rPr lang="ru-RU" sz="4000" dirty="0"/>
              <a:t>(</a:t>
            </a:r>
            <a:r>
              <a:rPr lang="ru-RU" sz="4000" dirty="0" err="1"/>
              <a:t>path</a:t>
            </a:r>
            <a:r>
              <a:rPr lang="ru-RU" sz="4000" dirty="0"/>
              <a:t>, &amp;</a:t>
            </a:r>
            <a:r>
              <a:rPr lang="ru-RU" sz="4000" dirty="0" err="1"/>
              <a:t>st</a:t>
            </a:r>
            <a:r>
              <a:rPr lang="ru-RU" sz="4000" dirty="0"/>
              <a:t>) — не разыменовывает </a:t>
            </a:r>
            <a:r>
              <a:rPr lang="ru-RU" sz="4000" b="1" dirty="0"/>
              <a:t>символические ссылки</a:t>
            </a:r>
            <a:r>
              <a:rPr lang="ru-RU" sz="4000" dirty="0"/>
              <a:t>.</a:t>
            </a:r>
          </a:p>
          <a:p>
            <a:pPr marL="0" indent="0">
              <a:buNone/>
            </a:pP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239139509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A97854-B6A8-25B8-8F49-FB7C961A8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effectLst/>
              </a:rPr>
              <a:t>Сводная таблица: функции </a:t>
            </a:r>
            <a:r>
              <a:rPr lang="ru-RU" dirty="0" err="1">
                <a:effectLst/>
              </a:rPr>
              <a:t>vs</a:t>
            </a:r>
            <a:r>
              <a:rPr lang="ru-RU" dirty="0">
                <a:effectLst/>
              </a:rPr>
              <a:t> системные вызовы</a:t>
            </a:r>
            <a:br>
              <a:rPr lang="ru-RU" dirty="0">
                <a:effectLst/>
              </a:rPr>
            </a:br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AF785A86-330A-9034-FF18-F3A2F8545D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58240" y="1181995"/>
            <a:ext cx="7724115" cy="5401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691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849AB406-4ADF-19A9-CE74-B675C09434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9519" y="1885474"/>
            <a:ext cx="11162881" cy="3087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16377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534AE-4CA3-86D8-20B4-96A10DFD4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Режимы открытия — сравнение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B1BF7CD-352E-4514-19C7-86630041B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 err="1"/>
              <a:t>fopen</a:t>
            </a:r>
            <a:endParaRPr lang="ru-RU" b="1" dirty="0"/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F421E7C-7A40-A201-71AA-4C783F899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4564" y="2006707"/>
            <a:ext cx="5449060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2240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B7F39A-4551-1171-4C1B-3B387E04B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err="1">
                <a:effectLst/>
              </a:rPr>
              <a:t>open</a:t>
            </a:r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EBA36EE5-7FC8-C6B7-10DC-8134D71F0D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83081" y="1629257"/>
            <a:ext cx="6580186" cy="4954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09886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B3FF79-0D5B-7A85-4C1B-68A63E3AE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/>
              </a:rPr>
              <a:t>Что важно запомнить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7FE3FB9-691E-FAC6-3B1D-34405E53E7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4400" b="1" dirty="0"/>
              <a:t>Структуры хранения информации о файле</a:t>
            </a:r>
          </a:p>
          <a:p>
            <a:pPr lvl="0"/>
            <a:r>
              <a:rPr lang="ru-RU" sz="4000" b="1" dirty="0"/>
              <a:t>FILE *</a:t>
            </a:r>
            <a:r>
              <a:rPr lang="ru-RU" sz="4000" dirty="0"/>
              <a:t> — высокоуровневая структура (буфер, дескриптор, позиция, флаги).</a:t>
            </a:r>
          </a:p>
          <a:p>
            <a:pPr lvl="0"/>
            <a:r>
              <a:rPr lang="ru-RU" sz="4000" b="1" dirty="0" err="1"/>
              <a:t>int</a:t>
            </a:r>
            <a:r>
              <a:rPr lang="ru-RU" sz="4000" b="1" dirty="0"/>
              <a:t> </a:t>
            </a:r>
            <a:r>
              <a:rPr lang="ru-RU" sz="4000" b="1" dirty="0" err="1"/>
              <a:t>fd</a:t>
            </a:r>
            <a:r>
              <a:rPr lang="ru-RU" sz="4000" dirty="0"/>
              <a:t> — файловый дескриптор (низкоуровневый).</a:t>
            </a:r>
          </a:p>
          <a:p>
            <a:pPr lvl="0"/>
            <a:r>
              <a:rPr lang="ru-RU" sz="4000" b="1" dirty="0" err="1"/>
              <a:t>struct</a:t>
            </a:r>
            <a:r>
              <a:rPr lang="ru-RU" sz="4000" b="1" dirty="0"/>
              <a:t> </a:t>
            </a:r>
            <a:r>
              <a:rPr lang="ru-RU" sz="4000" b="1" dirty="0" err="1"/>
              <a:t>stat</a:t>
            </a:r>
            <a:r>
              <a:rPr lang="ru-RU" sz="4000" dirty="0"/>
              <a:t> — метаданные файла (размер, тип, права, время).</a:t>
            </a:r>
          </a:p>
          <a:p>
            <a:pPr marL="0" indent="0">
              <a:buNone/>
            </a:pPr>
            <a:endParaRPr lang="ru-RU" sz="4400" dirty="0"/>
          </a:p>
        </p:txBody>
      </p:sp>
    </p:spTree>
    <p:extLst>
      <p:ext uri="{BB962C8B-B14F-4D97-AF65-F5344CB8AC3E}">
        <p14:creationId xmlns:p14="http://schemas.microsoft.com/office/powerpoint/2010/main" val="233467675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194E6-0E19-405A-FD3F-772FA1A66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5400" dirty="0"/>
              <a:t>Функции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098FA3C-D21F-13EA-2346-A8ED2D5995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ru-RU" sz="4000" dirty="0"/>
              <a:t>Работают с FILE *.</a:t>
            </a:r>
          </a:p>
          <a:p>
            <a:pPr lvl="0"/>
            <a:r>
              <a:rPr lang="ru-RU" sz="4000" b="1" dirty="0"/>
              <a:t>Буферизованы</a:t>
            </a:r>
            <a:r>
              <a:rPr lang="ru-RU" sz="4000" dirty="0"/>
              <a:t> — быстрее при мелких операциях.</a:t>
            </a:r>
          </a:p>
          <a:p>
            <a:pPr lvl="0"/>
            <a:r>
              <a:rPr lang="ru-RU" sz="4000" b="1" dirty="0" err="1"/>
              <a:t>Платформо</a:t>
            </a:r>
            <a:r>
              <a:rPr lang="ru-RU" sz="4000" b="1" dirty="0"/>
              <a:t>-независимы</a:t>
            </a:r>
            <a:r>
              <a:rPr lang="ru-RU" sz="4000" dirty="0"/>
              <a:t> — стандарт C.</a:t>
            </a:r>
          </a:p>
          <a:p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101106716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8B9550-8B3E-8A69-16E4-C6F946D29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4800" dirty="0"/>
              <a:t>Системные вызовы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4727BB6-F741-1A62-703D-780C6A3BBD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ru-RU" sz="4400" dirty="0"/>
              <a:t>Работают с </a:t>
            </a:r>
            <a:r>
              <a:rPr lang="ru-RU" sz="4400" dirty="0" err="1"/>
              <a:t>int</a:t>
            </a:r>
            <a:r>
              <a:rPr lang="ru-RU" sz="4400" dirty="0"/>
              <a:t> </a:t>
            </a:r>
            <a:r>
              <a:rPr lang="ru-RU" sz="4400" dirty="0" err="1"/>
              <a:t>fd</a:t>
            </a:r>
            <a:r>
              <a:rPr lang="ru-RU" sz="4400" dirty="0"/>
              <a:t>.</a:t>
            </a:r>
          </a:p>
          <a:p>
            <a:pPr lvl="0"/>
            <a:r>
              <a:rPr lang="ru-RU" sz="4400" b="1" dirty="0"/>
              <a:t>Не буферизованы</a:t>
            </a:r>
            <a:r>
              <a:rPr lang="ru-RU" sz="4400" dirty="0"/>
              <a:t> — каждое обращение к диску.</a:t>
            </a:r>
          </a:p>
          <a:p>
            <a:pPr lvl="0"/>
            <a:r>
              <a:rPr lang="ru-RU" sz="4400" b="1" dirty="0"/>
              <a:t>POSIX</a:t>
            </a:r>
            <a:r>
              <a:rPr lang="ru-RU" sz="4400" dirty="0"/>
              <a:t> — Unix/Linux.</a:t>
            </a:r>
          </a:p>
          <a:p>
            <a:pPr lvl="0"/>
            <a:r>
              <a:rPr lang="ru-RU" sz="4400" dirty="0"/>
              <a:t>Прямой доступ к ядру ОС.</a:t>
            </a:r>
          </a:p>
          <a:p>
            <a:endParaRPr lang="ru-RU" sz="4400" dirty="0"/>
          </a:p>
        </p:txBody>
      </p:sp>
    </p:spTree>
    <p:extLst>
      <p:ext uri="{BB962C8B-B14F-4D97-AF65-F5344CB8AC3E}">
        <p14:creationId xmlns:p14="http://schemas.microsoft.com/office/powerpoint/2010/main" val="872333631"/>
      </p:ext>
    </p:extLst>
  </p:cSld>
  <p:clrMapOvr>
    <a:masterClrMapping/>
  </p:clrMapOvr>
</p:sld>
</file>

<file path=ppt/theme/theme1.xml><?xml version="1.0" encoding="utf-8"?>
<a:theme xmlns:a="http://schemas.openxmlformats.org/drawingml/2006/main" name="La ment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821</TotalTime>
  <Words>7202</Words>
  <Application>Microsoft Office PowerPoint</Application>
  <PresentationFormat>Широкоэкранный</PresentationFormat>
  <Paragraphs>977</Paragraphs>
  <Slides>104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104</vt:i4>
      </vt:variant>
    </vt:vector>
  </HeadingPairs>
  <TitlesOfParts>
    <vt:vector size="109" baseType="lpstr">
      <vt:lpstr>Arial</vt:lpstr>
      <vt:lpstr>Calibri</vt:lpstr>
      <vt:lpstr>Mona Sans VF</vt:lpstr>
      <vt:lpstr>quote-cjk-patch</vt:lpstr>
      <vt:lpstr>La mente</vt:lpstr>
      <vt:lpstr> </vt:lpstr>
      <vt:lpstr>Цель </vt:lpstr>
      <vt:lpstr>Задачи </vt:lpstr>
      <vt:lpstr>Презентация PowerPoint</vt:lpstr>
      <vt:lpstr>Пример 1. Что такое FILE * — объявление и проверка </vt:lpstr>
      <vt:lpstr>Презентация PowerPoint</vt:lpstr>
      <vt:lpstr>Подключение библиотеки</vt:lpstr>
      <vt:lpstr>Открытие исходного файла</vt:lpstr>
      <vt:lpstr>Открытие файла для записи</vt:lpstr>
      <vt:lpstr>Пример 2. Размер структуры FILE</vt:lpstr>
      <vt:lpstr>Пример 3. Позиция в файле через ftell</vt:lpstr>
      <vt:lpstr>Пример 4. Флаги состояния: feof и ferror</vt:lpstr>
      <vt:lpstr>Пример 5. Сброс буфера через fflush</vt:lpstr>
      <vt:lpstr>Пример 6. Буферизация: setvbuf</vt:lpstr>
      <vt:lpstr>Пример 7. Временный файл через tmpfile</vt:lpstr>
      <vt:lpstr>Презентация PowerPoint</vt:lpstr>
      <vt:lpstr>Пример 8. Получение дескриптора из FILE через fileno </vt:lpstr>
      <vt:lpstr>Пример 9. Стандартные дескрипторы</vt:lpstr>
      <vt:lpstr>Пример 10. Дескриптор через open (системный вызов) </vt:lpstr>
      <vt:lpstr>Пример 11. Обёртка FILE вокруг дескриптора через fdopen </vt:lpstr>
      <vt:lpstr>Пример 12. Дублирование дескриптора через dup </vt:lpstr>
      <vt:lpstr>Презентация PowerPoint</vt:lpstr>
      <vt:lpstr>Пример 13. Получение метаданных через stat</vt:lpstr>
      <vt:lpstr>Пример 14. Тип файла через st_mode</vt:lpstr>
      <vt:lpstr>Пример 15. Права доступа через st_mode</vt:lpstr>
      <vt:lpstr>Пример 16. Временные метки файла</vt:lpstr>
      <vt:lpstr>Пример 17. fstat — метаданные по дескриптору</vt:lpstr>
      <vt:lpstr>Презентация PowerPoint</vt:lpstr>
      <vt:lpstr>Пример 18. Структура DIR для каталогов</vt:lpstr>
      <vt:lpstr>Пример 19. Структура passwd — информация о пользователе </vt:lpstr>
      <vt:lpstr>Пример 20. Сводная информация о файле</vt:lpstr>
      <vt:lpstr>Сводная таблица: структуры и их назначение</vt:lpstr>
      <vt:lpstr>Что важно запомнить</vt:lpstr>
      <vt:lpstr>Итог</vt:lpstr>
      <vt:lpstr>Презентация PowerPoint</vt:lpstr>
      <vt:lpstr>Презентация PowerPoint</vt:lpstr>
      <vt:lpstr>Пример 1. Чтение файла посимвольно (fgetc)</vt:lpstr>
      <vt:lpstr>Пример 2. Чтение файла построчно (fgets)</vt:lpstr>
      <vt:lpstr>Пример 3. Чтение с проверкой на ошибку (perror) </vt:lpstr>
      <vt:lpstr>Пример 4. Подсчёт символов</vt:lpstr>
      <vt:lpstr>Пример 5. Подсчёт строк</vt:lpstr>
      <vt:lpstr>Пример 6. Запись строки (fputs)</vt:lpstr>
      <vt:lpstr>Пример 7. Запись посимвольно (fputc)</vt:lpstr>
      <vt:lpstr>Пример 8. Форматированная запись (fprintf)</vt:lpstr>
      <vt:lpstr>Пример 9. Дозапись в конец ("a")</vt:lpstr>
      <vt:lpstr>Пример 10. Запись массива чисел</vt:lpstr>
      <vt:lpstr>Пример 11. Копирование файла</vt:lpstr>
      <vt:lpstr>Подключение библиотеки</vt:lpstr>
      <vt:lpstr>Открытие исходного файла</vt:lpstr>
      <vt:lpstr>Открытие файла для записи</vt:lpstr>
      <vt:lpstr>Проверка на ошибки</vt:lpstr>
      <vt:lpstr>Чтение и запись посимвольно</vt:lpstr>
      <vt:lpstr>Почему int, а не char? </vt:lpstr>
      <vt:lpstr>Закрытие файлов</vt:lpstr>
      <vt:lpstr>Завершение программы</vt:lpstr>
      <vt:lpstr>Схема работы</vt:lpstr>
      <vt:lpstr>Пошагово:</vt:lpstr>
      <vt:lpstr>Презентация PowerPoint</vt:lpstr>
      <vt:lpstr>До запуска:</vt:lpstr>
      <vt:lpstr>После запуска:</vt:lpstr>
      <vt:lpstr>Презентация PowerPoint</vt:lpstr>
      <vt:lpstr>Презентация PowerPoint</vt:lpstr>
      <vt:lpstr>Пример 12. Перевод в верхний регистр</vt:lpstr>
      <vt:lpstr>Обязательные заголовки:</vt:lpstr>
      <vt:lpstr>c = fgetc(fp) — чтение символа</vt:lpstr>
      <vt:lpstr>(c = fgetc(fp)) != EOF — проверка на конец файла </vt:lpstr>
      <vt:lpstr>Почему c — int, а не char? </vt:lpstr>
      <vt:lpstr>toupper(c) — перевод в верхний регистр</vt:lpstr>
      <vt:lpstr>putchar(...) — вывод символа</vt:lpstr>
      <vt:lpstr>Пример 13. Удаление пустых строк</vt:lpstr>
      <vt:lpstr>Что такое пустая строка? </vt:lpstr>
      <vt:lpstr>Обязательные заголовки:</vt:lpstr>
      <vt:lpstr>char buf[256] — буфер для строки</vt:lpstr>
      <vt:lpstr>fgets(buf, sizeof(buf), fp) — чтение строки</vt:lpstr>
      <vt:lpstr>while (fgets(...)) — цикл по строкам</vt:lpstr>
      <vt:lpstr>strcmp(buf, "\n") != 0 — проверка на пустую строку </vt:lpstr>
      <vt:lpstr>printf("%s", buf) — вывод строки</vt:lpstr>
      <vt:lpstr>Схема работы</vt:lpstr>
      <vt:lpstr>Что важно запомнить</vt:lpstr>
      <vt:lpstr>Презентация PowerPoint</vt:lpstr>
      <vt:lpstr>Пример 14. Поиск слова в файле</vt:lpstr>
      <vt:lpstr>Что тут происходит:</vt:lpstr>
      <vt:lpstr>Пример 15. Слияние двух файлов</vt:lpstr>
      <vt:lpstr>Пример 16. Размер файла через fseek + ftell</vt:lpstr>
      <vt:lpstr>Пример 17. Чтение с середины файла</vt:lpstr>
      <vt:lpstr>Пример 18. Перемотка в начало (rewind)</vt:lpstr>
      <vt:lpstr>Пример 19. Метаданные через stat</vt:lpstr>
      <vt:lpstr>Пример 20. Проверка существования файла</vt:lpstr>
      <vt:lpstr>Презентация PowerPoint</vt:lpstr>
      <vt:lpstr>Пример 21. Открытие файла через open</vt:lpstr>
      <vt:lpstr>Пример 22. Чтение через read</vt:lpstr>
      <vt:lpstr>Что делает: читает файл блоками через системный вызов read. </vt:lpstr>
      <vt:lpstr>Пример 23. Запись через write</vt:lpstr>
      <vt:lpstr>Пример 24. Позиционирование через lseek</vt:lpstr>
      <vt:lpstr>Что делает: перемещает позицию через lseek и получает размер файла. </vt:lpstr>
      <vt:lpstr>Пример 25. Метаданные через fstat</vt:lpstr>
      <vt:lpstr>Что делает: получает метаданные по открытому дескриптору через fstat. </vt:lpstr>
      <vt:lpstr>Сводная таблица: функции vs системные вызовы </vt:lpstr>
      <vt:lpstr>Презентация PowerPoint</vt:lpstr>
      <vt:lpstr>Режимы открытия — сравнение</vt:lpstr>
      <vt:lpstr>open</vt:lpstr>
      <vt:lpstr>Что важно запомнить</vt:lpstr>
      <vt:lpstr>Функции</vt:lpstr>
      <vt:lpstr>Системные вызовы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Елена Журавлёва</dc:creator>
  <cp:lastModifiedBy>Елена Журавлёва</cp:lastModifiedBy>
  <cp:revision>11</cp:revision>
  <dcterms:created xsi:type="dcterms:W3CDTF">2026-09-03T16:56:30Z</dcterms:created>
  <dcterms:modified xsi:type="dcterms:W3CDTF">2026-10-07T08:08:54Z</dcterms:modified>
</cp:coreProperties>
</file>