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</p:sldMasterIdLst>
  <p:sldIdLst>
    <p:sldId id="263" r:id="rId2"/>
    <p:sldId id="259" r:id="rId3"/>
    <p:sldId id="260" r:id="rId4"/>
    <p:sldId id="294" r:id="rId5"/>
    <p:sldId id="293" r:id="rId6"/>
    <p:sldId id="280" r:id="rId7"/>
    <p:sldId id="267" r:id="rId8"/>
    <p:sldId id="266" r:id="rId9"/>
    <p:sldId id="265" r:id="rId10"/>
    <p:sldId id="276" r:id="rId11"/>
    <p:sldId id="270" r:id="rId12"/>
    <p:sldId id="273" r:id="rId13"/>
    <p:sldId id="295" r:id="rId14"/>
    <p:sldId id="277" r:id="rId15"/>
    <p:sldId id="292" r:id="rId16"/>
    <p:sldId id="291" r:id="rId17"/>
    <p:sldId id="275" r:id="rId18"/>
    <p:sldId id="274" r:id="rId19"/>
    <p:sldId id="296" r:id="rId20"/>
    <p:sldId id="272" r:id="rId21"/>
    <p:sldId id="269" r:id="rId22"/>
    <p:sldId id="271" r:id="rId23"/>
    <p:sldId id="264" r:id="rId24"/>
    <p:sldId id="261" r:id="rId25"/>
    <p:sldId id="297" r:id="rId26"/>
    <p:sldId id="284" r:id="rId27"/>
    <p:sldId id="283" r:id="rId28"/>
    <p:sldId id="282" r:id="rId29"/>
    <p:sldId id="268" r:id="rId30"/>
    <p:sldId id="278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5" autoAdjust="0"/>
    <p:restoredTop sz="94660"/>
  </p:normalViewPr>
  <p:slideViewPr>
    <p:cSldViewPr snapToGrid="0">
      <p:cViewPr varScale="1">
        <p:scale>
          <a:sx n="50" d="100"/>
          <a:sy n="50" d="100"/>
        </p:scale>
        <p:origin x="120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 cap="none" spc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94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 w="18415" cmpd="sng">
                  <a:solidFill>
                    <a:srgbClr val="0066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n>
                  <a:noFill/>
                </a:ln>
                <a:solidFill>
                  <a:srgbClr val="0000CC"/>
                </a:solidFill>
              </a:defRPr>
            </a:lvl1pPr>
            <a:lvl2pPr>
              <a:defRPr>
                <a:ln>
                  <a:noFill/>
                </a:ln>
                <a:solidFill>
                  <a:srgbClr val="0000CC"/>
                </a:solidFill>
              </a:defRPr>
            </a:lvl2pPr>
            <a:lvl3pPr>
              <a:defRPr>
                <a:ln>
                  <a:noFill/>
                </a:ln>
                <a:solidFill>
                  <a:srgbClr val="0000CC"/>
                </a:solidFill>
              </a:defRPr>
            </a:lvl3pPr>
            <a:lvl4pPr>
              <a:defRPr>
                <a:ln>
                  <a:noFill/>
                </a:ln>
                <a:solidFill>
                  <a:srgbClr val="0000CC"/>
                </a:solidFill>
              </a:defRPr>
            </a:lvl4pPr>
            <a:lvl5pPr>
              <a:defRPr>
                <a:ln>
                  <a:noFill/>
                </a:ln>
                <a:solidFill>
                  <a:srgbClr val="0000CC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263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00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62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80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59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353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557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90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57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25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C7E19-DCA5-49F3-B8D2-FDEAC3543D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12192000" cy="7010400"/>
          </a:xfrm>
          <a:prstGeom prst="rect">
            <a:avLst/>
          </a:prstGeom>
          <a:gradFill flip="none" rotWithShape="1">
            <a:gsLst>
              <a:gs pos="100000">
                <a:srgbClr val="03D4A8">
                  <a:alpha val="18000"/>
                </a:srgbClr>
              </a:gs>
              <a:gs pos="25000">
                <a:srgbClr val="21D6E0">
                  <a:alpha val="23000"/>
                </a:srgbClr>
              </a:gs>
              <a:gs pos="75000">
                <a:srgbClr val="0087E6">
                  <a:alpha val="25000"/>
                </a:srgbClr>
              </a:gs>
              <a:gs pos="100000">
                <a:srgbClr val="005CBF">
                  <a:alpha val="25999"/>
                </a:srgb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267319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E1B47-9E47-9CBE-D322-40B93EDDF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ru-RU" dirty="0">
                <a:effectLst/>
              </a:rPr>
            </a:b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5AFE19-3D70-2A10-9A1F-0C3D5FE56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1600200"/>
            <a:ext cx="10027920" cy="4038600"/>
          </a:xfrm>
        </p:spPr>
        <p:txBody>
          <a:bodyPr>
            <a:noAutofit/>
          </a:bodyPr>
          <a:lstStyle/>
          <a:p>
            <a:r>
              <a:rPr lang="ru-RU" sz="5400" dirty="0">
                <a:solidFill>
                  <a:schemeClr val="accent1">
                    <a:lumMod val="75000"/>
                  </a:schemeClr>
                </a:solidFill>
              </a:rPr>
              <a:t>тема</a:t>
            </a:r>
          </a:p>
          <a:p>
            <a:r>
              <a:rPr lang="ru-RU" sz="5400" b="1" dirty="0">
                <a:solidFill>
                  <a:schemeClr val="accent1">
                    <a:lumMod val="75000"/>
                  </a:schemeClr>
                </a:solidFill>
              </a:rPr>
              <a:t>Структуры хранения информации о файле</a:t>
            </a:r>
          </a:p>
        </p:txBody>
      </p:sp>
    </p:spTree>
    <p:extLst>
      <p:ext uri="{BB962C8B-B14F-4D97-AF65-F5344CB8AC3E}">
        <p14:creationId xmlns:p14="http://schemas.microsoft.com/office/powerpoint/2010/main" val="119702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7F778-4323-4A64-0B60-59668E58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AE792C-54FF-C25B-DEAA-C7DF8621C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6000" i="1" dirty="0"/>
              <a:t>Научиться на практических примерах работать со структурами хранения информации о файле</a:t>
            </a:r>
          </a:p>
          <a:p>
            <a:pPr marL="0" indent="0">
              <a:buNone/>
            </a:pPr>
            <a:endParaRPr lang="ru-RU" sz="6000" i="1" dirty="0"/>
          </a:p>
        </p:txBody>
      </p:sp>
    </p:spTree>
    <p:extLst>
      <p:ext uri="{BB962C8B-B14F-4D97-AF65-F5344CB8AC3E}">
        <p14:creationId xmlns:p14="http://schemas.microsoft.com/office/powerpoint/2010/main" val="348010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88D02-382A-2EB9-CD8F-342D05C8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Задачи</a:t>
            </a:r>
            <a:br>
              <a:rPr lang="ru-RU"/>
            </a:b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3FF237-86B4-6E06-2E56-2FFF6472D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dirty="0"/>
              <a:t>Научиться работать со структурами:</a:t>
            </a:r>
          </a:p>
          <a:p>
            <a:r>
              <a:rPr lang="ru-RU" sz="4000" dirty="0"/>
              <a:t>FILE, </a:t>
            </a:r>
          </a:p>
          <a:p>
            <a:r>
              <a:rPr lang="ru-RU" sz="4000" dirty="0" err="1"/>
              <a:t>struct</a:t>
            </a:r>
            <a:r>
              <a:rPr lang="ru-RU" sz="4000" dirty="0"/>
              <a:t> </a:t>
            </a:r>
            <a:r>
              <a:rPr lang="ru-RU" sz="4000" dirty="0" err="1"/>
              <a:t>stat</a:t>
            </a:r>
            <a:r>
              <a:rPr lang="ru-RU" sz="4000" dirty="0"/>
              <a:t>, </a:t>
            </a:r>
          </a:p>
          <a:p>
            <a:r>
              <a:rPr lang="ru-RU" sz="4000" dirty="0"/>
              <a:t>файловые дескрипторы, </a:t>
            </a:r>
          </a:p>
          <a:p>
            <a:r>
              <a:rPr lang="ru-RU" sz="4000" dirty="0"/>
              <a:t>буферы и связанными с ними механизмы</a:t>
            </a:r>
          </a:p>
        </p:txBody>
      </p:sp>
    </p:spTree>
    <p:extLst>
      <p:ext uri="{BB962C8B-B14F-4D97-AF65-F5344CB8AC3E}">
        <p14:creationId xmlns:p14="http://schemas.microsoft.com/office/powerpoint/2010/main" val="1664679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608C29-F4C8-6AC5-5D8C-628385AE4961}"/>
              </a:ext>
            </a:extLst>
          </p:cNvPr>
          <p:cNvSpPr txBox="1"/>
          <p:nvPr/>
        </p:nvSpPr>
        <p:spPr>
          <a:xfrm>
            <a:off x="213360" y="533400"/>
            <a:ext cx="89306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sz="7200" b="1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Часть 1. Структура FILE (примеры 1–7)</a:t>
            </a:r>
            <a:endParaRPr lang="ru-RU" sz="7200" b="1" i="0" dirty="0">
              <a:solidFill>
                <a:schemeClr val="accent1">
                  <a:lumMod val="75000"/>
                </a:schemeClr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1123463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CB89C-096C-FD4B-EFDE-81F61B42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Пример 1. Что такое FILE * — объявление и проверка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F7BF6C-7144-FDA9-1BF8-910FBDB95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stdio.h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main(</a:t>
            </a:r>
            <a:r>
              <a:rPr lang="ru-RU" dirty="0" err="1"/>
              <a:t>void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FILE *</a:t>
            </a:r>
            <a:r>
              <a:rPr lang="ru-RU" dirty="0" err="1"/>
              <a:t>fp</a:t>
            </a:r>
            <a:r>
              <a:rPr lang="ru-RU" dirty="0"/>
              <a:t> = </a:t>
            </a:r>
            <a:r>
              <a:rPr lang="ru-RU" dirty="0" err="1"/>
              <a:t>fopen</a:t>
            </a:r>
            <a:r>
              <a:rPr lang="ru-RU" dirty="0"/>
              <a:t>("hello.txt", "r");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fp</a:t>
            </a:r>
            <a:r>
              <a:rPr lang="ru-RU" dirty="0"/>
              <a:t> == NULL) {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ru-RU" dirty="0" err="1"/>
              <a:t>perror</a:t>
            </a:r>
            <a:r>
              <a:rPr lang="ru-RU" dirty="0"/>
              <a:t>("</a:t>
            </a:r>
            <a:r>
              <a:rPr lang="ru-RU" dirty="0" err="1"/>
              <a:t>fopen</a:t>
            </a:r>
            <a:r>
              <a:rPr lang="ru-RU" dirty="0"/>
              <a:t>");</a:t>
            </a:r>
          </a:p>
          <a:p>
            <a:pPr marL="0" indent="0">
              <a:buNone/>
            </a:pPr>
            <a:r>
              <a:rPr lang="ru-RU" dirty="0"/>
              <a:t>        return 1;</a:t>
            </a:r>
          </a:p>
          <a:p>
            <a:pPr marL="0" indent="0">
              <a:buNone/>
            </a:pPr>
            <a:r>
              <a:rPr lang="ru-RU" dirty="0"/>
              <a:t>    }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("Файл открыт, указатель: %p\n", (</a:t>
            </a:r>
            <a:r>
              <a:rPr lang="ru-RU" dirty="0" err="1"/>
              <a:t>void</a:t>
            </a:r>
            <a:r>
              <a:rPr lang="ru-RU" dirty="0"/>
              <a:t> *)</a:t>
            </a:r>
            <a:r>
              <a:rPr lang="ru-RU" dirty="0" err="1"/>
              <a:t>fp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fclose</a:t>
            </a:r>
            <a:r>
              <a:rPr lang="ru-RU" dirty="0"/>
              <a:t>(</a:t>
            </a:r>
            <a:r>
              <a:rPr lang="ru-RU" dirty="0" err="1"/>
              <a:t>fp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return 0;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815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551DF7C-E228-8341-7981-B13DA18D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4800" b="1" dirty="0"/>
              <a:t>Что показывает:</a:t>
            </a:r>
            <a:r>
              <a:rPr lang="ru-RU" sz="4800" dirty="0"/>
              <a:t> FILE * — это </a:t>
            </a:r>
            <a:r>
              <a:rPr lang="ru-RU" sz="4800" b="1" dirty="0"/>
              <a:t>указатель на структуру</a:t>
            </a:r>
            <a:r>
              <a:rPr lang="ru-RU" sz="4800" dirty="0"/>
              <a:t>, которая хранит всю информацию об открытом файле. %p выводит </a:t>
            </a:r>
            <a:r>
              <a:rPr lang="ru-RU" sz="4800" b="1" dirty="0"/>
              <a:t>адрес</a:t>
            </a:r>
            <a:r>
              <a:rPr lang="ru-RU" sz="4800" dirty="0"/>
              <a:t> структуры в памяти.</a:t>
            </a:r>
          </a:p>
          <a:p>
            <a:pPr marL="0" indent="0">
              <a:buNone/>
            </a:pPr>
            <a:br>
              <a:rPr lang="ru-RU" sz="4800" dirty="0"/>
            </a:b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18584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71A45-20B3-DCA9-CD9A-C4FEEDE41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2. Размер структуры FILE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CA5938-B3C9-9112-B133-669B45ADE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stdio.h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main(</a:t>
            </a:r>
            <a:r>
              <a:rPr lang="ru-RU" dirty="0" err="1"/>
              <a:t>void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</a:t>
            </a:r>
            <a:r>
              <a:rPr lang="ru-RU" dirty="0" err="1"/>
              <a:t>sizeof</a:t>
            </a:r>
            <a:r>
              <a:rPr lang="ru-RU" dirty="0"/>
              <a:t>(FILE) = %</a:t>
            </a:r>
            <a:r>
              <a:rPr lang="ru-RU" dirty="0" err="1"/>
              <a:t>zu</a:t>
            </a:r>
            <a:r>
              <a:rPr lang="ru-RU" dirty="0"/>
              <a:t> байт\n", </a:t>
            </a:r>
            <a:r>
              <a:rPr lang="ru-RU" dirty="0" err="1"/>
              <a:t>sizeof</a:t>
            </a:r>
            <a:r>
              <a:rPr lang="ru-RU" dirty="0"/>
              <a:t>(FILE));</a:t>
            </a:r>
          </a:p>
          <a:p>
            <a:pPr marL="0" indent="0">
              <a:buNone/>
            </a:pPr>
            <a:r>
              <a:rPr lang="ru-RU" dirty="0"/>
              <a:t>    return 0;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Что показывает:</a:t>
            </a:r>
            <a:r>
              <a:rPr lang="ru-RU" dirty="0"/>
              <a:t> структура FILE занимает </a:t>
            </a:r>
            <a:r>
              <a:rPr lang="ru-RU" b="1" dirty="0"/>
              <a:t>фиксированный объём памяти</a:t>
            </a:r>
            <a:r>
              <a:rPr lang="ru-RU" dirty="0"/>
              <a:t>. На разных системах — разный, но обычно </a:t>
            </a:r>
            <a:r>
              <a:rPr lang="ru-RU" b="1" dirty="0"/>
              <a:t>от 100 до 500 байт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100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D8B8E-82E2-C00B-BC27-02F0DD31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3. Позиция в файле через </a:t>
            </a:r>
            <a:r>
              <a:rPr lang="ru-RU" dirty="0" err="1">
                <a:effectLst/>
              </a:rPr>
              <a:t>ftell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B4644-EE2A-686D-B0AF-E621B8133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3800" dirty="0"/>
              <a:t>#include &lt;</a:t>
            </a:r>
            <a:r>
              <a:rPr lang="ru-RU" sz="3800" dirty="0" err="1"/>
              <a:t>stdio.h</a:t>
            </a:r>
            <a:r>
              <a:rPr lang="ru-RU" sz="3800" dirty="0"/>
              <a:t>&gt;</a:t>
            </a:r>
          </a:p>
          <a:p>
            <a:pPr marL="0" indent="0">
              <a:buNone/>
            </a:pPr>
            <a:endParaRPr lang="ru-RU" sz="3800" dirty="0"/>
          </a:p>
          <a:p>
            <a:pPr marL="0" indent="0">
              <a:buNone/>
            </a:pPr>
            <a:r>
              <a:rPr lang="ru-RU" sz="3800" dirty="0" err="1"/>
              <a:t>int</a:t>
            </a:r>
            <a:r>
              <a:rPr lang="ru-RU" sz="3800" dirty="0"/>
              <a:t> main(</a:t>
            </a:r>
            <a:r>
              <a:rPr lang="ru-RU" sz="3800" dirty="0" err="1"/>
              <a:t>void</a:t>
            </a:r>
            <a:r>
              <a:rPr lang="ru-RU" sz="3800" dirty="0"/>
              <a:t>) {</a:t>
            </a:r>
          </a:p>
          <a:p>
            <a:pPr marL="0" indent="0">
              <a:buNone/>
            </a:pPr>
            <a:r>
              <a:rPr lang="ru-RU" sz="3800" dirty="0"/>
              <a:t>    FILE *</a:t>
            </a:r>
            <a:r>
              <a:rPr lang="ru-RU" sz="3800" dirty="0" err="1"/>
              <a:t>fp</a:t>
            </a:r>
            <a:r>
              <a:rPr lang="ru-RU" sz="3800" dirty="0"/>
              <a:t> = </a:t>
            </a:r>
            <a:r>
              <a:rPr lang="ru-RU" sz="3800" dirty="0" err="1"/>
              <a:t>fopen</a:t>
            </a:r>
            <a:r>
              <a:rPr lang="ru-RU" sz="3800" dirty="0"/>
              <a:t>("hello.txt", "r");</a:t>
            </a:r>
          </a:p>
          <a:p>
            <a:pPr marL="0" indent="0">
              <a:buNone/>
            </a:pPr>
            <a:r>
              <a:rPr lang="ru-RU" sz="3800" dirty="0"/>
              <a:t>    </a:t>
            </a:r>
            <a:r>
              <a:rPr lang="ru-RU" sz="3800" dirty="0" err="1"/>
              <a:t>if</a:t>
            </a:r>
            <a:r>
              <a:rPr lang="ru-RU" sz="3800" dirty="0"/>
              <a:t> (!</a:t>
            </a:r>
            <a:r>
              <a:rPr lang="ru-RU" sz="3800" dirty="0" err="1"/>
              <a:t>fp</a:t>
            </a:r>
            <a:r>
              <a:rPr lang="ru-RU" sz="3800" dirty="0"/>
              <a:t>) return 1;</a:t>
            </a:r>
          </a:p>
          <a:p>
            <a:pPr marL="0" indent="0">
              <a:buNone/>
            </a:pPr>
            <a:endParaRPr lang="ru-RU" sz="3800" dirty="0"/>
          </a:p>
          <a:p>
            <a:pPr marL="0" indent="0">
              <a:buNone/>
            </a:pPr>
            <a:r>
              <a:rPr lang="ru-RU" sz="3800" dirty="0"/>
              <a:t>    </a:t>
            </a:r>
            <a:r>
              <a:rPr lang="ru-RU" sz="3800" dirty="0" err="1"/>
              <a:t>int</a:t>
            </a:r>
            <a:r>
              <a:rPr lang="ru-RU" sz="3800" dirty="0"/>
              <a:t> c;</a:t>
            </a:r>
          </a:p>
          <a:p>
            <a:pPr marL="0" indent="0">
              <a:buNone/>
            </a:pPr>
            <a:r>
              <a:rPr lang="ru-RU" sz="3800" dirty="0"/>
              <a:t>    </a:t>
            </a:r>
            <a:r>
              <a:rPr lang="ru-RU" sz="3800" dirty="0" err="1"/>
              <a:t>while</a:t>
            </a:r>
            <a:r>
              <a:rPr lang="ru-RU" sz="3800" dirty="0"/>
              <a:t> ((c = </a:t>
            </a:r>
            <a:r>
              <a:rPr lang="ru-RU" sz="3800" dirty="0" err="1"/>
              <a:t>fgetc</a:t>
            </a:r>
            <a:r>
              <a:rPr lang="ru-RU" sz="3800" dirty="0"/>
              <a:t>(</a:t>
            </a:r>
            <a:r>
              <a:rPr lang="ru-RU" sz="3800" dirty="0" err="1"/>
              <a:t>fp</a:t>
            </a:r>
            <a:r>
              <a:rPr lang="ru-RU" sz="3800" dirty="0"/>
              <a:t>)) != EOF) {</a:t>
            </a:r>
          </a:p>
          <a:p>
            <a:pPr marL="0" indent="0">
              <a:buNone/>
            </a:pPr>
            <a:r>
              <a:rPr lang="ru-RU" sz="3800" dirty="0"/>
              <a:t>        </a:t>
            </a:r>
            <a:r>
              <a:rPr lang="ru-RU" sz="3800" dirty="0" err="1"/>
              <a:t>long</a:t>
            </a:r>
            <a:r>
              <a:rPr lang="ru-RU" sz="3800" dirty="0"/>
              <a:t> </a:t>
            </a:r>
            <a:r>
              <a:rPr lang="ru-RU" sz="3800" dirty="0" err="1"/>
              <a:t>pos</a:t>
            </a:r>
            <a:r>
              <a:rPr lang="ru-RU" sz="3800" dirty="0"/>
              <a:t> = </a:t>
            </a:r>
            <a:r>
              <a:rPr lang="ru-RU" sz="3800" dirty="0" err="1"/>
              <a:t>ftell</a:t>
            </a:r>
            <a:r>
              <a:rPr lang="ru-RU" sz="3800" dirty="0"/>
              <a:t>(</a:t>
            </a:r>
            <a:r>
              <a:rPr lang="ru-RU" sz="3800" dirty="0" err="1"/>
              <a:t>fp</a:t>
            </a:r>
            <a:r>
              <a:rPr lang="ru-RU" sz="3800" dirty="0"/>
              <a:t>);</a:t>
            </a:r>
          </a:p>
          <a:p>
            <a:pPr marL="0" indent="0">
              <a:buNone/>
            </a:pPr>
            <a:r>
              <a:rPr lang="ru-RU" sz="3800" dirty="0"/>
              <a:t>        </a:t>
            </a:r>
            <a:r>
              <a:rPr lang="ru-RU" sz="3800" dirty="0" err="1"/>
              <a:t>printf</a:t>
            </a:r>
            <a:r>
              <a:rPr lang="ru-RU" sz="3800" dirty="0"/>
              <a:t>("Символ '%c' на позиции %</a:t>
            </a:r>
            <a:r>
              <a:rPr lang="ru-RU" sz="3800" dirty="0" err="1"/>
              <a:t>ld</a:t>
            </a:r>
            <a:r>
              <a:rPr lang="ru-RU" sz="3800" dirty="0"/>
              <a:t>\n", c, </a:t>
            </a:r>
            <a:r>
              <a:rPr lang="ru-RU" sz="3800" dirty="0" err="1"/>
              <a:t>pos</a:t>
            </a:r>
            <a:r>
              <a:rPr lang="ru-RU" sz="3800" dirty="0"/>
              <a:t>);</a:t>
            </a:r>
          </a:p>
          <a:p>
            <a:pPr marL="0" indent="0">
              <a:buNone/>
            </a:pPr>
            <a:r>
              <a:rPr lang="ru-RU" sz="3800" dirty="0"/>
              <a:t>    }</a:t>
            </a:r>
          </a:p>
          <a:p>
            <a:pPr marL="0" indent="0">
              <a:buNone/>
            </a:pPr>
            <a:endParaRPr lang="ru-RU" sz="3800" dirty="0"/>
          </a:p>
          <a:p>
            <a:pPr marL="0" indent="0">
              <a:buNone/>
            </a:pPr>
            <a:r>
              <a:rPr lang="ru-RU" sz="3800" dirty="0"/>
              <a:t>    </a:t>
            </a:r>
            <a:r>
              <a:rPr lang="ru-RU" sz="3800" dirty="0" err="1"/>
              <a:t>fclose</a:t>
            </a:r>
            <a:r>
              <a:rPr lang="ru-RU" sz="3800" dirty="0"/>
              <a:t>(</a:t>
            </a:r>
            <a:r>
              <a:rPr lang="ru-RU" sz="3800" dirty="0" err="1"/>
              <a:t>fp</a:t>
            </a:r>
            <a:r>
              <a:rPr lang="ru-RU" sz="3800" dirty="0"/>
              <a:t>);</a:t>
            </a:r>
          </a:p>
          <a:p>
            <a:pPr marL="0" indent="0">
              <a:buNone/>
            </a:pPr>
            <a:r>
              <a:rPr lang="ru-RU" sz="3800" dirty="0"/>
              <a:t>    return 0;</a:t>
            </a:r>
          </a:p>
          <a:p>
            <a:pPr marL="0" indent="0">
              <a:buNone/>
            </a:pPr>
            <a:r>
              <a:rPr lang="ru-RU" sz="3800" dirty="0"/>
              <a:t>}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0FF7E-D880-E84E-9AF0-7338BD971FF3}"/>
              </a:ext>
            </a:extLst>
          </p:cNvPr>
          <p:cNvSpPr txBox="1"/>
          <p:nvPr/>
        </p:nvSpPr>
        <p:spPr>
          <a:xfrm>
            <a:off x="960120" y="5913120"/>
            <a:ext cx="853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1">
                    <a:lumMod val="50000"/>
                  </a:schemeClr>
                </a:solidFill>
              </a:rPr>
              <a:t>Что показывает: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 внутри FILE хранится 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</a:rPr>
              <a:t>текущая позиция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 в файле. 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ftell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 её возвращает.</a:t>
            </a:r>
          </a:p>
        </p:txBody>
      </p:sp>
    </p:spTree>
    <p:extLst>
      <p:ext uri="{BB962C8B-B14F-4D97-AF65-F5344CB8AC3E}">
        <p14:creationId xmlns:p14="http://schemas.microsoft.com/office/powerpoint/2010/main" val="2487368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5AE39-8676-7218-18B5-3E5947E3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4. Флаги состояния: </a:t>
            </a:r>
            <a:r>
              <a:rPr lang="ru-RU" dirty="0" err="1">
                <a:effectLst/>
              </a:rPr>
              <a:t>feof</a:t>
            </a:r>
            <a:r>
              <a:rPr lang="ru-RU" dirty="0">
                <a:effectLst/>
              </a:rPr>
              <a:t> и </a:t>
            </a:r>
            <a:r>
              <a:rPr lang="ru-RU" dirty="0" err="1">
                <a:effectLst/>
              </a:rPr>
              <a:t>ferror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339E48-8ADA-3476-CB50-0B58F442C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stdio.h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main(</a:t>
            </a:r>
            <a:r>
              <a:rPr lang="ru-RU" dirty="0" err="1"/>
              <a:t>void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FILE *</a:t>
            </a:r>
            <a:r>
              <a:rPr lang="ru-RU" dirty="0" err="1"/>
              <a:t>fp</a:t>
            </a:r>
            <a:r>
              <a:rPr lang="ru-RU" dirty="0"/>
              <a:t> = </a:t>
            </a:r>
            <a:r>
              <a:rPr lang="ru-RU" dirty="0" err="1"/>
              <a:t>fopen</a:t>
            </a:r>
            <a:r>
              <a:rPr lang="ru-RU" dirty="0"/>
              <a:t>("hello.txt", "r");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(!</a:t>
            </a:r>
            <a:r>
              <a:rPr lang="ru-RU" dirty="0" err="1"/>
              <a:t>fp</a:t>
            </a:r>
            <a:r>
              <a:rPr lang="ru-RU" dirty="0"/>
              <a:t>) return 1;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while</a:t>
            </a:r>
            <a:r>
              <a:rPr lang="ru-RU" dirty="0"/>
              <a:t> (</a:t>
            </a:r>
            <a:r>
              <a:rPr lang="ru-RU" dirty="0" err="1"/>
              <a:t>fgetc</a:t>
            </a:r>
            <a:r>
              <a:rPr lang="ru-RU" dirty="0"/>
              <a:t>(</a:t>
            </a:r>
            <a:r>
              <a:rPr lang="ru-RU" dirty="0" err="1"/>
              <a:t>fp</a:t>
            </a:r>
            <a:r>
              <a:rPr lang="ru-RU" dirty="0"/>
              <a:t>) != EOF) { }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feof</a:t>
            </a:r>
            <a:r>
              <a:rPr lang="ru-RU" dirty="0"/>
              <a:t>(</a:t>
            </a:r>
            <a:r>
              <a:rPr lang="ru-RU" dirty="0" err="1"/>
              <a:t>fp</a:t>
            </a:r>
            <a:r>
              <a:rPr lang="ru-RU" dirty="0"/>
              <a:t>))   </a:t>
            </a:r>
            <a:r>
              <a:rPr lang="ru-RU" dirty="0" err="1"/>
              <a:t>printf</a:t>
            </a:r>
            <a:r>
              <a:rPr lang="ru-RU" dirty="0"/>
              <a:t>("Достигнут конец файла\n");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ferror</a:t>
            </a:r>
            <a:r>
              <a:rPr lang="ru-RU" dirty="0"/>
              <a:t>(</a:t>
            </a:r>
            <a:r>
              <a:rPr lang="ru-RU" dirty="0" err="1"/>
              <a:t>fp</a:t>
            </a:r>
            <a:r>
              <a:rPr lang="ru-RU" dirty="0"/>
              <a:t>)) </a:t>
            </a:r>
            <a:r>
              <a:rPr lang="ru-RU" dirty="0" err="1"/>
              <a:t>printf</a:t>
            </a:r>
            <a:r>
              <a:rPr lang="ru-RU" dirty="0"/>
              <a:t>("Произошла ошибка\n");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fclose</a:t>
            </a:r>
            <a:r>
              <a:rPr lang="ru-RU" dirty="0"/>
              <a:t>(</a:t>
            </a:r>
            <a:r>
              <a:rPr lang="ru-RU" dirty="0" err="1"/>
              <a:t>fp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return 0;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b="1" dirty="0"/>
              <a:t>Что показывает:</a:t>
            </a:r>
            <a:r>
              <a:rPr lang="ru-RU" dirty="0"/>
              <a:t> в FILE есть </a:t>
            </a:r>
            <a:r>
              <a:rPr lang="ru-RU" b="1" dirty="0"/>
              <a:t>флаги состояния</a:t>
            </a:r>
            <a:r>
              <a:rPr lang="ru-RU" dirty="0"/>
              <a:t> — EOF и </a:t>
            </a:r>
            <a:r>
              <a:rPr lang="ru-RU" dirty="0" err="1"/>
              <a:t>error</a:t>
            </a:r>
            <a:r>
              <a:rPr lang="ru-RU" dirty="0"/>
              <a:t>. Их проверяют через </a:t>
            </a:r>
            <a:r>
              <a:rPr lang="ru-RU" dirty="0" err="1"/>
              <a:t>feof</a:t>
            </a:r>
            <a:r>
              <a:rPr lang="ru-RU" dirty="0"/>
              <a:t> и </a:t>
            </a:r>
            <a:r>
              <a:rPr lang="ru-RU" dirty="0" err="1"/>
              <a:t>ferror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569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ECC70-469F-EBA0-C86D-94CD7247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5. Сброс буфера через </a:t>
            </a:r>
            <a:r>
              <a:rPr lang="ru-RU" dirty="0" err="1">
                <a:effectLst/>
              </a:rPr>
              <a:t>fflush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379843-E1A0-644C-3781-6B145447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stdio.h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main(</a:t>
            </a:r>
            <a:r>
              <a:rPr lang="ru-RU" dirty="0" err="1"/>
              <a:t>void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FILE *</a:t>
            </a:r>
            <a:r>
              <a:rPr lang="ru-RU" dirty="0" err="1"/>
              <a:t>fp</a:t>
            </a:r>
            <a:r>
              <a:rPr lang="ru-RU" dirty="0"/>
              <a:t> = </a:t>
            </a:r>
            <a:r>
              <a:rPr lang="ru-RU" dirty="0" err="1"/>
              <a:t>fopen</a:t>
            </a:r>
            <a:r>
              <a:rPr lang="ru-RU" dirty="0"/>
              <a:t>("out.txt", "w");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(!</a:t>
            </a:r>
            <a:r>
              <a:rPr lang="ru-RU" dirty="0" err="1"/>
              <a:t>fp</a:t>
            </a:r>
            <a:r>
              <a:rPr lang="ru-RU" dirty="0"/>
              <a:t>) return 1;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fputs</a:t>
            </a:r>
            <a:r>
              <a:rPr lang="ru-RU" dirty="0"/>
              <a:t>("Данные в буфере", </a:t>
            </a:r>
            <a:r>
              <a:rPr lang="ru-RU" dirty="0" err="1"/>
              <a:t>fp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fflush</a:t>
            </a:r>
            <a:r>
              <a:rPr lang="ru-RU" dirty="0"/>
              <a:t>(</a:t>
            </a:r>
            <a:r>
              <a:rPr lang="ru-RU" dirty="0" err="1"/>
              <a:t>fp</a:t>
            </a:r>
            <a:r>
              <a:rPr lang="ru-RU" dirty="0"/>
              <a:t>);   // сброс буфера на диск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("Буфер сброшен\n");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fclose</a:t>
            </a:r>
            <a:r>
              <a:rPr lang="ru-RU" dirty="0"/>
              <a:t>(</a:t>
            </a:r>
            <a:r>
              <a:rPr lang="ru-RU" dirty="0" err="1"/>
              <a:t>fp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return 0;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b="1" dirty="0"/>
              <a:t>Что показывает:</a:t>
            </a:r>
            <a:r>
              <a:rPr lang="ru-RU" dirty="0"/>
              <a:t> FILE содержит </a:t>
            </a:r>
            <a:r>
              <a:rPr lang="ru-RU" b="1" dirty="0"/>
              <a:t>буфер</a:t>
            </a:r>
            <a:r>
              <a:rPr lang="ru-RU" dirty="0"/>
              <a:t>. </a:t>
            </a:r>
            <a:r>
              <a:rPr lang="ru-RU" dirty="0" err="1"/>
              <a:t>fflush</a:t>
            </a:r>
            <a:r>
              <a:rPr lang="ru-RU" dirty="0"/>
              <a:t> принудительно записывает его содержимое на диск.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3915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C76-311C-A4B3-971D-CA5228E2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6. Буферизация: </a:t>
            </a:r>
            <a:r>
              <a:rPr lang="ru-RU" dirty="0" err="1">
                <a:effectLst/>
              </a:rPr>
              <a:t>setvbuf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070C6A-267B-0B5C-B27F-D7CB4234C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stdio.h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 err="1"/>
              <a:t>int</a:t>
            </a:r>
            <a:r>
              <a:rPr lang="ru-RU" sz="1600" dirty="0"/>
              <a:t> main(</a:t>
            </a:r>
            <a:r>
              <a:rPr lang="ru-RU" sz="1600" dirty="0" err="1"/>
              <a:t>void</a:t>
            </a:r>
            <a:r>
              <a:rPr lang="ru-RU" sz="1600" dirty="0"/>
              <a:t>) {</a:t>
            </a:r>
          </a:p>
          <a:p>
            <a:pPr marL="0" indent="0">
              <a:buNone/>
            </a:pPr>
            <a:r>
              <a:rPr lang="ru-RU" sz="1600" dirty="0"/>
              <a:t>    FILE *</a:t>
            </a:r>
            <a:r>
              <a:rPr lang="ru-RU" sz="1600" dirty="0" err="1"/>
              <a:t>fp</a:t>
            </a:r>
            <a:r>
              <a:rPr lang="ru-RU" sz="1600" dirty="0"/>
              <a:t> = </a:t>
            </a:r>
            <a:r>
              <a:rPr lang="ru-RU" sz="1600" dirty="0" err="1"/>
              <a:t>fopen</a:t>
            </a:r>
            <a:r>
              <a:rPr lang="ru-RU" sz="1600" dirty="0"/>
              <a:t>("out.txt", "w");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if</a:t>
            </a:r>
            <a:r>
              <a:rPr lang="ru-RU" sz="1600" dirty="0"/>
              <a:t> (!</a:t>
            </a:r>
            <a:r>
              <a:rPr lang="ru-RU" sz="1600" dirty="0" err="1"/>
              <a:t>fp</a:t>
            </a:r>
            <a:r>
              <a:rPr lang="ru-RU" sz="1600" dirty="0"/>
              <a:t>) return 1;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char</a:t>
            </a:r>
            <a:r>
              <a:rPr lang="ru-RU" sz="1600" dirty="0"/>
              <a:t> </a:t>
            </a:r>
            <a:r>
              <a:rPr lang="ru-RU" sz="1600" dirty="0" err="1"/>
              <a:t>buf</a:t>
            </a:r>
            <a:r>
              <a:rPr lang="ru-RU" sz="1600" dirty="0"/>
              <a:t>[1024];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setvbuf</a:t>
            </a:r>
            <a:r>
              <a:rPr lang="ru-RU" sz="1600" dirty="0"/>
              <a:t>(</a:t>
            </a:r>
            <a:r>
              <a:rPr lang="ru-RU" sz="1600" dirty="0" err="1"/>
              <a:t>fp</a:t>
            </a:r>
            <a:r>
              <a:rPr lang="ru-RU" sz="1600" dirty="0"/>
              <a:t>, </a:t>
            </a:r>
            <a:r>
              <a:rPr lang="ru-RU" sz="1600" dirty="0" err="1"/>
              <a:t>buf</a:t>
            </a:r>
            <a:r>
              <a:rPr lang="ru-RU" sz="1600" dirty="0"/>
              <a:t>, _IOFBF, </a:t>
            </a:r>
            <a:r>
              <a:rPr lang="ru-RU" sz="1600" dirty="0" err="1"/>
              <a:t>sizeof</a:t>
            </a:r>
            <a:r>
              <a:rPr lang="ru-RU" sz="1600" dirty="0"/>
              <a:t>(</a:t>
            </a:r>
            <a:r>
              <a:rPr lang="ru-RU" sz="1600" dirty="0" err="1"/>
              <a:t>buf</a:t>
            </a:r>
            <a:r>
              <a:rPr lang="ru-RU" sz="1600" dirty="0"/>
              <a:t>));   // полная буферизация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fputs</a:t>
            </a:r>
            <a:r>
              <a:rPr lang="ru-RU" sz="1600" dirty="0"/>
              <a:t>("Данные", </a:t>
            </a:r>
            <a:r>
              <a:rPr lang="ru-RU" sz="1600" dirty="0" err="1"/>
              <a:t>fp</a:t>
            </a:r>
            <a:r>
              <a:rPr lang="ru-RU" sz="1600" dirty="0"/>
              <a:t>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fclose</a:t>
            </a:r>
            <a:r>
              <a:rPr lang="ru-RU" sz="1600" dirty="0"/>
              <a:t>(</a:t>
            </a:r>
            <a:r>
              <a:rPr lang="ru-RU" sz="1600" dirty="0" err="1"/>
              <a:t>fp</a:t>
            </a:r>
            <a:r>
              <a:rPr lang="ru-RU" sz="1600" dirty="0"/>
              <a:t>);</a:t>
            </a:r>
          </a:p>
          <a:p>
            <a:pPr marL="0" indent="0">
              <a:buNone/>
            </a:pPr>
            <a:r>
              <a:rPr lang="ru-RU" sz="1600" dirty="0"/>
              <a:t>    return 0;</a:t>
            </a:r>
          </a:p>
          <a:p>
            <a:pPr marL="0" indent="0">
              <a:buNone/>
            </a:pPr>
            <a:r>
              <a:rPr lang="ru-RU" sz="1600" dirty="0"/>
              <a:t>}</a:t>
            </a:r>
          </a:p>
          <a:p>
            <a:pPr marL="0" indent="0">
              <a:buNone/>
            </a:pPr>
            <a:r>
              <a:rPr lang="ru-RU" sz="1600" b="1" dirty="0"/>
              <a:t>Что показывает:</a:t>
            </a:r>
            <a:r>
              <a:rPr lang="ru-RU" sz="1600" dirty="0"/>
              <a:t> можно </a:t>
            </a:r>
            <a:r>
              <a:rPr lang="ru-RU" sz="1600" b="1" dirty="0"/>
              <a:t>управлять буфером</a:t>
            </a:r>
            <a:r>
              <a:rPr lang="ru-RU" sz="1600" dirty="0"/>
              <a:t> FILE через </a:t>
            </a:r>
            <a:r>
              <a:rPr lang="ru-RU" sz="1600" dirty="0" err="1"/>
              <a:t>setvbuf</a:t>
            </a:r>
            <a:r>
              <a:rPr lang="ru-RU" sz="1600" dirty="0"/>
              <a:t>. Режимы:</a:t>
            </a:r>
          </a:p>
          <a:p>
            <a:pPr marL="0" lvl="0" indent="0">
              <a:buNone/>
            </a:pPr>
            <a:r>
              <a:rPr lang="ru-RU" sz="1600" dirty="0"/>
              <a:t>_IOFBF — полная буферизация.</a:t>
            </a:r>
          </a:p>
          <a:p>
            <a:pPr marL="0" lvl="0" indent="0">
              <a:buNone/>
            </a:pPr>
            <a:r>
              <a:rPr lang="ru-RU" sz="1600" dirty="0"/>
              <a:t>_IOLBF — построчная.</a:t>
            </a:r>
          </a:p>
          <a:p>
            <a:pPr marL="0" lvl="0" indent="0">
              <a:buNone/>
            </a:pPr>
            <a:r>
              <a:rPr lang="ru-RU" sz="1600" dirty="0"/>
              <a:t>_IONBF — без буферизации.</a:t>
            </a: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022174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4138F-8163-8541-F1DB-0212F4397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7. Временный файл через </a:t>
            </a:r>
            <a:r>
              <a:rPr lang="ru-RU" dirty="0" err="1">
                <a:effectLst/>
              </a:rPr>
              <a:t>tmpfile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38760-58AE-64A0-DB0B-5248B47FC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stdio.h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 err="1"/>
              <a:t>int</a:t>
            </a:r>
            <a:r>
              <a:rPr lang="ru-RU" sz="1600" dirty="0"/>
              <a:t> main(</a:t>
            </a:r>
            <a:r>
              <a:rPr lang="ru-RU" sz="1600" dirty="0" err="1"/>
              <a:t>void</a:t>
            </a:r>
            <a:r>
              <a:rPr lang="ru-RU" sz="1600" dirty="0"/>
              <a:t>) {</a:t>
            </a:r>
          </a:p>
          <a:p>
            <a:pPr marL="0" indent="0">
              <a:buNone/>
            </a:pPr>
            <a:r>
              <a:rPr lang="ru-RU" sz="1600" dirty="0"/>
              <a:t>    FILE *</a:t>
            </a:r>
            <a:r>
              <a:rPr lang="ru-RU" sz="1600" dirty="0" err="1"/>
              <a:t>fp</a:t>
            </a:r>
            <a:r>
              <a:rPr lang="ru-RU" sz="1600" dirty="0"/>
              <a:t> = </a:t>
            </a:r>
            <a:r>
              <a:rPr lang="ru-RU" sz="1600" dirty="0" err="1"/>
              <a:t>tmpfile</a:t>
            </a:r>
            <a:r>
              <a:rPr lang="ru-RU" sz="1600" dirty="0"/>
              <a:t>();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if</a:t>
            </a:r>
            <a:r>
              <a:rPr lang="ru-RU" sz="1600" dirty="0"/>
              <a:t> (!</a:t>
            </a:r>
            <a:r>
              <a:rPr lang="ru-RU" sz="1600" dirty="0" err="1"/>
              <a:t>fp</a:t>
            </a:r>
            <a:r>
              <a:rPr lang="ru-RU" sz="1600" dirty="0"/>
              <a:t>) return 1;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fputs</a:t>
            </a:r>
            <a:r>
              <a:rPr lang="ru-RU" sz="1600" dirty="0"/>
              <a:t>("Временные данные", </a:t>
            </a:r>
            <a:r>
              <a:rPr lang="ru-RU" sz="1600" dirty="0" err="1"/>
              <a:t>fp</a:t>
            </a:r>
            <a:r>
              <a:rPr lang="ru-RU" sz="1600" dirty="0"/>
              <a:t>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rewind</a:t>
            </a:r>
            <a:r>
              <a:rPr lang="ru-RU" sz="1600" dirty="0"/>
              <a:t>(</a:t>
            </a:r>
            <a:r>
              <a:rPr lang="ru-RU" sz="1600" dirty="0" err="1"/>
              <a:t>fp</a:t>
            </a:r>
            <a:r>
              <a:rPr lang="ru-RU" sz="1600" dirty="0"/>
              <a:t>);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char</a:t>
            </a:r>
            <a:r>
              <a:rPr lang="ru-RU" sz="1600" dirty="0"/>
              <a:t> </a:t>
            </a:r>
            <a:r>
              <a:rPr lang="ru-RU" sz="1600" dirty="0" err="1"/>
              <a:t>buf</a:t>
            </a:r>
            <a:r>
              <a:rPr lang="ru-RU" sz="1600" dirty="0"/>
              <a:t>[100];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fgets</a:t>
            </a:r>
            <a:r>
              <a:rPr lang="ru-RU" sz="1600" dirty="0"/>
              <a:t>(</a:t>
            </a:r>
            <a:r>
              <a:rPr lang="ru-RU" sz="1600" dirty="0" err="1"/>
              <a:t>buf</a:t>
            </a:r>
            <a:r>
              <a:rPr lang="ru-RU" sz="1600" dirty="0"/>
              <a:t>, </a:t>
            </a:r>
            <a:r>
              <a:rPr lang="ru-RU" sz="1600" dirty="0" err="1"/>
              <a:t>sizeof</a:t>
            </a:r>
            <a:r>
              <a:rPr lang="ru-RU" sz="1600" dirty="0"/>
              <a:t>(</a:t>
            </a:r>
            <a:r>
              <a:rPr lang="ru-RU" sz="1600" dirty="0" err="1"/>
              <a:t>buf</a:t>
            </a:r>
            <a:r>
              <a:rPr lang="ru-RU" sz="1600" dirty="0"/>
              <a:t>), </a:t>
            </a:r>
            <a:r>
              <a:rPr lang="ru-RU" sz="1600" dirty="0" err="1"/>
              <a:t>fp</a:t>
            </a:r>
            <a:r>
              <a:rPr lang="ru-RU" sz="1600" dirty="0"/>
              <a:t>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printf</a:t>
            </a:r>
            <a:r>
              <a:rPr lang="ru-RU" sz="1600" dirty="0"/>
              <a:t>("Прочитано: %s\n", </a:t>
            </a:r>
            <a:r>
              <a:rPr lang="ru-RU" sz="1600" dirty="0" err="1"/>
              <a:t>buf</a:t>
            </a:r>
            <a:r>
              <a:rPr lang="ru-RU" sz="1600" dirty="0"/>
              <a:t>);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fclose</a:t>
            </a:r>
            <a:r>
              <a:rPr lang="ru-RU" sz="1600" dirty="0"/>
              <a:t>(</a:t>
            </a:r>
            <a:r>
              <a:rPr lang="ru-RU" sz="1600" dirty="0" err="1"/>
              <a:t>fp</a:t>
            </a:r>
            <a:r>
              <a:rPr lang="ru-RU" sz="1600" dirty="0"/>
              <a:t>);   // файл автоматически удаляется</a:t>
            </a:r>
          </a:p>
          <a:p>
            <a:pPr marL="0" indent="0">
              <a:buNone/>
            </a:pPr>
            <a:r>
              <a:rPr lang="ru-RU" sz="1600" dirty="0"/>
              <a:t>    return 0;</a:t>
            </a:r>
          </a:p>
          <a:p>
            <a:pPr marL="0" indent="0">
              <a:buNone/>
            </a:pPr>
            <a:r>
              <a:rPr lang="ru-RU" sz="1600" dirty="0"/>
              <a:t>}</a:t>
            </a:r>
          </a:p>
          <a:p>
            <a:pPr marL="0" indent="0">
              <a:buNone/>
            </a:pPr>
            <a:r>
              <a:rPr lang="ru-RU" sz="1600" b="1" dirty="0"/>
              <a:t>Что показывает:</a:t>
            </a:r>
            <a:r>
              <a:rPr lang="ru-RU" sz="1600" dirty="0"/>
              <a:t> </a:t>
            </a:r>
            <a:r>
              <a:rPr lang="ru-RU" sz="1600" dirty="0" err="1"/>
              <a:t>tmpfile</a:t>
            </a:r>
            <a:r>
              <a:rPr lang="ru-RU" sz="1600" dirty="0"/>
              <a:t> создаёт </a:t>
            </a:r>
            <a:r>
              <a:rPr lang="ru-RU" sz="1600" b="1" dirty="0"/>
              <a:t>временный файл</a:t>
            </a:r>
            <a:r>
              <a:rPr lang="ru-RU" sz="1600" dirty="0"/>
              <a:t>, который автоматически удаляется при закрытии. Структура FILE хранит его дескриптор.</a:t>
            </a: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19050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0692AD-75E3-E00A-1847-F6371B66197D}"/>
              </a:ext>
            </a:extLst>
          </p:cNvPr>
          <p:cNvSpPr txBox="1"/>
          <p:nvPr/>
        </p:nvSpPr>
        <p:spPr>
          <a:xfrm>
            <a:off x="487680" y="1234440"/>
            <a:ext cx="86563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sz="6600" b="1" i="0" dirty="0">
                <a:solidFill>
                  <a:schemeClr val="tx2">
                    <a:lumMod val="75000"/>
                  </a:schemeClr>
                </a:solidFill>
                <a:effectLst/>
                <a:latin typeface="+mn-lt"/>
              </a:rPr>
              <a:t>Часть 2. Файловый дескриптор (примеры 8–12)</a:t>
            </a:r>
            <a:endParaRPr lang="ru-RU" sz="6600" b="1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600542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34F38-1F54-8D38-D677-D880FE31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Пример 8. Получение дескриптора из FILE через </a:t>
            </a:r>
            <a:r>
              <a:rPr lang="ru-RU" dirty="0" err="1">
                <a:effectLst/>
              </a:rPr>
              <a:t>fileno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B2E198-8F8A-2D86-6DFF-925650902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#include &lt;</a:t>
            </a:r>
            <a:r>
              <a:rPr lang="ru-RU" sz="2000" dirty="0" err="1"/>
              <a:t>stdio.h</a:t>
            </a:r>
            <a:r>
              <a:rPr lang="ru-RU" sz="2000" dirty="0"/>
              <a:t>&gt;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 err="1"/>
              <a:t>int</a:t>
            </a:r>
            <a:r>
              <a:rPr lang="ru-RU" sz="2000" dirty="0"/>
              <a:t> main(</a:t>
            </a:r>
            <a:r>
              <a:rPr lang="ru-RU" sz="2000" dirty="0" err="1"/>
              <a:t>void</a:t>
            </a:r>
            <a:r>
              <a:rPr lang="ru-RU" sz="2000" dirty="0"/>
              <a:t>) {</a:t>
            </a:r>
          </a:p>
          <a:p>
            <a:pPr marL="0" indent="0">
              <a:buNone/>
            </a:pPr>
            <a:r>
              <a:rPr lang="ru-RU" sz="2000" dirty="0"/>
              <a:t>    FILE *</a:t>
            </a:r>
            <a:r>
              <a:rPr lang="ru-RU" sz="2000" dirty="0" err="1"/>
              <a:t>fp</a:t>
            </a:r>
            <a:r>
              <a:rPr lang="ru-RU" sz="2000" dirty="0"/>
              <a:t> = </a:t>
            </a:r>
            <a:r>
              <a:rPr lang="ru-RU" sz="2000" dirty="0" err="1"/>
              <a:t>fopen</a:t>
            </a:r>
            <a:r>
              <a:rPr lang="ru-RU" sz="2000" dirty="0"/>
              <a:t>("hello.txt", "r");</a:t>
            </a:r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ru-RU" sz="2000" dirty="0" err="1"/>
              <a:t>if</a:t>
            </a:r>
            <a:r>
              <a:rPr lang="ru-RU" sz="2000" dirty="0"/>
              <a:t> (!</a:t>
            </a:r>
            <a:r>
              <a:rPr lang="ru-RU" sz="2000" dirty="0" err="1"/>
              <a:t>fp</a:t>
            </a:r>
            <a:r>
              <a:rPr lang="ru-RU" sz="2000" dirty="0"/>
              <a:t>) return 1;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ru-RU" sz="2000" dirty="0" err="1"/>
              <a:t>int</a:t>
            </a:r>
            <a:r>
              <a:rPr lang="ru-RU" sz="2000" dirty="0"/>
              <a:t> </a:t>
            </a:r>
            <a:r>
              <a:rPr lang="ru-RU" sz="2000" dirty="0" err="1"/>
              <a:t>fd</a:t>
            </a:r>
            <a:r>
              <a:rPr lang="ru-RU" sz="2000" dirty="0"/>
              <a:t> = </a:t>
            </a:r>
            <a:r>
              <a:rPr lang="ru-RU" sz="2000" dirty="0" err="1"/>
              <a:t>fileno</a:t>
            </a:r>
            <a:r>
              <a:rPr lang="ru-RU" sz="2000" dirty="0"/>
              <a:t>(</a:t>
            </a:r>
            <a:r>
              <a:rPr lang="ru-RU" sz="2000" dirty="0" err="1"/>
              <a:t>fp</a:t>
            </a:r>
            <a:r>
              <a:rPr lang="ru-RU" sz="2000" dirty="0"/>
              <a:t>);</a:t>
            </a:r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ru-RU" sz="2000" dirty="0" err="1"/>
              <a:t>printf</a:t>
            </a:r>
            <a:r>
              <a:rPr lang="ru-RU" sz="2000" dirty="0"/>
              <a:t>("Файловый дескриптор: %d\n", </a:t>
            </a:r>
            <a:r>
              <a:rPr lang="ru-RU" sz="2000" dirty="0" err="1"/>
              <a:t>fd</a:t>
            </a:r>
            <a:r>
              <a:rPr lang="ru-RU" sz="2000" dirty="0"/>
              <a:t>);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ru-RU" sz="2000" dirty="0" err="1"/>
              <a:t>fclose</a:t>
            </a:r>
            <a:r>
              <a:rPr lang="ru-RU" sz="2000" dirty="0"/>
              <a:t>(</a:t>
            </a:r>
            <a:r>
              <a:rPr lang="ru-RU" sz="2000" dirty="0" err="1"/>
              <a:t>fp</a:t>
            </a:r>
            <a:r>
              <a:rPr lang="ru-RU" sz="2000" dirty="0"/>
              <a:t>);</a:t>
            </a:r>
          </a:p>
          <a:p>
            <a:pPr marL="0" indent="0">
              <a:buNone/>
            </a:pPr>
            <a:r>
              <a:rPr lang="ru-RU" sz="2000" dirty="0"/>
              <a:t>    return 0;</a:t>
            </a:r>
          </a:p>
          <a:p>
            <a:pPr marL="0" indent="0">
              <a:buNone/>
            </a:pPr>
            <a:r>
              <a:rPr lang="ru-RU" sz="2000" dirty="0"/>
              <a:t>}</a:t>
            </a:r>
          </a:p>
          <a:p>
            <a:pPr marL="0" indent="0">
              <a:buNone/>
            </a:pPr>
            <a:r>
              <a:rPr lang="ru-RU" sz="2000" b="1" dirty="0"/>
              <a:t>Что показывает:</a:t>
            </a:r>
            <a:r>
              <a:rPr lang="ru-RU" sz="2000" dirty="0"/>
              <a:t> внутри FILE хранится </a:t>
            </a:r>
            <a:r>
              <a:rPr lang="ru-RU" sz="2000" b="1" dirty="0"/>
              <a:t>файловый дескриптор</a:t>
            </a:r>
            <a:r>
              <a:rPr lang="ru-RU" sz="2000" dirty="0"/>
              <a:t> (</a:t>
            </a:r>
            <a:r>
              <a:rPr lang="ru-RU" sz="2000" dirty="0" err="1"/>
              <a:t>int</a:t>
            </a:r>
            <a:r>
              <a:rPr lang="ru-RU" sz="2000" dirty="0"/>
              <a:t>). </a:t>
            </a:r>
            <a:r>
              <a:rPr lang="ru-RU" sz="2000" dirty="0" err="1"/>
              <a:t>fileno</a:t>
            </a:r>
            <a:r>
              <a:rPr lang="ru-RU" sz="2000" dirty="0"/>
              <a:t> его возвращает.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43882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DE06A-BA5B-BB40-8668-BBC383AF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9. Стандартные дескрипторы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F8FE2-0851-F9C7-EA24-7A607E8B9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stdio.h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main(</a:t>
            </a:r>
            <a:r>
              <a:rPr lang="ru-RU" dirty="0" err="1"/>
              <a:t>void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</a:t>
            </a:r>
            <a:r>
              <a:rPr lang="ru-RU" dirty="0" err="1"/>
              <a:t>stdin</a:t>
            </a:r>
            <a:r>
              <a:rPr lang="ru-RU" dirty="0"/>
              <a:t>:  </a:t>
            </a:r>
            <a:r>
              <a:rPr lang="ru-RU" dirty="0" err="1"/>
              <a:t>fd</a:t>
            </a:r>
            <a:r>
              <a:rPr lang="ru-RU" dirty="0"/>
              <a:t> = %d\n", </a:t>
            </a:r>
            <a:r>
              <a:rPr lang="ru-RU" dirty="0" err="1"/>
              <a:t>fileno</a:t>
            </a:r>
            <a:r>
              <a:rPr lang="ru-RU" dirty="0"/>
              <a:t>(</a:t>
            </a:r>
            <a:r>
              <a:rPr lang="ru-RU" dirty="0" err="1"/>
              <a:t>stdin</a:t>
            </a:r>
            <a:r>
              <a:rPr lang="ru-RU" dirty="0"/>
              <a:t>));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</a:t>
            </a:r>
            <a:r>
              <a:rPr lang="ru-RU" dirty="0" err="1"/>
              <a:t>stdout</a:t>
            </a:r>
            <a:r>
              <a:rPr lang="ru-RU" dirty="0"/>
              <a:t>: </a:t>
            </a:r>
            <a:r>
              <a:rPr lang="ru-RU" dirty="0" err="1"/>
              <a:t>fd</a:t>
            </a:r>
            <a:r>
              <a:rPr lang="ru-RU" dirty="0"/>
              <a:t> = %d\n", </a:t>
            </a:r>
            <a:r>
              <a:rPr lang="ru-RU" dirty="0" err="1"/>
              <a:t>fileno</a:t>
            </a:r>
            <a:r>
              <a:rPr lang="ru-RU" dirty="0"/>
              <a:t>(</a:t>
            </a:r>
            <a:r>
              <a:rPr lang="ru-RU" dirty="0" err="1"/>
              <a:t>stdout</a:t>
            </a:r>
            <a:r>
              <a:rPr lang="ru-RU" dirty="0"/>
              <a:t>));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</a:t>
            </a:r>
            <a:r>
              <a:rPr lang="ru-RU" dirty="0" err="1"/>
              <a:t>stderr</a:t>
            </a:r>
            <a:r>
              <a:rPr lang="ru-RU" dirty="0"/>
              <a:t>: </a:t>
            </a:r>
            <a:r>
              <a:rPr lang="ru-RU" dirty="0" err="1"/>
              <a:t>fd</a:t>
            </a:r>
            <a:r>
              <a:rPr lang="ru-RU" dirty="0"/>
              <a:t> = %d\n", </a:t>
            </a:r>
            <a:r>
              <a:rPr lang="ru-RU" dirty="0" err="1"/>
              <a:t>fileno</a:t>
            </a:r>
            <a:r>
              <a:rPr lang="ru-RU" dirty="0"/>
              <a:t>(</a:t>
            </a:r>
            <a:r>
              <a:rPr lang="ru-RU" dirty="0" err="1"/>
              <a:t>stderr</a:t>
            </a:r>
            <a:r>
              <a:rPr lang="ru-RU" dirty="0"/>
              <a:t>));</a:t>
            </a:r>
          </a:p>
          <a:p>
            <a:pPr marL="0" indent="0">
              <a:buNone/>
            </a:pPr>
            <a:r>
              <a:rPr lang="ru-RU" dirty="0"/>
              <a:t>    return 0;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b="1" dirty="0"/>
              <a:t>Что показывает:</a:t>
            </a:r>
            <a:r>
              <a:rPr lang="ru-RU" dirty="0"/>
              <a:t> по умолчанию открыты </a:t>
            </a:r>
            <a:r>
              <a:rPr lang="ru-RU" b="1" dirty="0"/>
              <a:t>три дескриптора</a:t>
            </a:r>
            <a:r>
              <a:rPr lang="ru-RU" dirty="0"/>
              <a:t>:</a:t>
            </a:r>
          </a:p>
          <a:p>
            <a:pPr marL="0" lvl="0" indent="0">
              <a:buNone/>
            </a:pPr>
            <a:r>
              <a:rPr lang="ru-RU" dirty="0"/>
              <a:t>0 — </a:t>
            </a:r>
            <a:r>
              <a:rPr lang="ru-RU" dirty="0" err="1"/>
              <a:t>stdin</a:t>
            </a:r>
            <a:r>
              <a:rPr lang="ru-RU" dirty="0"/>
              <a:t>,</a:t>
            </a:r>
          </a:p>
          <a:p>
            <a:pPr marL="0" lvl="0" indent="0">
              <a:buNone/>
            </a:pPr>
            <a:r>
              <a:rPr lang="ru-RU" dirty="0"/>
              <a:t>1 — </a:t>
            </a:r>
            <a:r>
              <a:rPr lang="ru-RU" dirty="0" err="1"/>
              <a:t>stdout</a:t>
            </a:r>
            <a:r>
              <a:rPr lang="ru-RU" dirty="0"/>
              <a:t>,</a:t>
            </a:r>
          </a:p>
          <a:p>
            <a:pPr marL="0" lvl="0" indent="0">
              <a:buNone/>
            </a:pPr>
            <a:r>
              <a:rPr lang="ru-RU" dirty="0"/>
              <a:t>2 — </a:t>
            </a:r>
            <a:r>
              <a:rPr lang="ru-RU" dirty="0" err="1"/>
              <a:t>stderr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594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BE57E-72A9-AEE8-B26F-E90D492A7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Пример 10. Дескриптор через </a:t>
            </a:r>
            <a:r>
              <a:rPr lang="ru-RU" dirty="0" err="1">
                <a:effectLst/>
              </a:rPr>
              <a:t>open</a:t>
            </a:r>
            <a:r>
              <a:rPr lang="ru-RU" dirty="0">
                <a:effectLst/>
              </a:rPr>
              <a:t> (системный вызов)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FC62AC-699E-2646-22CD-F73ECA18D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fcntl.h</a:t>
            </a:r>
            <a:r>
              <a:rPr lang="ru-RU" dirty="0"/>
              <a:t>&gt;</a:t>
            </a:r>
          </a:p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unistd.h</a:t>
            </a:r>
            <a:r>
              <a:rPr lang="ru-RU" dirty="0"/>
              <a:t>&gt;</a:t>
            </a:r>
          </a:p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stdio.h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main(</a:t>
            </a:r>
            <a:r>
              <a:rPr lang="ru-RU" dirty="0" err="1"/>
              <a:t>void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fd</a:t>
            </a:r>
            <a:r>
              <a:rPr lang="ru-RU" dirty="0"/>
              <a:t> = </a:t>
            </a:r>
            <a:r>
              <a:rPr lang="ru-RU" dirty="0" err="1"/>
              <a:t>open</a:t>
            </a:r>
            <a:r>
              <a:rPr lang="ru-RU" dirty="0"/>
              <a:t>("hello.txt", O_RDONLY);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fd</a:t>
            </a:r>
            <a:r>
              <a:rPr lang="ru-RU" dirty="0"/>
              <a:t> == -1) {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ru-RU" dirty="0" err="1"/>
              <a:t>perror</a:t>
            </a:r>
            <a:r>
              <a:rPr lang="ru-RU" dirty="0"/>
              <a:t>("</a:t>
            </a:r>
            <a:r>
              <a:rPr lang="ru-RU" dirty="0" err="1"/>
              <a:t>open</a:t>
            </a:r>
            <a:r>
              <a:rPr lang="ru-RU" dirty="0"/>
              <a:t>");</a:t>
            </a:r>
          </a:p>
          <a:p>
            <a:pPr marL="0" indent="0">
              <a:buNone/>
            </a:pPr>
            <a:r>
              <a:rPr lang="ru-RU" dirty="0"/>
              <a:t>        return 1;</a:t>
            </a:r>
          </a:p>
          <a:p>
            <a:pPr marL="0" indent="0">
              <a:buNone/>
            </a:pPr>
            <a:r>
              <a:rPr lang="ru-RU" dirty="0"/>
              <a:t>    }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("Дескриптор: %d\n", </a:t>
            </a:r>
            <a:r>
              <a:rPr lang="ru-RU" dirty="0" err="1"/>
              <a:t>fd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close</a:t>
            </a:r>
            <a:r>
              <a:rPr lang="ru-RU" dirty="0"/>
              <a:t>(</a:t>
            </a:r>
            <a:r>
              <a:rPr lang="ru-RU" dirty="0" err="1"/>
              <a:t>fd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return 0;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b="1" dirty="0"/>
              <a:t>Что показывает:</a:t>
            </a:r>
            <a:r>
              <a:rPr lang="ru-RU" dirty="0"/>
              <a:t> системный вызов </a:t>
            </a:r>
            <a:r>
              <a:rPr lang="ru-RU" dirty="0" err="1"/>
              <a:t>open</a:t>
            </a:r>
            <a:r>
              <a:rPr lang="ru-RU" dirty="0"/>
              <a:t> возвращает </a:t>
            </a:r>
            <a:r>
              <a:rPr lang="ru-RU" b="1" dirty="0"/>
              <a:t>дескриптор</a:t>
            </a:r>
            <a:r>
              <a:rPr lang="ru-RU" dirty="0"/>
              <a:t> — целое число, индекс в таблице открытых файлов процесса.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9185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8A18D-9570-5615-45B2-AA4D57E2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Пример 11. Обёртка FILE вокруг дескриптора через </a:t>
            </a:r>
            <a:r>
              <a:rPr lang="ru-RU" dirty="0" err="1">
                <a:effectLst/>
              </a:rPr>
              <a:t>fdopen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F8A390-B412-46CA-97C6-E7DC8135E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fcntl.h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unistd.h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stdio.h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 err="1"/>
              <a:t>int</a:t>
            </a:r>
            <a:r>
              <a:rPr lang="ru-RU" sz="1600" dirty="0"/>
              <a:t> main(</a:t>
            </a:r>
            <a:r>
              <a:rPr lang="ru-RU" sz="1600" dirty="0" err="1"/>
              <a:t>void</a:t>
            </a:r>
            <a:r>
              <a:rPr lang="ru-RU" sz="1600" dirty="0"/>
              <a:t>) {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int</a:t>
            </a:r>
            <a:r>
              <a:rPr lang="ru-RU" sz="1600" dirty="0"/>
              <a:t> </a:t>
            </a:r>
            <a:r>
              <a:rPr lang="ru-RU" sz="1600" dirty="0" err="1"/>
              <a:t>fd</a:t>
            </a:r>
            <a:r>
              <a:rPr lang="ru-RU" sz="1600" dirty="0"/>
              <a:t> = </a:t>
            </a:r>
            <a:r>
              <a:rPr lang="ru-RU" sz="1600" dirty="0" err="1"/>
              <a:t>open</a:t>
            </a:r>
            <a:r>
              <a:rPr lang="ru-RU" sz="1600" dirty="0"/>
              <a:t>("hello.txt", O_RDONLY);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if</a:t>
            </a:r>
            <a:r>
              <a:rPr lang="ru-RU" sz="1600" dirty="0"/>
              <a:t> (</a:t>
            </a:r>
            <a:r>
              <a:rPr lang="ru-RU" sz="1600" dirty="0" err="1"/>
              <a:t>fd</a:t>
            </a:r>
            <a:r>
              <a:rPr lang="ru-RU" sz="1600" dirty="0"/>
              <a:t> == -1) return 1;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FILE *</a:t>
            </a:r>
            <a:r>
              <a:rPr lang="ru-RU" sz="1600" dirty="0" err="1"/>
              <a:t>fp</a:t>
            </a:r>
            <a:r>
              <a:rPr lang="ru-RU" sz="1600" dirty="0"/>
              <a:t> = </a:t>
            </a:r>
            <a:r>
              <a:rPr lang="ru-RU" sz="1600" dirty="0" err="1"/>
              <a:t>fdopen</a:t>
            </a:r>
            <a:r>
              <a:rPr lang="ru-RU" sz="1600" dirty="0"/>
              <a:t>(</a:t>
            </a:r>
            <a:r>
              <a:rPr lang="ru-RU" sz="1600" dirty="0" err="1"/>
              <a:t>fd</a:t>
            </a:r>
            <a:r>
              <a:rPr lang="ru-RU" sz="1600" dirty="0"/>
              <a:t>, "r");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if</a:t>
            </a:r>
            <a:r>
              <a:rPr lang="ru-RU" sz="1600" dirty="0"/>
              <a:t> (!</a:t>
            </a:r>
            <a:r>
              <a:rPr lang="ru-RU" sz="1600" dirty="0" err="1"/>
              <a:t>fp</a:t>
            </a:r>
            <a:r>
              <a:rPr lang="ru-RU" sz="1600" dirty="0"/>
              <a:t>) return 1;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int</a:t>
            </a:r>
            <a:r>
              <a:rPr lang="ru-RU" sz="1600" dirty="0"/>
              <a:t> c;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while</a:t>
            </a:r>
            <a:r>
              <a:rPr lang="ru-RU" sz="1600" dirty="0"/>
              <a:t> ((c = </a:t>
            </a:r>
            <a:r>
              <a:rPr lang="ru-RU" sz="1600" dirty="0" err="1"/>
              <a:t>fgetc</a:t>
            </a:r>
            <a:r>
              <a:rPr lang="ru-RU" sz="1600" dirty="0"/>
              <a:t>(</a:t>
            </a:r>
            <a:r>
              <a:rPr lang="ru-RU" sz="1600" dirty="0" err="1"/>
              <a:t>fp</a:t>
            </a:r>
            <a:r>
              <a:rPr lang="ru-RU" sz="1600" dirty="0"/>
              <a:t>)) != EOF) </a:t>
            </a:r>
            <a:r>
              <a:rPr lang="ru-RU" sz="1600" dirty="0" err="1"/>
              <a:t>putchar</a:t>
            </a:r>
            <a:r>
              <a:rPr lang="ru-RU" sz="1600" dirty="0"/>
              <a:t>(c);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fclose</a:t>
            </a:r>
            <a:r>
              <a:rPr lang="ru-RU" sz="1600" dirty="0"/>
              <a:t>(</a:t>
            </a:r>
            <a:r>
              <a:rPr lang="ru-RU" sz="1600" dirty="0" err="1"/>
              <a:t>fp</a:t>
            </a:r>
            <a:r>
              <a:rPr lang="ru-RU" sz="1600" dirty="0"/>
              <a:t>);   // закрывает и </a:t>
            </a:r>
            <a:r>
              <a:rPr lang="ru-RU" sz="1600" dirty="0" err="1"/>
              <a:t>fp</a:t>
            </a:r>
            <a:r>
              <a:rPr lang="ru-RU" sz="1600" dirty="0"/>
              <a:t>, и </a:t>
            </a:r>
            <a:r>
              <a:rPr lang="ru-RU" sz="1600" dirty="0" err="1"/>
              <a:t>fd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return 0;</a:t>
            </a:r>
          </a:p>
          <a:p>
            <a:pPr marL="0" indent="0">
              <a:buNone/>
            </a:pPr>
            <a:r>
              <a:rPr lang="ru-RU" sz="1600" dirty="0"/>
              <a:t>}</a:t>
            </a:r>
          </a:p>
          <a:p>
            <a:pPr marL="0" indent="0">
              <a:buNone/>
            </a:pPr>
            <a:r>
              <a:rPr lang="ru-RU" sz="1600" b="1" dirty="0"/>
              <a:t>Что показывает:</a:t>
            </a:r>
            <a:r>
              <a:rPr lang="ru-RU" sz="1600" dirty="0"/>
              <a:t> можно </a:t>
            </a:r>
            <a:r>
              <a:rPr lang="ru-RU" sz="1600" b="1" dirty="0"/>
              <a:t>обернуть</a:t>
            </a:r>
            <a:r>
              <a:rPr lang="ru-RU" sz="1600" dirty="0"/>
              <a:t> низкоуровневый дескриптор в высокоуровневую структуру FILE через </a:t>
            </a:r>
            <a:r>
              <a:rPr lang="ru-RU" sz="1600" dirty="0" err="1"/>
              <a:t>fdopen</a:t>
            </a:r>
            <a:r>
              <a:rPr lang="ru-RU" sz="1600" dirty="0"/>
              <a:t>.</a:t>
            </a: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464317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67AE6-0CEA-1200-BDDA-CC402C2E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Пример 12. Дублирование дескриптора через </a:t>
            </a:r>
            <a:r>
              <a:rPr lang="ru-RU" dirty="0" err="1">
                <a:effectLst/>
              </a:rPr>
              <a:t>dup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E186F-8058-0A6D-6EC3-95FBB769A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fcntl.h</a:t>
            </a:r>
            <a:r>
              <a:rPr lang="ru-RU" dirty="0"/>
              <a:t>&gt;</a:t>
            </a:r>
          </a:p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unistd.h</a:t>
            </a:r>
            <a:r>
              <a:rPr lang="ru-RU" dirty="0"/>
              <a:t>&gt;</a:t>
            </a:r>
          </a:p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stdio.h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main(</a:t>
            </a:r>
            <a:r>
              <a:rPr lang="ru-RU" dirty="0" err="1"/>
              <a:t>void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int</a:t>
            </a:r>
            <a:r>
              <a:rPr lang="ru-RU" dirty="0"/>
              <a:t> fd1 = </a:t>
            </a:r>
            <a:r>
              <a:rPr lang="ru-RU" dirty="0" err="1"/>
              <a:t>open</a:t>
            </a:r>
            <a:r>
              <a:rPr lang="ru-RU" dirty="0"/>
              <a:t>("hello.txt", O_RDONLY);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(fd1 == -1) return 1;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int</a:t>
            </a:r>
            <a:r>
              <a:rPr lang="ru-RU" dirty="0"/>
              <a:t> fd2 = </a:t>
            </a:r>
            <a:r>
              <a:rPr lang="ru-RU" dirty="0" err="1"/>
              <a:t>dup</a:t>
            </a:r>
            <a:r>
              <a:rPr lang="ru-RU" dirty="0"/>
              <a:t>(fd1);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("fd1 = %d, fd2 = %d\n", fd1, fd2);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close</a:t>
            </a:r>
            <a:r>
              <a:rPr lang="ru-RU" dirty="0"/>
              <a:t>(fd1);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close</a:t>
            </a:r>
            <a:r>
              <a:rPr lang="ru-RU" dirty="0"/>
              <a:t>(fd2);</a:t>
            </a:r>
          </a:p>
          <a:p>
            <a:pPr marL="0" indent="0">
              <a:buNone/>
            </a:pPr>
            <a:r>
              <a:rPr lang="ru-RU" dirty="0"/>
              <a:t>    return 0;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b="1" dirty="0"/>
              <a:t>Что показывает:</a:t>
            </a:r>
            <a:r>
              <a:rPr lang="ru-RU" dirty="0"/>
              <a:t> </a:t>
            </a:r>
            <a:r>
              <a:rPr lang="ru-RU" dirty="0" err="1"/>
              <a:t>dup</a:t>
            </a:r>
            <a:r>
              <a:rPr lang="ru-RU" dirty="0"/>
              <a:t> создаёт </a:t>
            </a:r>
            <a:r>
              <a:rPr lang="ru-RU" b="1" dirty="0"/>
              <a:t>копию дескриптора</a:t>
            </a:r>
            <a:r>
              <a:rPr lang="ru-RU" dirty="0"/>
              <a:t>, указывающую на тот же файл. Оба дескриптора независимы, но разделяют позицию.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963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249BF4-6A40-D899-406D-B2CEDECF82A8}"/>
              </a:ext>
            </a:extLst>
          </p:cNvPr>
          <p:cNvSpPr txBox="1"/>
          <p:nvPr/>
        </p:nvSpPr>
        <p:spPr>
          <a:xfrm>
            <a:off x="1051560" y="960120"/>
            <a:ext cx="80924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sz="7200" b="1" i="0" dirty="0">
                <a:solidFill>
                  <a:schemeClr val="tx2">
                    <a:lumMod val="75000"/>
                  </a:schemeClr>
                </a:solidFill>
                <a:effectLst/>
                <a:latin typeface="+mn-lt"/>
              </a:rPr>
              <a:t>Часть 3. Структура </a:t>
            </a:r>
            <a:r>
              <a:rPr lang="ru-RU" sz="7200" b="1" i="0" dirty="0" err="1">
                <a:solidFill>
                  <a:schemeClr val="tx2">
                    <a:lumMod val="75000"/>
                  </a:schemeClr>
                </a:solidFill>
                <a:effectLst/>
                <a:latin typeface="+mn-lt"/>
              </a:rPr>
              <a:t>struct</a:t>
            </a:r>
            <a:r>
              <a:rPr lang="ru-RU" sz="7200" b="1" i="0" dirty="0">
                <a:solidFill>
                  <a:schemeClr val="tx2">
                    <a:lumMod val="75000"/>
                  </a:schemeClr>
                </a:solidFill>
                <a:effectLst/>
                <a:latin typeface="+mn-lt"/>
              </a:rPr>
              <a:t> </a:t>
            </a:r>
            <a:r>
              <a:rPr lang="ru-RU" sz="7200" b="1" i="0" dirty="0" err="1">
                <a:solidFill>
                  <a:schemeClr val="tx2">
                    <a:lumMod val="75000"/>
                  </a:schemeClr>
                </a:solidFill>
                <a:effectLst/>
                <a:latin typeface="+mn-lt"/>
              </a:rPr>
              <a:t>stat</a:t>
            </a:r>
            <a:r>
              <a:rPr lang="ru-RU" sz="7200" b="1" i="0" dirty="0">
                <a:solidFill>
                  <a:schemeClr val="tx2">
                    <a:lumMod val="75000"/>
                  </a:schemeClr>
                </a:solidFill>
                <a:effectLst/>
                <a:latin typeface="+mn-lt"/>
              </a:rPr>
              <a:t> (примеры 13–17)</a:t>
            </a:r>
            <a:endParaRPr lang="ru-RU" sz="7200" b="1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4019259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F45E9-F0EA-7BAD-3E5F-DCD81793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Пример 13. Получение метаданных через </a:t>
            </a:r>
            <a:r>
              <a:rPr lang="ru-RU" dirty="0" err="1">
                <a:effectLst/>
              </a:rPr>
              <a:t>stat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2706F9-F52D-0FA2-ED4E-516D5D282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stdio.h</a:t>
            </a:r>
            <a:r>
              <a:rPr lang="ru-RU" dirty="0"/>
              <a:t>&gt;</a:t>
            </a:r>
          </a:p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sys</a:t>
            </a:r>
            <a:r>
              <a:rPr lang="ru-RU" dirty="0"/>
              <a:t>/</a:t>
            </a:r>
            <a:r>
              <a:rPr lang="ru-RU" dirty="0" err="1"/>
              <a:t>stat.h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main(</a:t>
            </a:r>
            <a:r>
              <a:rPr lang="ru-RU" dirty="0" err="1"/>
              <a:t>void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struct</a:t>
            </a:r>
            <a:r>
              <a:rPr lang="ru-RU" dirty="0"/>
              <a:t> </a:t>
            </a:r>
            <a:r>
              <a:rPr lang="ru-RU" dirty="0" err="1"/>
              <a:t>stat</a:t>
            </a:r>
            <a:r>
              <a:rPr lang="ru-RU" dirty="0"/>
              <a:t> </a:t>
            </a:r>
            <a:r>
              <a:rPr lang="ru-RU" dirty="0" err="1"/>
              <a:t>st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stat</a:t>
            </a:r>
            <a:r>
              <a:rPr lang="ru-RU" dirty="0"/>
              <a:t>("hello.txt", &amp;</a:t>
            </a:r>
            <a:r>
              <a:rPr lang="ru-RU" dirty="0" err="1"/>
              <a:t>st</a:t>
            </a:r>
            <a:r>
              <a:rPr lang="ru-RU" dirty="0"/>
              <a:t>) == -1) {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ru-RU" dirty="0" err="1"/>
              <a:t>perror</a:t>
            </a:r>
            <a:r>
              <a:rPr lang="ru-RU" dirty="0"/>
              <a:t>("</a:t>
            </a:r>
            <a:r>
              <a:rPr lang="ru-RU" dirty="0" err="1"/>
              <a:t>stat</a:t>
            </a:r>
            <a:r>
              <a:rPr lang="ru-RU" dirty="0"/>
              <a:t>");</a:t>
            </a:r>
          </a:p>
          <a:p>
            <a:pPr marL="0" indent="0">
              <a:buNone/>
            </a:pPr>
            <a:r>
              <a:rPr lang="ru-RU" dirty="0"/>
              <a:t>        return 1;</a:t>
            </a:r>
          </a:p>
          <a:p>
            <a:pPr marL="0" indent="0">
              <a:buNone/>
            </a:pPr>
            <a:r>
              <a:rPr lang="ru-RU" dirty="0"/>
              <a:t>    }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("Размер: %</a:t>
            </a:r>
            <a:r>
              <a:rPr lang="ru-RU" dirty="0" err="1"/>
              <a:t>ld</a:t>
            </a:r>
            <a:r>
              <a:rPr lang="ru-RU" dirty="0"/>
              <a:t> байт\n", (</a:t>
            </a:r>
            <a:r>
              <a:rPr lang="ru-RU" dirty="0" err="1"/>
              <a:t>long</a:t>
            </a:r>
            <a:r>
              <a:rPr lang="ru-RU" dirty="0"/>
              <a:t>)</a:t>
            </a:r>
            <a:r>
              <a:rPr lang="ru-RU" dirty="0" err="1"/>
              <a:t>st.st_size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</a:t>
            </a:r>
            <a:r>
              <a:rPr lang="ru-RU" dirty="0" err="1"/>
              <a:t>Inode</a:t>
            </a:r>
            <a:r>
              <a:rPr lang="ru-RU" dirty="0"/>
              <a:t>: %</a:t>
            </a:r>
            <a:r>
              <a:rPr lang="ru-RU" dirty="0" err="1"/>
              <a:t>ld</a:t>
            </a:r>
            <a:r>
              <a:rPr lang="ru-RU" dirty="0"/>
              <a:t>\n", (</a:t>
            </a:r>
            <a:r>
              <a:rPr lang="ru-RU" dirty="0" err="1"/>
              <a:t>long</a:t>
            </a:r>
            <a:r>
              <a:rPr lang="ru-RU" dirty="0"/>
              <a:t>)</a:t>
            </a:r>
            <a:r>
              <a:rPr lang="ru-RU" dirty="0" err="1"/>
              <a:t>st.st_ino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("Ссылок: %</a:t>
            </a:r>
            <a:r>
              <a:rPr lang="ru-RU" dirty="0" err="1"/>
              <a:t>ld</a:t>
            </a:r>
            <a:r>
              <a:rPr lang="ru-RU" dirty="0"/>
              <a:t>\n", (</a:t>
            </a:r>
            <a:r>
              <a:rPr lang="ru-RU" dirty="0" err="1"/>
              <a:t>long</a:t>
            </a:r>
            <a:r>
              <a:rPr lang="ru-RU" dirty="0"/>
              <a:t>)</a:t>
            </a:r>
            <a:r>
              <a:rPr lang="ru-RU" dirty="0" err="1"/>
              <a:t>st.st_nlink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return 0;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b="1" dirty="0"/>
              <a:t>Что показывает:</a:t>
            </a:r>
            <a:r>
              <a:rPr lang="ru-RU" dirty="0"/>
              <a:t> структура </a:t>
            </a:r>
            <a:r>
              <a:rPr lang="ru-RU" dirty="0" err="1"/>
              <a:t>struct</a:t>
            </a:r>
            <a:r>
              <a:rPr lang="ru-RU" dirty="0"/>
              <a:t> </a:t>
            </a:r>
            <a:r>
              <a:rPr lang="ru-RU" dirty="0" err="1"/>
              <a:t>stat</a:t>
            </a:r>
            <a:r>
              <a:rPr lang="ru-RU" dirty="0"/>
              <a:t> хранит </a:t>
            </a:r>
            <a:r>
              <a:rPr lang="ru-RU" b="1" dirty="0"/>
              <a:t>метаданные файла</a:t>
            </a:r>
            <a:r>
              <a:rPr lang="ru-RU" dirty="0"/>
              <a:t>: размер, </a:t>
            </a:r>
            <a:r>
              <a:rPr lang="ru-RU" dirty="0" err="1"/>
              <a:t>inode</a:t>
            </a:r>
            <a:r>
              <a:rPr lang="ru-RU" dirty="0"/>
              <a:t>, число ссылок.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1621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EC970-2CE9-597C-E1F3-75ACBA7B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14. Тип файла через </a:t>
            </a:r>
            <a:r>
              <a:rPr lang="ru-RU" dirty="0" err="1">
                <a:effectLst/>
              </a:rPr>
              <a:t>st_mode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14CAA-2D0A-B233-7FFD-C8BF9B1FB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stdio.h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sys</a:t>
            </a:r>
            <a:r>
              <a:rPr lang="ru-RU" sz="1600" dirty="0"/>
              <a:t>/</a:t>
            </a:r>
            <a:r>
              <a:rPr lang="ru-RU" sz="1600" dirty="0" err="1"/>
              <a:t>stat.h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 err="1"/>
              <a:t>int</a:t>
            </a:r>
            <a:r>
              <a:rPr lang="ru-RU" sz="1600" dirty="0"/>
              <a:t> main(</a:t>
            </a:r>
            <a:r>
              <a:rPr lang="ru-RU" sz="1600" dirty="0" err="1"/>
              <a:t>void</a:t>
            </a:r>
            <a:r>
              <a:rPr lang="ru-RU" sz="1600" dirty="0"/>
              <a:t>) {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struct</a:t>
            </a:r>
            <a:r>
              <a:rPr lang="ru-RU" sz="1600" dirty="0"/>
              <a:t> </a:t>
            </a:r>
            <a:r>
              <a:rPr lang="ru-RU" sz="1600" dirty="0" err="1"/>
              <a:t>stat</a:t>
            </a:r>
            <a:r>
              <a:rPr lang="ru-RU" sz="1600" dirty="0"/>
              <a:t> </a:t>
            </a:r>
            <a:r>
              <a:rPr lang="ru-RU" sz="1600" dirty="0" err="1"/>
              <a:t>st</a:t>
            </a:r>
            <a:r>
              <a:rPr lang="ru-RU" sz="1600" dirty="0"/>
              <a:t>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if</a:t>
            </a:r>
            <a:r>
              <a:rPr lang="ru-RU" sz="1600" dirty="0"/>
              <a:t> (</a:t>
            </a:r>
            <a:r>
              <a:rPr lang="ru-RU" sz="1600" dirty="0" err="1"/>
              <a:t>stat</a:t>
            </a:r>
            <a:r>
              <a:rPr lang="ru-RU" sz="1600" dirty="0"/>
              <a:t>("hello.txt", &amp;</a:t>
            </a:r>
            <a:r>
              <a:rPr lang="ru-RU" sz="1600" dirty="0" err="1"/>
              <a:t>st</a:t>
            </a:r>
            <a:r>
              <a:rPr lang="ru-RU" sz="1600" dirty="0"/>
              <a:t>) == -1) return 1;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printf</a:t>
            </a:r>
            <a:r>
              <a:rPr lang="ru-RU" sz="1600" dirty="0"/>
              <a:t>("Тип: ");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if</a:t>
            </a:r>
            <a:r>
              <a:rPr lang="ru-RU" sz="1600" dirty="0"/>
              <a:t> (S_ISREG(</a:t>
            </a:r>
            <a:r>
              <a:rPr lang="ru-RU" sz="1600" dirty="0" err="1"/>
              <a:t>st.st_mode</a:t>
            </a:r>
            <a:r>
              <a:rPr lang="ru-RU" sz="1600" dirty="0"/>
              <a:t>))       </a:t>
            </a:r>
            <a:r>
              <a:rPr lang="ru-RU" sz="1600" dirty="0" err="1"/>
              <a:t>printf</a:t>
            </a:r>
            <a:r>
              <a:rPr lang="ru-RU" sz="1600" dirty="0"/>
              <a:t>("обычный файл\n");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else</a:t>
            </a:r>
            <a:r>
              <a:rPr lang="ru-RU" sz="1600" dirty="0"/>
              <a:t> </a:t>
            </a:r>
            <a:r>
              <a:rPr lang="ru-RU" sz="1600" dirty="0" err="1"/>
              <a:t>if</a:t>
            </a:r>
            <a:r>
              <a:rPr lang="ru-RU" sz="1600" dirty="0"/>
              <a:t> (S_ISDIR(</a:t>
            </a:r>
            <a:r>
              <a:rPr lang="ru-RU" sz="1600" dirty="0" err="1"/>
              <a:t>st.st_mode</a:t>
            </a:r>
            <a:r>
              <a:rPr lang="ru-RU" sz="1600" dirty="0"/>
              <a:t>))  </a:t>
            </a:r>
            <a:r>
              <a:rPr lang="ru-RU" sz="1600" dirty="0" err="1"/>
              <a:t>printf</a:t>
            </a:r>
            <a:r>
              <a:rPr lang="ru-RU" sz="1600" dirty="0"/>
              <a:t>("каталог\n");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else</a:t>
            </a:r>
            <a:r>
              <a:rPr lang="ru-RU" sz="1600" dirty="0"/>
              <a:t> </a:t>
            </a:r>
            <a:r>
              <a:rPr lang="ru-RU" sz="1600" dirty="0" err="1"/>
              <a:t>if</a:t>
            </a:r>
            <a:r>
              <a:rPr lang="ru-RU" sz="1600" dirty="0"/>
              <a:t> (S_ISLNK(</a:t>
            </a:r>
            <a:r>
              <a:rPr lang="ru-RU" sz="1600" dirty="0" err="1"/>
              <a:t>st.st_mode</a:t>
            </a:r>
            <a:r>
              <a:rPr lang="ru-RU" sz="1600" dirty="0"/>
              <a:t>))  </a:t>
            </a:r>
            <a:r>
              <a:rPr lang="ru-RU" sz="1600" dirty="0" err="1"/>
              <a:t>printf</a:t>
            </a:r>
            <a:r>
              <a:rPr lang="ru-RU" sz="1600" dirty="0"/>
              <a:t>("символьная ссылка\n");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else</a:t>
            </a:r>
            <a:r>
              <a:rPr lang="ru-RU" sz="1600" dirty="0"/>
              <a:t>                            </a:t>
            </a:r>
            <a:r>
              <a:rPr lang="ru-RU" sz="1600" dirty="0" err="1"/>
              <a:t>printf</a:t>
            </a:r>
            <a:r>
              <a:rPr lang="ru-RU" sz="1600" dirty="0"/>
              <a:t>("другое\n");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return 0;</a:t>
            </a:r>
          </a:p>
          <a:p>
            <a:pPr marL="0" indent="0">
              <a:buNone/>
            </a:pPr>
            <a:r>
              <a:rPr lang="ru-RU" sz="1600" dirty="0"/>
              <a:t>}</a:t>
            </a:r>
          </a:p>
          <a:p>
            <a:pPr marL="0" indent="0">
              <a:buNone/>
            </a:pPr>
            <a:r>
              <a:rPr lang="ru-RU" sz="1600" b="1" dirty="0"/>
              <a:t>Что показывает:</a:t>
            </a:r>
            <a:r>
              <a:rPr lang="ru-RU" sz="1600" dirty="0"/>
              <a:t> поле </a:t>
            </a:r>
            <a:r>
              <a:rPr lang="ru-RU" sz="1600" dirty="0" err="1"/>
              <a:t>st_mode</a:t>
            </a:r>
            <a:r>
              <a:rPr lang="ru-RU" sz="1600" dirty="0"/>
              <a:t> хранит </a:t>
            </a:r>
            <a:r>
              <a:rPr lang="ru-RU" sz="1600" b="1" dirty="0"/>
              <a:t>тип файла</a:t>
            </a:r>
            <a:r>
              <a:rPr lang="ru-RU" sz="1600" dirty="0"/>
              <a:t>. Проверяется макросами S_ISREG, S_ISDIR, S_ISLNK.</a:t>
            </a:r>
          </a:p>
          <a:p>
            <a:pPr marL="0" indent="0">
              <a:buNone/>
            </a:pPr>
            <a:br>
              <a:rPr lang="ru-RU" sz="1600" dirty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217253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781F8-994A-1394-4D66-70CD775A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15. Права доступа через </a:t>
            </a:r>
            <a:r>
              <a:rPr lang="ru-RU" dirty="0" err="1">
                <a:effectLst/>
              </a:rPr>
              <a:t>st_mode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4120D4-A1A4-FA4A-4152-2F259A3A0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8307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/>
              <a:t>#include &lt;</a:t>
            </a:r>
            <a:r>
              <a:rPr lang="ru-RU" sz="1400" dirty="0" err="1"/>
              <a:t>stdio.h</a:t>
            </a:r>
            <a:r>
              <a:rPr lang="ru-RU" sz="1400" dirty="0"/>
              <a:t>&gt;</a:t>
            </a:r>
          </a:p>
          <a:p>
            <a:pPr marL="0" indent="0">
              <a:buNone/>
            </a:pPr>
            <a:r>
              <a:rPr lang="ru-RU" sz="1400" dirty="0"/>
              <a:t>#include &lt;</a:t>
            </a:r>
            <a:r>
              <a:rPr lang="ru-RU" sz="1400" dirty="0" err="1"/>
              <a:t>sys</a:t>
            </a:r>
            <a:r>
              <a:rPr lang="ru-RU" sz="1400" dirty="0"/>
              <a:t>/</a:t>
            </a:r>
            <a:r>
              <a:rPr lang="ru-RU" sz="1400" dirty="0" err="1"/>
              <a:t>stat.h</a:t>
            </a:r>
            <a:r>
              <a:rPr lang="ru-RU" sz="1400" dirty="0"/>
              <a:t>&gt;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dirty="0" err="1"/>
              <a:t>int</a:t>
            </a:r>
            <a:r>
              <a:rPr lang="ru-RU" sz="1400" dirty="0"/>
              <a:t> main(</a:t>
            </a:r>
            <a:r>
              <a:rPr lang="ru-RU" sz="1400" dirty="0" err="1"/>
              <a:t>void</a:t>
            </a:r>
            <a:r>
              <a:rPr lang="ru-RU" sz="1400" dirty="0"/>
              <a:t>) {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struct</a:t>
            </a:r>
            <a:r>
              <a:rPr lang="ru-RU" sz="1400" dirty="0"/>
              <a:t> </a:t>
            </a:r>
            <a:r>
              <a:rPr lang="ru-RU" sz="1400" dirty="0" err="1"/>
              <a:t>stat</a:t>
            </a:r>
            <a:r>
              <a:rPr lang="ru-RU" sz="1400" dirty="0"/>
              <a:t> </a:t>
            </a:r>
            <a:r>
              <a:rPr lang="ru-RU" sz="1400" dirty="0" err="1"/>
              <a:t>st</a:t>
            </a:r>
            <a:r>
              <a:rPr lang="ru-RU" sz="1400" dirty="0"/>
              <a:t>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if</a:t>
            </a:r>
            <a:r>
              <a:rPr lang="ru-RU" sz="1400" dirty="0"/>
              <a:t> (</a:t>
            </a:r>
            <a:r>
              <a:rPr lang="ru-RU" sz="1400" dirty="0" err="1"/>
              <a:t>stat</a:t>
            </a:r>
            <a:r>
              <a:rPr lang="ru-RU" sz="1400" dirty="0"/>
              <a:t>("hello.txt", &amp;</a:t>
            </a:r>
            <a:r>
              <a:rPr lang="ru-RU" sz="1400" dirty="0" err="1"/>
              <a:t>st</a:t>
            </a:r>
            <a:r>
              <a:rPr lang="ru-RU" sz="1400" dirty="0"/>
              <a:t>) == -1) return 1;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("Права: ");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("%c", (</a:t>
            </a:r>
            <a:r>
              <a:rPr lang="ru-RU" sz="1400" dirty="0" err="1"/>
              <a:t>st.st_mode</a:t>
            </a:r>
            <a:r>
              <a:rPr lang="ru-RU" sz="1400" dirty="0"/>
              <a:t> &amp; S_IRUSR) ? 'r' : '-');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("%c", (</a:t>
            </a:r>
            <a:r>
              <a:rPr lang="ru-RU" sz="1400" dirty="0" err="1"/>
              <a:t>st.st_mode</a:t>
            </a:r>
            <a:r>
              <a:rPr lang="ru-RU" sz="1400" dirty="0"/>
              <a:t> &amp; S_IWUSR) ? 'w' : '-');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("%c", (</a:t>
            </a:r>
            <a:r>
              <a:rPr lang="ru-RU" sz="1400" dirty="0" err="1"/>
              <a:t>st.st_mode</a:t>
            </a:r>
            <a:r>
              <a:rPr lang="ru-RU" sz="1400" dirty="0"/>
              <a:t> &amp; S_IXUSR) ? 'x' : '-');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("%c", (</a:t>
            </a:r>
            <a:r>
              <a:rPr lang="ru-RU" sz="1400" dirty="0" err="1"/>
              <a:t>st.st_mode</a:t>
            </a:r>
            <a:r>
              <a:rPr lang="ru-RU" sz="1400" dirty="0"/>
              <a:t> &amp; S_IRGRP) ? 'r' : '-');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("%c", (</a:t>
            </a:r>
            <a:r>
              <a:rPr lang="ru-RU" sz="1400" dirty="0" err="1"/>
              <a:t>st.st_mode</a:t>
            </a:r>
            <a:r>
              <a:rPr lang="ru-RU" sz="1400" dirty="0"/>
              <a:t> &amp; S_IWGRP) ? 'w' : '-');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("%c", (</a:t>
            </a:r>
            <a:r>
              <a:rPr lang="ru-RU" sz="1400" dirty="0" err="1"/>
              <a:t>st.st_mode</a:t>
            </a:r>
            <a:r>
              <a:rPr lang="ru-RU" sz="1400" dirty="0"/>
              <a:t> &amp; S_IXGRP) ? 'x' : '-');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("%c", (</a:t>
            </a:r>
            <a:r>
              <a:rPr lang="ru-RU" sz="1400" dirty="0" err="1"/>
              <a:t>st.st_mode</a:t>
            </a:r>
            <a:r>
              <a:rPr lang="ru-RU" sz="1400" dirty="0"/>
              <a:t> &amp; S_IROTH) ? 'r' : '-');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("%c", (</a:t>
            </a:r>
            <a:r>
              <a:rPr lang="ru-RU" sz="1400" dirty="0" err="1"/>
              <a:t>st.st_mode</a:t>
            </a:r>
            <a:r>
              <a:rPr lang="ru-RU" sz="1400" dirty="0"/>
              <a:t> &amp; S_IWOTH) ? 'w' : '-');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("%c\n", (</a:t>
            </a:r>
            <a:r>
              <a:rPr lang="ru-RU" sz="1400" dirty="0" err="1"/>
              <a:t>st.st_mode</a:t>
            </a:r>
            <a:r>
              <a:rPr lang="ru-RU" sz="1400" dirty="0"/>
              <a:t> &amp; S_IXOTH) ? 'x' : '-');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dirty="0"/>
              <a:t>    return 0;</a:t>
            </a:r>
          </a:p>
          <a:p>
            <a:pPr marL="0" indent="0">
              <a:buNone/>
            </a:pPr>
            <a:r>
              <a:rPr lang="ru-RU" sz="1400" dirty="0"/>
              <a:t>}</a:t>
            </a:r>
          </a:p>
          <a:p>
            <a:pPr marL="0" indent="0">
              <a:buNone/>
            </a:pPr>
            <a:r>
              <a:rPr lang="ru-RU" sz="1400" b="1" dirty="0"/>
              <a:t>Что показывает:</a:t>
            </a:r>
            <a:r>
              <a:rPr lang="ru-RU" sz="1400" dirty="0"/>
              <a:t> права доступа </a:t>
            </a:r>
            <a:r>
              <a:rPr lang="ru-RU" sz="1400" b="1" dirty="0"/>
              <a:t>упакованы</a:t>
            </a:r>
            <a:r>
              <a:rPr lang="ru-RU" sz="1400" dirty="0"/>
              <a:t> в </a:t>
            </a:r>
            <a:r>
              <a:rPr lang="ru-RU" sz="1400" dirty="0" err="1"/>
              <a:t>st_mode</a:t>
            </a:r>
            <a:r>
              <a:rPr lang="ru-RU" sz="1400" dirty="0"/>
              <a:t> — три группы по три бита (владелец, группа, остальные).</a:t>
            </a:r>
          </a:p>
          <a:p>
            <a:pPr marL="0" indent="0">
              <a:buNone/>
            </a:pPr>
            <a:br>
              <a:rPr lang="ru-RU" sz="1400" dirty="0"/>
            </a:b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178520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10B3A-3C7C-BB2C-BA7E-16E22245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16. Временные метки файла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97831C-3847-1A8F-6948-445173E79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stdio.h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sys</a:t>
            </a:r>
            <a:r>
              <a:rPr lang="ru-RU" sz="1600" dirty="0"/>
              <a:t>/</a:t>
            </a:r>
            <a:r>
              <a:rPr lang="ru-RU" sz="1600" dirty="0" err="1"/>
              <a:t>stat.h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time.h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 err="1"/>
              <a:t>int</a:t>
            </a:r>
            <a:r>
              <a:rPr lang="ru-RU" sz="1600" dirty="0"/>
              <a:t> main(</a:t>
            </a:r>
            <a:r>
              <a:rPr lang="ru-RU" sz="1600" dirty="0" err="1"/>
              <a:t>void</a:t>
            </a:r>
            <a:r>
              <a:rPr lang="ru-RU" sz="1600" dirty="0"/>
              <a:t>) {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struct</a:t>
            </a:r>
            <a:r>
              <a:rPr lang="ru-RU" sz="1600" dirty="0"/>
              <a:t> </a:t>
            </a:r>
            <a:r>
              <a:rPr lang="ru-RU" sz="1600" dirty="0" err="1"/>
              <a:t>stat</a:t>
            </a:r>
            <a:r>
              <a:rPr lang="ru-RU" sz="1600" dirty="0"/>
              <a:t> </a:t>
            </a:r>
            <a:r>
              <a:rPr lang="ru-RU" sz="1600" dirty="0" err="1"/>
              <a:t>st</a:t>
            </a:r>
            <a:r>
              <a:rPr lang="ru-RU" sz="1600" dirty="0"/>
              <a:t>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if</a:t>
            </a:r>
            <a:r>
              <a:rPr lang="ru-RU" sz="1600" dirty="0"/>
              <a:t> (</a:t>
            </a:r>
            <a:r>
              <a:rPr lang="ru-RU" sz="1600" dirty="0" err="1"/>
              <a:t>stat</a:t>
            </a:r>
            <a:r>
              <a:rPr lang="ru-RU" sz="1600" dirty="0"/>
              <a:t>("hello.txt", &amp;</a:t>
            </a:r>
            <a:r>
              <a:rPr lang="ru-RU" sz="1600" dirty="0" err="1"/>
              <a:t>st</a:t>
            </a:r>
            <a:r>
              <a:rPr lang="ru-RU" sz="1600" dirty="0"/>
              <a:t>) == -1) return 1;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printf</a:t>
            </a:r>
            <a:r>
              <a:rPr lang="ru-RU" sz="1600" dirty="0"/>
              <a:t>("Последний доступ:  %s", </a:t>
            </a:r>
            <a:r>
              <a:rPr lang="ru-RU" sz="1600" dirty="0" err="1"/>
              <a:t>ctime</a:t>
            </a:r>
            <a:r>
              <a:rPr lang="ru-RU" sz="1600" dirty="0"/>
              <a:t>(&amp;</a:t>
            </a:r>
            <a:r>
              <a:rPr lang="ru-RU" sz="1600" dirty="0" err="1"/>
              <a:t>st.st_atime</a:t>
            </a:r>
            <a:r>
              <a:rPr lang="ru-RU" sz="1600" dirty="0"/>
              <a:t>));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printf</a:t>
            </a:r>
            <a:r>
              <a:rPr lang="ru-RU" sz="1600" dirty="0"/>
              <a:t>("Последнее изменение: %s", </a:t>
            </a:r>
            <a:r>
              <a:rPr lang="ru-RU" sz="1600" dirty="0" err="1"/>
              <a:t>ctime</a:t>
            </a:r>
            <a:r>
              <a:rPr lang="ru-RU" sz="1600" dirty="0"/>
              <a:t>(&amp;</a:t>
            </a:r>
            <a:r>
              <a:rPr lang="ru-RU" sz="1600" dirty="0" err="1"/>
              <a:t>st.st_mtime</a:t>
            </a:r>
            <a:r>
              <a:rPr lang="ru-RU" sz="1600" dirty="0"/>
              <a:t>));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printf</a:t>
            </a:r>
            <a:r>
              <a:rPr lang="ru-RU" sz="1600" dirty="0"/>
              <a:t>("Изменение </a:t>
            </a:r>
            <a:r>
              <a:rPr lang="ru-RU" sz="1600" dirty="0" err="1"/>
              <a:t>inode</a:t>
            </a:r>
            <a:r>
              <a:rPr lang="ru-RU" sz="1600" dirty="0"/>
              <a:t>:     %s", </a:t>
            </a:r>
            <a:r>
              <a:rPr lang="ru-RU" sz="1600" dirty="0" err="1"/>
              <a:t>ctime</a:t>
            </a:r>
            <a:r>
              <a:rPr lang="ru-RU" sz="1600" dirty="0"/>
              <a:t>(&amp;</a:t>
            </a:r>
            <a:r>
              <a:rPr lang="ru-RU" sz="1600" dirty="0" err="1"/>
              <a:t>st.st_ctime</a:t>
            </a:r>
            <a:r>
              <a:rPr lang="ru-RU" sz="1600" dirty="0"/>
              <a:t>));</a:t>
            </a:r>
          </a:p>
          <a:p>
            <a:pPr marL="0" indent="0">
              <a:buNone/>
            </a:pPr>
            <a:r>
              <a:rPr lang="ru-RU" sz="1600" dirty="0"/>
              <a:t>    return 0;</a:t>
            </a:r>
          </a:p>
          <a:p>
            <a:pPr marL="0" indent="0">
              <a:buNone/>
            </a:pPr>
            <a:r>
              <a:rPr lang="ru-RU" sz="1600" dirty="0"/>
              <a:t>}</a:t>
            </a:r>
          </a:p>
          <a:p>
            <a:pPr marL="0" indent="0">
              <a:buNone/>
            </a:pPr>
            <a:r>
              <a:rPr lang="ru-RU" sz="1600" b="1" dirty="0"/>
              <a:t>Что показывает:</a:t>
            </a:r>
            <a:r>
              <a:rPr lang="ru-RU" sz="1600" dirty="0"/>
              <a:t> </a:t>
            </a:r>
            <a:r>
              <a:rPr lang="ru-RU" sz="1600" dirty="0" err="1"/>
              <a:t>struct</a:t>
            </a:r>
            <a:r>
              <a:rPr lang="ru-RU" sz="1600" dirty="0"/>
              <a:t> </a:t>
            </a:r>
            <a:r>
              <a:rPr lang="ru-RU" sz="1600" dirty="0" err="1"/>
              <a:t>stat</a:t>
            </a:r>
            <a:r>
              <a:rPr lang="ru-RU" sz="1600" dirty="0"/>
              <a:t> хранит </a:t>
            </a:r>
            <a:r>
              <a:rPr lang="ru-RU" sz="1600" b="1" dirty="0"/>
              <a:t>три времени</a:t>
            </a:r>
            <a:r>
              <a:rPr lang="ru-RU" sz="1600" dirty="0"/>
              <a:t>:</a:t>
            </a:r>
          </a:p>
          <a:p>
            <a:pPr marL="0" lvl="0" indent="0">
              <a:buNone/>
            </a:pPr>
            <a:r>
              <a:rPr lang="ru-RU" sz="1600" dirty="0" err="1"/>
              <a:t>st_atime</a:t>
            </a:r>
            <a:r>
              <a:rPr lang="ru-RU" sz="1600" dirty="0"/>
              <a:t> — доступ,</a:t>
            </a:r>
          </a:p>
          <a:p>
            <a:pPr marL="0" lvl="0" indent="0">
              <a:buNone/>
            </a:pPr>
            <a:r>
              <a:rPr lang="ru-RU" sz="1600" dirty="0" err="1"/>
              <a:t>st_mtime</a:t>
            </a:r>
            <a:r>
              <a:rPr lang="ru-RU" sz="1600" dirty="0"/>
              <a:t> — изменение содержимого,</a:t>
            </a:r>
          </a:p>
          <a:p>
            <a:pPr marL="0" lvl="0" indent="0">
              <a:buNone/>
            </a:pPr>
            <a:r>
              <a:rPr lang="ru-RU" sz="1600" dirty="0" err="1"/>
              <a:t>st_ctime</a:t>
            </a:r>
            <a:r>
              <a:rPr lang="ru-RU" sz="1600" dirty="0"/>
              <a:t> — изменение </a:t>
            </a:r>
            <a:r>
              <a:rPr lang="ru-RU" sz="1600" dirty="0" err="1"/>
              <a:t>inode</a:t>
            </a:r>
            <a:r>
              <a:rPr lang="ru-RU" sz="1600" dirty="0"/>
              <a:t>.</a:t>
            </a: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041514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5880A-9FDE-716D-12EA-0E602B03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Пример 17. </a:t>
            </a:r>
            <a:r>
              <a:rPr lang="ru-RU" dirty="0" err="1">
                <a:effectLst/>
              </a:rPr>
              <a:t>fstat</a:t>
            </a:r>
            <a:r>
              <a:rPr lang="ru-RU" dirty="0">
                <a:effectLst/>
              </a:rPr>
              <a:t> — метаданные по дескриптору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B8EAE-4BF1-065D-F9BB-E7262CC74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fcntl.h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sys</a:t>
            </a:r>
            <a:r>
              <a:rPr lang="ru-RU" sz="1600" dirty="0"/>
              <a:t>/</a:t>
            </a:r>
            <a:r>
              <a:rPr lang="ru-RU" sz="1600" dirty="0" err="1"/>
              <a:t>stat.h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unistd.h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r>
              <a:rPr lang="ru-RU" sz="1600" dirty="0"/>
              <a:t>#include &lt;</a:t>
            </a:r>
            <a:r>
              <a:rPr lang="ru-RU" sz="1600" dirty="0" err="1"/>
              <a:t>stdio.h</a:t>
            </a:r>
            <a:r>
              <a:rPr lang="ru-RU" sz="1600" dirty="0"/>
              <a:t>&gt;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 err="1"/>
              <a:t>int</a:t>
            </a:r>
            <a:r>
              <a:rPr lang="ru-RU" sz="1600" dirty="0"/>
              <a:t> main(</a:t>
            </a:r>
            <a:r>
              <a:rPr lang="ru-RU" sz="1600" dirty="0" err="1"/>
              <a:t>void</a:t>
            </a:r>
            <a:r>
              <a:rPr lang="ru-RU" sz="1600" dirty="0"/>
              <a:t>) {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int</a:t>
            </a:r>
            <a:r>
              <a:rPr lang="ru-RU" sz="1600" dirty="0"/>
              <a:t> </a:t>
            </a:r>
            <a:r>
              <a:rPr lang="ru-RU" sz="1600" dirty="0" err="1"/>
              <a:t>fd</a:t>
            </a:r>
            <a:r>
              <a:rPr lang="ru-RU" sz="1600" dirty="0"/>
              <a:t> = </a:t>
            </a:r>
            <a:r>
              <a:rPr lang="ru-RU" sz="1600" dirty="0" err="1"/>
              <a:t>open</a:t>
            </a:r>
            <a:r>
              <a:rPr lang="ru-RU" sz="1600" dirty="0"/>
              <a:t>("hello.txt", O_RDONLY);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if</a:t>
            </a:r>
            <a:r>
              <a:rPr lang="ru-RU" sz="1600" dirty="0"/>
              <a:t> (</a:t>
            </a:r>
            <a:r>
              <a:rPr lang="ru-RU" sz="1600" dirty="0" err="1"/>
              <a:t>fd</a:t>
            </a:r>
            <a:r>
              <a:rPr lang="ru-RU" sz="1600" dirty="0"/>
              <a:t> == -1) return 1;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struct</a:t>
            </a:r>
            <a:r>
              <a:rPr lang="ru-RU" sz="1600" dirty="0"/>
              <a:t> </a:t>
            </a:r>
            <a:r>
              <a:rPr lang="ru-RU" sz="1600" dirty="0" err="1"/>
              <a:t>stat</a:t>
            </a:r>
            <a:r>
              <a:rPr lang="ru-RU" sz="1600" dirty="0"/>
              <a:t> </a:t>
            </a:r>
            <a:r>
              <a:rPr lang="ru-RU" sz="1600" dirty="0" err="1"/>
              <a:t>st</a:t>
            </a:r>
            <a:r>
              <a:rPr lang="ru-RU" sz="1600" dirty="0"/>
              <a:t>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if</a:t>
            </a:r>
            <a:r>
              <a:rPr lang="ru-RU" sz="1600" dirty="0"/>
              <a:t> (</a:t>
            </a:r>
            <a:r>
              <a:rPr lang="ru-RU" sz="1600" dirty="0" err="1"/>
              <a:t>fstat</a:t>
            </a:r>
            <a:r>
              <a:rPr lang="ru-RU" sz="1600" dirty="0"/>
              <a:t>(</a:t>
            </a:r>
            <a:r>
              <a:rPr lang="ru-RU" sz="1600" dirty="0" err="1"/>
              <a:t>fd</a:t>
            </a:r>
            <a:r>
              <a:rPr lang="ru-RU" sz="1600" dirty="0"/>
              <a:t>, &amp;</a:t>
            </a:r>
            <a:r>
              <a:rPr lang="ru-RU" sz="1600" dirty="0" err="1"/>
              <a:t>st</a:t>
            </a:r>
            <a:r>
              <a:rPr lang="ru-RU" sz="1600" dirty="0"/>
              <a:t>) == -1) return 1;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printf</a:t>
            </a:r>
            <a:r>
              <a:rPr lang="ru-RU" sz="1600" dirty="0"/>
              <a:t>("Размер: %</a:t>
            </a:r>
            <a:r>
              <a:rPr lang="ru-RU" sz="1600" dirty="0" err="1"/>
              <a:t>ld</a:t>
            </a:r>
            <a:r>
              <a:rPr lang="ru-RU" sz="1600" dirty="0"/>
              <a:t>\n", (</a:t>
            </a:r>
            <a:r>
              <a:rPr lang="ru-RU" sz="1600" dirty="0" err="1"/>
              <a:t>long</a:t>
            </a:r>
            <a:r>
              <a:rPr lang="ru-RU" sz="1600" dirty="0"/>
              <a:t>)</a:t>
            </a:r>
            <a:r>
              <a:rPr lang="ru-RU" sz="1600" dirty="0" err="1"/>
              <a:t>st.st_size</a:t>
            </a:r>
            <a:r>
              <a:rPr lang="ru-RU" sz="1600" dirty="0"/>
              <a:t>);</a:t>
            </a:r>
          </a:p>
          <a:p>
            <a:pPr marL="0" indent="0">
              <a:buNone/>
            </a:pPr>
            <a:r>
              <a:rPr lang="ru-RU" sz="1600" dirty="0"/>
              <a:t>    </a:t>
            </a:r>
            <a:r>
              <a:rPr lang="ru-RU" sz="1600" dirty="0" err="1"/>
              <a:t>close</a:t>
            </a:r>
            <a:r>
              <a:rPr lang="ru-RU" sz="1600" dirty="0"/>
              <a:t>(</a:t>
            </a:r>
            <a:r>
              <a:rPr lang="ru-RU" sz="1600" dirty="0" err="1"/>
              <a:t>fd</a:t>
            </a:r>
            <a:r>
              <a:rPr lang="ru-RU" sz="1600" dirty="0"/>
              <a:t>);</a:t>
            </a:r>
          </a:p>
          <a:p>
            <a:pPr marL="0" indent="0">
              <a:buNone/>
            </a:pPr>
            <a:r>
              <a:rPr lang="ru-RU" sz="1600" dirty="0"/>
              <a:t>    return 0;</a:t>
            </a:r>
          </a:p>
          <a:p>
            <a:pPr marL="0" indent="0">
              <a:buNone/>
            </a:pPr>
            <a:r>
              <a:rPr lang="ru-RU" sz="1600" dirty="0"/>
              <a:t>}</a:t>
            </a:r>
          </a:p>
          <a:p>
            <a:pPr marL="0" indent="0">
              <a:buNone/>
            </a:pPr>
            <a:r>
              <a:rPr lang="ru-RU" sz="1600" b="1" dirty="0"/>
              <a:t>Что показывает:</a:t>
            </a:r>
            <a:r>
              <a:rPr lang="ru-RU" sz="1600" dirty="0"/>
              <a:t> </a:t>
            </a:r>
            <a:r>
              <a:rPr lang="ru-RU" sz="1600" dirty="0" err="1"/>
              <a:t>fstat</a:t>
            </a:r>
            <a:r>
              <a:rPr lang="ru-RU" sz="1600" dirty="0"/>
              <a:t> работает </a:t>
            </a:r>
            <a:r>
              <a:rPr lang="ru-RU" sz="1600" b="1" dirty="0"/>
              <a:t>по дескриптору</a:t>
            </a:r>
            <a:r>
              <a:rPr lang="ru-RU" sz="1600" dirty="0"/>
              <a:t>, а не по имени файла. Полезно, когда файл уже открыт.</a:t>
            </a: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139075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37450-6D3C-5D97-D813-F58D0F2D325C}"/>
              </a:ext>
            </a:extLst>
          </p:cNvPr>
          <p:cNvSpPr txBox="1"/>
          <p:nvPr/>
        </p:nvSpPr>
        <p:spPr>
          <a:xfrm>
            <a:off x="807720" y="640080"/>
            <a:ext cx="83362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sz="6600" b="1" i="0" dirty="0">
                <a:solidFill>
                  <a:schemeClr val="tx2">
                    <a:lumMod val="75000"/>
                  </a:schemeClr>
                </a:solidFill>
                <a:effectLst/>
                <a:latin typeface="+mn-lt"/>
              </a:rPr>
              <a:t>Часть 4. Специальные структуры (примеры 18–20)</a:t>
            </a:r>
            <a:endParaRPr lang="ru-RU" sz="6600" b="1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2589651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E1374-5263-9D3E-BF25-02A697E5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18. Структура DIR для каталогов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40FE2D-EEB2-BAFB-DE98-785254D1E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stdio.h</a:t>
            </a:r>
            <a:r>
              <a:rPr lang="ru-RU" dirty="0"/>
              <a:t>&gt;</a:t>
            </a:r>
          </a:p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dirent.h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main(</a:t>
            </a:r>
            <a:r>
              <a:rPr lang="ru-RU" dirty="0" err="1"/>
              <a:t>void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DIR *</a:t>
            </a:r>
            <a:r>
              <a:rPr lang="ru-RU" dirty="0" err="1"/>
              <a:t>dir</a:t>
            </a:r>
            <a:r>
              <a:rPr lang="ru-RU" dirty="0"/>
              <a:t> = </a:t>
            </a:r>
            <a:r>
              <a:rPr lang="ru-RU" dirty="0" err="1"/>
              <a:t>opendir</a:t>
            </a:r>
            <a:r>
              <a:rPr lang="ru-RU" dirty="0"/>
              <a:t>(".");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(!</a:t>
            </a:r>
            <a:r>
              <a:rPr lang="ru-RU" dirty="0" err="1"/>
              <a:t>dir</a:t>
            </a:r>
            <a:r>
              <a:rPr lang="ru-RU" dirty="0"/>
              <a:t>) return 1;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struct</a:t>
            </a:r>
            <a:r>
              <a:rPr lang="ru-RU" dirty="0"/>
              <a:t> </a:t>
            </a:r>
            <a:r>
              <a:rPr lang="ru-RU" dirty="0" err="1"/>
              <a:t>dirent</a:t>
            </a:r>
            <a:r>
              <a:rPr lang="ru-RU" dirty="0"/>
              <a:t> *</a:t>
            </a:r>
            <a:r>
              <a:rPr lang="ru-RU" dirty="0" err="1"/>
              <a:t>entry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while</a:t>
            </a:r>
            <a:r>
              <a:rPr lang="ru-RU" dirty="0"/>
              <a:t> ((</a:t>
            </a:r>
            <a:r>
              <a:rPr lang="ru-RU" dirty="0" err="1"/>
              <a:t>entry</a:t>
            </a:r>
            <a:r>
              <a:rPr lang="ru-RU" dirty="0"/>
              <a:t> = </a:t>
            </a:r>
            <a:r>
              <a:rPr lang="ru-RU" dirty="0" err="1"/>
              <a:t>readdir</a:t>
            </a:r>
            <a:r>
              <a:rPr lang="ru-RU" dirty="0"/>
              <a:t>(</a:t>
            </a:r>
            <a:r>
              <a:rPr lang="ru-RU" dirty="0" err="1"/>
              <a:t>dir</a:t>
            </a:r>
            <a:r>
              <a:rPr lang="ru-RU" dirty="0"/>
              <a:t>)) != NULL)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ru-RU" dirty="0" err="1"/>
              <a:t>printf</a:t>
            </a:r>
            <a:r>
              <a:rPr lang="ru-RU" dirty="0"/>
              <a:t>("%s\n", </a:t>
            </a:r>
            <a:r>
              <a:rPr lang="ru-RU" dirty="0" err="1"/>
              <a:t>entry</a:t>
            </a:r>
            <a:r>
              <a:rPr lang="ru-RU" dirty="0"/>
              <a:t>-&gt;</a:t>
            </a:r>
            <a:r>
              <a:rPr lang="ru-RU" dirty="0" err="1"/>
              <a:t>d_name</a:t>
            </a:r>
            <a:r>
              <a:rPr lang="ru-RU" dirty="0"/>
              <a:t>);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closedir</a:t>
            </a:r>
            <a:r>
              <a:rPr lang="ru-RU" dirty="0"/>
              <a:t>(</a:t>
            </a:r>
            <a:r>
              <a:rPr lang="ru-RU" dirty="0" err="1"/>
              <a:t>dir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return 0;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b="1" dirty="0"/>
              <a:t>Что показывает:</a:t>
            </a:r>
            <a:r>
              <a:rPr lang="ru-RU" dirty="0"/>
              <a:t> для каталогов используется </a:t>
            </a:r>
            <a:r>
              <a:rPr lang="ru-RU" b="1" dirty="0"/>
              <a:t>своя структура</a:t>
            </a:r>
            <a:r>
              <a:rPr lang="ru-RU" dirty="0"/>
              <a:t> — DIR и </a:t>
            </a:r>
            <a:r>
              <a:rPr lang="ru-RU" dirty="0" err="1"/>
              <a:t>struct</a:t>
            </a:r>
            <a:r>
              <a:rPr lang="ru-RU" dirty="0"/>
              <a:t> </a:t>
            </a:r>
            <a:r>
              <a:rPr lang="ru-RU" dirty="0" err="1"/>
              <a:t>dirent</a:t>
            </a:r>
            <a:r>
              <a:rPr lang="ru-RU" dirty="0"/>
              <a:t>. Поле </a:t>
            </a:r>
            <a:r>
              <a:rPr lang="ru-RU" dirty="0" err="1"/>
              <a:t>d_name</a:t>
            </a:r>
            <a:r>
              <a:rPr lang="ru-RU" dirty="0"/>
              <a:t> хранит имя файла.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810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ED7ADE-8885-FBEA-86D6-2CD9CD400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Пример 19. Структура </a:t>
            </a:r>
            <a:r>
              <a:rPr lang="ru-RU" dirty="0" err="1">
                <a:effectLst/>
              </a:rPr>
              <a:t>passwd</a:t>
            </a:r>
            <a:r>
              <a:rPr lang="ru-RU" dirty="0">
                <a:effectLst/>
              </a:rPr>
              <a:t> — информация о пользователе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33130A-96DF-DD63-E54F-BF7B47274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stdio.h</a:t>
            </a:r>
            <a:r>
              <a:rPr lang="ru-RU" dirty="0"/>
              <a:t>&gt;</a:t>
            </a:r>
          </a:p>
          <a:p>
            <a:pPr marL="0" indent="0">
              <a:buNone/>
            </a:pPr>
            <a:r>
              <a:rPr lang="ru-RU" dirty="0"/>
              <a:t>#include &lt;</a:t>
            </a:r>
            <a:r>
              <a:rPr lang="ru-RU" dirty="0" err="1"/>
              <a:t>pwd.h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main(</a:t>
            </a:r>
            <a:r>
              <a:rPr lang="ru-RU" dirty="0" err="1"/>
              <a:t>void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struct</a:t>
            </a:r>
            <a:r>
              <a:rPr lang="ru-RU" dirty="0"/>
              <a:t> </a:t>
            </a:r>
            <a:r>
              <a:rPr lang="ru-RU" dirty="0" err="1"/>
              <a:t>passwd</a:t>
            </a:r>
            <a:r>
              <a:rPr lang="ru-RU" dirty="0"/>
              <a:t> *</a:t>
            </a:r>
            <a:r>
              <a:rPr lang="ru-RU" dirty="0" err="1"/>
              <a:t>pw</a:t>
            </a:r>
            <a:r>
              <a:rPr lang="ru-RU" dirty="0"/>
              <a:t> = </a:t>
            </a:r>
            <a:r>
              <a:rPr lang="ru-RU" dirty="0" err="1"/>
              <a:t>getpwuid</a:t>
            </a:r>
            <a:r>
              <a:rPr lang="ru-RU" dirty="0"/>
              <a:t>(</a:t>
            </a:r>
            <a:r>
              <a:rPr lang="ru-RU" dirty="0" err="1"/>
              <a:t>getuid</a:t>
            </a:r>
            <a:r>
              <a:rPr lang="ru-RU" dirty="0"/>
              <a:t>());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(!</a:t>
            </a:r>
            <a:r>
              <a:rPr lang="ru-RU" dirty="0" err="1"/>
              <a:t>pw</a:t>
            </a:r>
            <a:r>
              <a:rPr lang="ru-RU" dirty="0"/>
              <a:t>) return 1;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("Пользователь: %s\n", </a:t>
            </a:r>
            <a:r>
              <a:rPr lang="ru-RU" dirty="0" err="1"/>
              <a:t>pw</a:t>
            </a:r>
            <a:r>
              <a:rPr lang="ru-RU" dirty="0"/>
              <a:t>-&gt;</a:t>
            </a:r>
            <a:r>
              <a:rPr lang="ru-RU" dirty="0" err="1"/>
              <a:t>pw_name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("UID: %d\n", </a:t>
            </a:r>
            <a:r>
              <a:rPr lang="ru-RU" dirty="0" err="1"/>
              <a:t>pw</a:t>
            </a:r>
            <a:r>
              <a:rPr lang="ru-RU" dirty="0"/>
              <a:t>-&gt;</a:t>
            </a:r>
            <a:r>
              <a:rPr lang="ru-RU" dirty="0" err="1"/>
              <a:t>pw_uid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printf</a:t>
            </a:r>
            <a:r>
              <a:rPr lang="ru-RU" dirty="0"/>
              <a:t>("Домашний каталог: %s\n", </a:t>
            </a:r>
            <a:r>
              <a:rPr lang="ru-RU" dirty="0" err="1"/>
              <a:t>pw</a:t>
            </a:r>
            <a:r>
              <a:rPr lang="ru-RU" dirty="0"/>
              <a:t>-&gt;</a:t>
            </a:r>
            <a:r>
              <a:rPr lang="ru-RU" dirty="0" err="1"/>
              <a:t>pw_dir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return 0;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b="1" dirty="0"/>
              <a:t>Что показывает:</a:t>
            </a:r>
            <a:r>
              <a:rPr lang="ru-RU" dirty="0"/>
              <a:t> в системе есть </a:t>
            </a:r>
            <a:r>
              <a:rPr lang="ru-RU" b="1" dirty="0"/>
              <a:t>другие структуры</a:t>
            </a:r>
            <a:r>
              <a:rPr lang="ru-RU" dirty="0"/>
              <a:t> для информации о пользователях, группах, устройствах. </a:t>
            </a:r>
            <a:r>
              <a:rPr lang="ru-RU" dirty="0" err="1"/>
              <a:t>struct</a:t>
            </a:r>
            <a:r>
              <a:rPr lang="ru-RU" dirty="0"/>
              <a:t> </a:t>
            </a:r>
            <a:r>
              <a:rPr lang="ru-RU" dirty="0" err="1"/>
              <a:t>passwd</a:t>
            </a:r>
            <a:r>
              <a:rPr lang="ru-RU" dirty="0"/>
              <a:t> — одна из них.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2334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01CD7-E8BC-8215-8EB0-7EE464AE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Пример 20. Сводная информация о файле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0BA86A-A2CF-9B5B-3E3C-F5052BCA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/>
              <a:t>#include &lt;</a:t>
            </a:r>
            <a:r>
              <a:rPr lang="ru-RU" sz="1400" dirty="0" err="1"/>
              <a:t>stdio.h</a:t>
            </a:r>
            <a:r>
              <a:rPr lang="ru-RU" sz="1400" dirty="0"/>
              <a:t>&gt;</a:t>
            </a:r>
          </a:p>
          <a:p>
            <a:pPr marL="0" indent="0">
              <a:buNone/>
            </a:pPr>
            <a:r>
              <a:rPr lang="ru-RU" sz="1400" dirty="0"/>
              <a:t>#include &lt;</a:t>
            </a:r>
            <a:r>
              <a:rPr lang="ru-RU" sz="1400" dirty="0" err="1"/>
              <a:t>sys</a:t>
            </a:r>
            <a:r>
              <a:rPr lang="ru-RU" sz="1400" dirty="0"/>
              <a:t>/</a:t>
            </a:r>
            <a:r>
              <a:rPr lang="ru-RU" sz="1400" dirty="0" err="1"/>
              <a:t>stat.h</a:t>
            </a:r>
            <a:r>
              <a:rPr lang="ru-RU" sz="1400" dirty="0"/>
              <a:t>&gt;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dirty="0" err="1"/>
              <a:t>int</a:t>
            </a:r>
            <a:r>
              <a:rPr lang="ru-RU" sz="1400" dirty="0"/>
              <a:t> main(</a:t>
            </a:r>
            <a:r>
              <a:rPr lang="ru-RU" sz="1400" dirty="0" err="1"/>
              <a:t>void</a:t>
            </a:r>
            <a:r>
              <a:rPr lang="ru-RU" sz="1400" dirty="0"/>
              <a:t>) {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struct</a:t>
            </a:r>
            <a:r>
              <a:rPr lang="ru-RU" sz="1400" dirty="0"/>
              <a:t> </a:t>
            </a:r>
            <a:r>
              <a:rPr lang="ru-RU" sz="1400" dirty="0" err="1"/>
              <a:t>stat</a:t>
            </a:r>
            <a:r>
              <a:rPr lang="ru-RU" sz="1400" dirty="0"/>
              <a:t> </a:t>
            </a:r>
            <a:r>
              <a:rPr lang="ru-RU" sz="1400" dirty="0" err="1"/>
              <a:t>st</a:t>
            </a:r>
            <a:r>
              <a:rPr lang="ru-RU" sz="1400" dirty="0"/>
              <a:t>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if</a:t>
            </a:r>
            <a:r>
              <a:rPr lang="ru-RU" sz="1400" dirty="0"/>
              <a:t> (</a:t>
            </a:r>
            <a:r>
              <a:rPr lang="ru-RU" sz="1400" dirty="0" err="1"/>
              <a:t>stat</a:t>
            </a:r>
            <a:r>
              <a:rPr lang="ru-RU" sz="1400" dirty="0"/>
              <a:t>("hello.txt", &amp;</a:t>
            </a:r>
            <a:r>
              <a:rPr lang="ru-RU" sz="1400" dirty="0" err="1"/>
              <a:t>st</a:t>
            </a:r>
            <a:r>
              <a:rPr lang="ru-RU" sz="1400" dirty="0"/>
              <a:t>) == -1) return 1;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("=== Информация о файле ===\n");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("Размер:       %</a:t>
            </a:r>
            <a:r>
              <a:rPr lang="ru-RU" sz="1400" dirty="0" err="1"/>
              <a:t>ld</a:t>
            </a:r>
            <a:r>
              <a:rPr lang="ru-RU" sz="1400" dirty="0"/>
              <a:t> байт\n", (</a:t>
            </a:r>
            <a:r>
              <a:rPr lang="ru-RU" sz="1400" dirty="0" err="1"/>
              <a:t>long</a:t>
            </a:r>
            <a:r>
              <a:rPr lang="ru-RU" sz="1400" dirty="0"/>
              <a:t>)</a:t>
            </a:r>
            <a:r>
              <a:rPr lang="ru-RU" sz="1400" dirty="0" err="1"/>
              <a:t>st.st_size</a:t>
            </a:r>
            <a:r>
              <a:rPr lang="ru-RU" sz="1400" dirty="0"/>
              <a:t>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</a:t>
            </a:r>
            <a:r>
              <a:rPr lang="ru-RU" sz="1400" dirty="0" err="1"/>
              <a:t>Inode</a:t>
            </a:r>
            <a:r>
              <a:rPr lang="ru-RU" sz="1400" dirty="0"/>
              <a:t>:        %</a:t>
            </a:r>
            <a:r>
              <a:rPr lang="ru-RU" sz="1400" dirty="0" err="1"/>
              <a:t>ld</a:t>
            </a:r>
            <a:r>
              <a:rPr lang="ru-RU" sz="1400" dirty="0"/>
              <a:t>\n", (</a:t>
            </a:r>
            <a:r>
              <a:rPr lang="ru-RU" sz="1400" dirty="0" err="1"/>
              <a:t>long</a:t>
            </a:r>
            <a:r>
              <a:rPr lang="ru-RU" sz="1400" dirty="0"/>
              <a:t>)</a:t>
            </a:r>
            <a:r>
              <a:rPr lang="ru-RU" sz="1400" dirty="0" err="1"/>
              <a:t>st.st_ino</a:t>
            </a:r>
            <a:r>
              <a:rPr lang="ru-RU" sz="1400" dirty="0"/>
              <a:t>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("Устройство:   %</a:t>
            </a:r>
            <a:r>
              <a:rPr lang="ru-RU" sz="1400" dirty="0" err="1"/>
              <a:t>ld</a:t>
            </a:r>
            <a:r>
              <a:rPr lang="ru-RU" sz="1400" dirty="0"/>
              <a:t>\n", (</a:t>
            </a:r>
            <a:r>
              <a:rPr lang="ru-RU" sz="1400" dirty="0" err="1"/>
              <a:t>long</a:t>
            </a:r>
            <a:r>
              <a:rPr lang="ru-RU" sz="1400" dirty="0"/>
              <a:t>)</a:t>
            </a:r>
            <a:r>
              <a:rPr lang="ru-RU" sz="1400" dirty="0" err="1"/>
              <a:t>st.st_dev</a:t>
            </a:r>
            <a:r>
              <a:rPr lang="ru-RU" sz="1400" dirty="0"/>
              <a:t>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("Ссылок:       %</a:t>
            </a:r>
            <a:r>
              <a:rPr lang="ru-RU" sz="1400" dirty="0" err="1"/>
              <a:t>ld</a:t>
            </a:r>
            <a:r>
              <a:rPr lang="ru-RU" sz="1400" dirty="0"/>
              <a:t>\n", (</a:t>
            </a:r>
            <a:r>
              <a:rPr lang="ru-RU" sz="1400" dirty="0" err="1"/>
              <a:t>long</a:t>
            </a:r>
            <a:r>
              <a:rPr lang="ru-RU" sz="1400" dirty="0"/>
              <a:t>)</a:t>
            </a:r>
            <a:r>
              <a:rPr lang="ru-RU" sz="1400" dirty="0" err="1"/>
              <a:t>st.st_nlink</a:t>
            </a:r>
            <a:r>
              <a:rPr lang="ru-RU" sz="1400" dirty="0"/>
              <a:t>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("UID:          %d\n", </a:t>
            </a:r>
            <a:r>
              <a:rPr lang="ru-RU" sz="1400" dirty="0" err="1"/>
              <a:t>st.st_uid</a:t>
            </a:r>
            <a:r>
              <a:rPr lang="ru-RU" sz="1400" dirty="0"/>
              <a:t>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("GID:          %d\n", </a:t>
            </a:r>
            <a:r>
              <a:rPr lang="ru-RU" sz="1400" dirty="0" err="1"/>
              <a:t>st.st_gid</a:t>
            </a:r>
            <a:r>
              <a:rPr lang="ru-RU" sz="1400" dirty="0"/>
              <a:t>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("Блоков:       %</a:t>
            </a:r>
            <a:r>
              <a:rPr lang="ru-RU" sz="1400" dirty="0" err="1"/>
              <a:t>ld</a:t>
            </a:r>
            <a:r>
              <a:rPr lang="ru-RU" sz="1400" dirty="0"/>
              <a:t>\n", (</a:t>
            </a:r>
            <a:r>
              <a:rPr lang="ru-RU" sz="1400" dirty="0" err="1"/>
              <a:t>long</a:t>
            </a:r>
            <a:r>
              <a:rPr lang="ru-RU" sz="1400" dirty="0"/>
              <a:t>)</a:t>
            </a:r>
            <a:r>
              <a:rPr lang="ru-RU" sz="1400" dirty="0" err="1"/>
              <a:t>st.st_blocks</a:t>
            </a:r>
            <a:r>
              <a:rPr lang="ru-RU" sz="1400" dirty="0"/>
              <a:t>);</a:t>
            </a:r>
          </a:p>
          <a:p>
            <a:pPr marL="0" indent="0">
              <a:buNone/>
            </a:pPr>
            <a:r>
              <a:rPr lang="ru-RU" sz="1400" dirty="0"/>
              <a:t>    </a:t>
            </a:r>
            <a:r>
              <a:rPr lang="ru-RU" sz="1400" dirty="0" err="1"/>
              <a:t>printf</a:t>
            </a:r>
            <a:r>
              <a:rPr lang="ru-RU" sz="1400" dirty="0"/>
              <a:t>("Размер блока: %</a:t>
            </a:r>
            <a:r>
              <a:rPr lang="ru-RU" sz="1400" dirty="0" err="1"/>
              <a:t>ld</a:t>
            </a:r>
            <a:r>
              <a:rPr lang="ru-RU" sz="1400" dirty="0"/>
              <a:t>\n", (</a:t>
            </a:r>
            <a:r>
              <a:rPr lang="ru-RU" sz="1400" dirty="0" err="1"/>
              <a:t>long</a:t>
            </a:r>
            <a:r>
              <a:rPr lang="ru-RU" sz="1400" dirty="0"/>
              <a:t>)</a:t>
            </a:r>
            <a:r>
              <a:rPr lang="ru-RU" sz="1400" dirty="0" err="1"/>
              <a:t>st.st_blksize</a:t>
            </a:r>
            <a:r>
              <a:rPr lang="ru-RU" sz="1400" dirty="0"/>
              <a:t>);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dirty="0"/>
              <a:t>    return 0;</a:t>
            </a:r>
          </a:p>
          <a:p>
            <a:pPr marL="0" indent="0">
              <a:buNone/>
            </a:pPr>
            <a:r>
              <a:rPr lang="ru-RU" sz="1400" dirty="0"/>
              <a:t>}</a:t>
            </a:r>
          </a:p>
          <a:p>
            <a:pPr marL="0" indent="0">
              <a:buNone/>
            </a:pPr>
            <a:r>
              <a:rPr lang="ru-RU" sz="1400" b="1" dirty="0"/>
              <a:t>Что показывает:</a:t>
            </a:r>
            <a:r>
              <a:rPr lang="ru-RU" sz="1400" dirty="0"/>
              <a:t> все основные поля </a:t>
            </a:r>
            <a:r>
              <a:rPr lang="ru-RU" sz="1400" dirty="0" err="1"/>
              <a:t>struct</a:t>
            </a:r>
            <a:r>
              <a:rPr lang="ru-RU" sz="1400" dirty="0"/>
              <a:t> </a:t>
            </a:r>
            <a:r>
              <a:rPr lang="ru-RU" sz="1400" dirty="0" err="1"/>
              <a:t>stat</a:t>
            </a:r>
            <a:r>
              <a:rPr lang="ru-RU" sz="1400" dirty="0"/>
              <a:t> в одном примере — </a:t>
            </a:r>
            <a:r>
              <a:rPr lang="ru-RU" sz="1400" b="1" dirty="0"/>
              <a:t>полный «паспорт» файла</a:t>
            </a:r>
            <a:r>
              <a:rPr lang="ru-RU" sz="1400" dirty="0"/>
              <a:t>.</a:t>
            </a:r>
          </a:p>
          <a:p>
            <a:pPr marL="0" indent="0">
              <a:buNone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52876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41D1F-9E73-BF7A-BEEB-66DF99B2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Сводная таблица: структуры и их назначение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D7BB002-341E-2437-302B-4D82269E4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240" y="1431072"/>
            <a:ext cx="9415135" cy="463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28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FFEAE-3CEC-1DF2-66C5-554FDB3ED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Что важно запомнить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2219DA-6C84-27E0-AA4D-78F2C6529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ru-RU" sz="3600" b="1" dirty="0"/>
              <a:t>FILE — непрозрачная структура.</a:t>
            </a:r>
            <a:r>
              <a:rPr lang="ru-RU" sz="3600" dirty="0"/>
              <a:t> Её поля нельзя читать напрямую — только через функции.</a:t>
            </a:r>
          </a:p>
          <a:p>
            <a:pPr marL="0" lvl="0" indent="0">
              <a:buNone/>
            </a:pPr>
            <a:r>
              <a:rPr lang="ru-RU" sz="3600" b="1" dirty="0" err="1"/>
              <a:t>struct</a:t>
            </a:r>
            <a:r>
              <a:rPr lang="ru-RU" sz="3600" b="1" dirty="0"/>
              <a:t> </a:t>
            </a:r>
            <a:r>
              <a:rPr lang="ru-RU" sz="3600" b="1" dirty="0" err="1"/>
              <a:t>stat</a:t>
            </a:r>
            <a:r>
              <a:rPr lang="ru-RU" sz="3600" dirty="0"/>
              <a:t> — основной источник </a:t>
            </a:r>
            <a:r>
              <a:rPr lang="ru-RU" sz="3600" b="1" dirty="0"/>
              <a:t>метаданных</a:t>
            </a:r>
            <a:r>
              <a:rPr lang="ru-RU" sz="3600" dirty="0"/>
              <a:t> файла.</a:t>
            </a:r>
          </a:p>
          <a:p>
            <a:pPr marL="0" lvl="0" indent="0">
              <a:buNone/>
            </a:pPr>
            <a:r>
              <a:rPr lang="ru-RU" sz="3600" b="1" dirty="0"/>
              <a:t>Дескриптор (</a:t>
            </a:r>
            <a:r>
              <a:rPr lang="ru-RU" sz="3600" b="1" dirty="0" err="1"/>
              <a:t>int</a:t>
            </a:r>
            <a:r>
              <a:rPr lang="ru-RU" sz="3600" b="1" dirty="0"/>
              <a:t> </a:t>
            </a:r>
            <a:r>
              <a:rPr lang="ru-RU" sz="3600" b="1" dirty="0" err="1"/>
              <a:t>fd</a:t>
            </a:r>
            <a:r>
              <a:rPr lang="ru-RU" sz="3600" b="1" dirty="0"/>
              <a:t>)</a:t>
            </a:r>
            <a:r>
              <a:rPr lang="ru-RU" sz="3600" dirty="0"/>
              <a:t> — низкоуровневый «пропуск» к файлу.</a:t>
            </a:r>
          </a:p>
          <a:p>
            <a:pPr marL="0" lvl="0" indent="0">
              <a:buNone/>
            </a:pPr>
            <a:r>
              <a:rPr lang="ru-RU" sz="3600" b="1" dirty="0" err="1"/>
              <a:t>fileno</a:t>
            </a:r>
            <a:r>
              <a:rPr lang="ru-RU" sz="3600" dirty="0"/>
              <a:t> связывает FILE и дескриптор.</a:t>
            </a:r>
          </a:p>
          <a:p>
            <a:pPr marL="0" lvl="0" indent="0">
              <a:buNone/>
            </a:pPr>
            <a:r>
              <a:rPr lang="ru-RU" sz="3600" b="1" dirty="0" err="1"/>
              <a:t>fdopen</a:t>
            </a:r>
            <a:r>
              <a:rPr lang="ru-RU" sz="3600" dirty="0"/>
              <a:t> делает обратное — оборачивает дескриптор в FILE.</a:t>
            </a:r>
          </a:p>
          <a:p>
            <a:pPr marL="0" indent="0">
              <a:buNone/>
            </a:pP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554121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16307-A463-5B52-EF2E-7EC41991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Итог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EAC53E-FC53-5EA2-3729-2BB0AC0EB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3600" dirty="0"/>
              <a:t>20 примеров покрывают:</a:t>
            </a:r>
          </a:p>
          <a:p>
            <a:pPr lvl="0"/>
            <a:r>
              <a:rPr lang="ru-RU" sz="3600" b="1" dirty="0"/>
              <a:t>FILE *</a:t>
            </a:r>
            <a:r>
              <a:rPr lang="ru-RU" sz="3600" dirty="0"/>
              <a:t> — высокоуровневая структура,</a:t>
            </a:r>
          </a:p>
          <a:p>
            <a:pPr lvl="0"/>
            <a:r>
              <a:rPr lang="ru-RU" sz="3600" b="1" dirty="0"/>
              <a:t>файловые дескрипторы</a:t>
            </a:r>
            <a:r>
              <a:rPr lang="ru-RU" sz="3600" dirty="0"/>
              <a:t> — низкоуровневый доступ,</a:t>
            </a:r>
          </a:p>
          <a:p>
            <a:pPr lvl="0"/>
            <a:r>
              <a:rPr lang="ru-RU" sz="3600" b="1" dirty="0" err="1"/>
              <a:t>struct</a:t>
            </a:r>
            <a:r>
              <a:rPr lang="ru-RU" sz="3600" b="1" dirty="0"/>
              <a:t> </a:t>
            </a:r>
            <a:r>
              <a:rPr lang="ru-RU" sz="3600" b="1" dirty="0" err="1"/>
              <a:t>stat</a:t>
            </a:r>
            <a:r>
              <a:rPr lang="ru-RU" sz="3600" dirty="0"/>
              <a:t> — метаданные,</a:t>
            </a:r>
          </a:p>
          <a:p>
            <a:pPr lvl="0"/>
            <a:r>
              <a:rPr lang="ru-RU" sz="3600" b="1" dirty="0"/>
              <a:t>DIR / </a:t>
            </a:r>
            <a:r>
              <a:rPr lang="ru-RU" sz="3600" b="1" dirty="0" err="1"/>
              <a:t>dirent</a:t>
            </a:r>
            <a:r>
              <a:rPr lang="ru-RU" sz="3600" dirty="0"/>
              <a:t> — каталоги,</a:t>
            </a:r>
          </a:p>
          <a:p>
            <a:pPr lvl="0"/>
            <a:r>
              <a:rPr lang="ru-RU" sz="3600" b="1" dirty="0" err="1"/>
              <a:t>passwd</a:t>
            </a:r>
            <a:r>
              <a:rPr lang="ru-RU" sz="3600" dirty="0"/>
              <a:t> — пользователи.</a:t>
            </a:r>
          </a:p>
          <a:p>
            <a:pPr marL="0" indent="0">
              <a:buNone/>
            </a:pPr>
            <a:r>
              <a:rPr lang="ru-RU" sz="3600" dirty="0"/>
              <a:t>Эти примеры можно использовать как шаблоны. </a:t>
            </a:r>
          </a:p>
        </p:txBody>
      </p:sp>
    </p:spTree>
    <p:extLst>
      <p:ext uri="{BB962C8B-B14F-4D97-AF65-F5344CB8AC3E}">
        <p14:creationId xmlns:p14="http://schemas.microsoft.com/office/powerpoint/2010/main" val="467354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29926-9518-1BF4-5A57-1FF2D993E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CFAD1E-58B8-B096-25A0-BAEBA16C3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5212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2425E-50D6-4204-94FF-139A086C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4F99EA-27C8-AEB5-8B2B-FDE7B179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0654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58713-3743-F8E0-CB19-2B78934A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8736CC-686B-B98F-0928-C8DAA8C37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9356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31827-7AFC-FB41-BC66-08060AB0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EE0D7E-36BF-FFA0-1FDB-1C1FCE35A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341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FA123-1D63-7B5B-87AB-4136E91F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8938F8-BDE4-9F47-C918-14513481E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539160"/>
      </p:ext>
    </p:extLst>
  </p:cSld>
  <p:clrMapOvr>
    <a:masterClrMapping/>
  </p:clrMapOvr>
</p:sld>
</file>

<file path=ppt/theme/theme1.xml><?xml version="1.0" encoding="utf-8"?>
<a:theme xmlns:a="http://schemas.openxmlformats.org/drawingml/2006/main" name="La ment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2786</Words>
  <Application>Microsoft Office PowerPoint</Application>
  <PresentationFormat>Широкоэкранный</PresentationFormat>
  <Paragraphs>362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0" baseType="lpstr">
      <vt:lpstr>Arial</vt:lpstr>
      <vt:lpstr>Calibri</vt:lpstr>
      <vt:lpstr>Mona Sans VF</vt:lpstr>
      <vt:lpstr>La mente</vt:lpstr>
      <vt:lpstr> </vt:lpstr>
      <vt:lpstr>Цель </vt:lpstr>
      <vt:lpstr>Задачи </vt:lpstr>
      <vt:lpstr>Презентация PowerPoint</vt:lpstr>
      <vt:lpstr>Пример 1. Что такое FILE * — объявление и проверка </vt:lpstr>
      <vt:lpstr>Презентация PowerPoint</vt:lpstr>
      <vt:lpstr>Пример 2. Размер структуры FILE</vt:lpstr>
      <vt:lpstr>Пример 3. Позиция в файле через ftell</vt:lpstr>
      <vt:lpstr>Пример 4. Флаги состояния: feof и ferror</vt:lpstr>
      <vt:lpstr>Пример 5. Сброс буфера через fflush</vt:lpstr>
      <vt:lpstr>Пример 6. Буферизация: setvbuf</vt:lpstr>
      <vt:lpstr>Пример 7. Временный файл через tmpfile</vt:lpstr>
      <vt:lpstr>Презентация PowerPoint</vt:lpstr>
      <vt:lpstr>Пример 8. Получение дескриптора из FILE через fileno </vt:lpstr>
      <vt:lpstr>Пример 9. Стандартные дескрипторы</vt:lpstr>
      <vt:lpstr>Пример 10. Дескриптор через open (системный вызов) </vt:lpstr>
      <vt:lpstr>Пример 11. Обёртка FILE вокруг дескриптора через fdopen </vt:lpstr>
      <vt:lpstr>Пример 12. Дублирование дескриптора через dup </vt:lpstr>
      <vt:lpstr>Презентация PowerPoint</vt:lpstr>
      <vt:lpstr>Пример 13. Получение метаданных через stat</vt:lpstr>
      <vt:lpstr>Пример 14. Тип файла через st_mode</vt:lpstr>
      <vt:lpstr>Пример 15. Права доступа через st_mode</vt:lpstr>
      <vt:lpstr>Пример 16. Временные метки файла</vt:lpstr>
      <vt:lpstr>Пример 17. fstat — метаданные по дескриптору</vt:lpstr>
      <vt:lpstr>Презентация PowerPoint</vt:lpstr>
      <vt:lpstr>Пример 18. Структура DIR для каталогов</vt:lpstr>
      <vt:lpstr>Пример 19. Структура passwd — информация о пользователе </vt:lpstr>
      <vt:lpstr>Пример 20. Сводная информация о файле</vt:lpstr>
      <vt:lpstr>Сводная таблица: структуры и их назначение</vt:lpstr>
      <vt:lpstr>Что важно запомнить</vt:lpstr>
      <vt:lpstr>Итог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Елена Журавлёва</dc:creator>
  <cp:lastModifiedBy>Елена Журавлёва</cp:lastModifiedBy>
  <cp:revision>8</cp:revision>
  <dcterms:created xsi:type="dcterms:W3CDTF">2026-09-03T16:56:30Z</dcterms:created>
  <dcterms:modified xsi:type="dcterms:W3CDTF">2026-10-06T19:08:53Z</dcterms:modified>
</cp:coreProperties>
</file>